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is about kernel verification. I built and debugged an evaluation harness for Triton kernels: the thing that decides whether a generated kernel is correct and how fast it is. The use case that forced me to take it seriously was an RL study, Qwen/Qwen2.5-Coder-7B-Instruct trained with GRPO, where the harness is the reward. Everything is re-run on Modal with torch 2.6.0 and Triton 3.2.0; every number on the slides is read from results/ at build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hook. The fastest correct kernel in the project is an RMSNorm the verifier scored at 2.926x over PyTorch on L4. It differs from the starter in exactly two casts, float32 to float16 on the loads. The starter already ran at 2.904x in quick mode, but it fails the full bench on numerical stability; the model's version passes all five stages and so it gets the reward. Remeasured on L4 with a cold L2 and 200 repetitions, the starter takes 287.7 microseconds and the model's kernel 286.7, against 833.5 for eager PyTorch. The casts are worth +0.4%, which is noise. And at N=4096, inputs with row RMS around 4 make the model's kernel return zeros in 133 of 256 rows, where the starter returns none. So what changed is correctness, not speed, and in the wrong direction: the reference computes x squared in fp16 and overflows on the adversarial inputs, and the fp16 kernel overflows identically, so it matches. Two verifier lessons. A reference with the kernel's own precision bug can't tell a better kernel from a matching bug. And a reward measured against PyTorch, rather than against the starter or the previous turn, credits an edit with speed it didn't 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request-to-result path. The model's code block becomes kernel.py; bench.py runs five correctness stages; if they pass it times the kernel against eager PyTorch with do_bench; the result is cached by a hash of GPU, mode, kernel type and code; and the reward is computed from it. Each box had a real defect. Parsing: the original worker used a flag bench.py doesn't have and read a file it never writes, so no reward could be parsed at all. Correctness: quick mode skips stability, and the stability check accepts any output with NaN or Inf if the reference has them too. Timing: one shape, one dtype, and PyTorch is the only baseline; on H100 the spec lookup gave 113% of peak bandwidth, which is impossible. Cache: in the low-variance groups, 201 of 271 best-PASS timings were replays. Reward: a correct but slightly slower kernel scored below a crash. The KernelBench bridge was worse: every starter crashed, 35 conv problems could never pass, and only 55 of 100 were 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kernel is the textbook one-row-per-program RMSNorm. Each program loads a full row into registers, BLOCK_SIZE is the next power of two of N, masked lanes load zero so the sum of squares is exact, and it divides by N. At the timed size N is 4096, so each program holds 4096 elements; at the small size 768 rounds up to 1024 and 25% of lanes are wasted. From the compiled code: 4 warps, 48 registers and no spills, and the same 8 vectorised global loads as the starter. The fp32 multiply count halves and fp16 ops go up: the casts moved arithmetic into fp16 and left memory traffic alone. The amber lines are where precision is decided: the two load casts and the sum of x*x. In the starter both casts are to float32, so x*x, the reduction, the divide and the weight multiply run in fp32 and only the store narrows back. bench.py tests fp16 and bf16 only, with fp16 tolerance 0.01 and a much looser bf16 tolerance of 0.1 absolute.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dtype flow for an fp16 input. The PyTorch reference materialises x ** 2 as an fp16 tensor; its mean accumulates in fp32, but by then the squares have already overflowed. The starter upcasts on load, so everything is fp32 until the store. The model's kernel stays in fp16 throughout, including x*x and the tl.sum, which in Triton 3.2.0 does not widen floating inputs. That matters at modest magnitudes: x*x overflows fp16 once |x| exceeds 255.9, and an fp16 sum of 4096 squares overflows once the row RMS exceeds about 4.0. Random-normal test rows have RMS near 1, so the shape sweep never sees it. On bf16 inputs the cast to fp16 narrows the range. The stability stage multiplies all inputs by 1000 or 0.001. The fp16 reference overflows to an infinite RMS and outputs zeros; the correct fp32 starter disagrees with those zeros and fails; the fp16 kernel overflows the same way and passes. That is a prediction from reading the code, and the next slide tests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remeasure replays stage 3 exactly and also compares every output with an fp64 truth. On mixed_scale the harness reference zeroes all 1024 rows and is off from the truth by 14767. The starter, a hand-written fp32-accumulating kernel and torch.compile all agree with the truth to within 3.96, and all three FAIL. The model's fp16 kernel reproduces the reference's zeros and PASSes. On the right, the input scale at which each kernel first fails against the truth with the harness tolerance. The model's kernel fails at scale 4 for N=4096, right where the fp16 accumulation threshold of 4.0 predicts; eager PyTorch holds out to 100, where x squared itself overflows. So the verifier is rewarding a kernel that is less accurate than PyTorch by more than an order of magnitude in input range. The fix belongs in the oracle.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RMSNorm does about 1.5 flops per byte, so it is bandwidth-bound. Minimum traffic is read x, read w, write y: 67.1 MB at the timed shape, which at L4's 300 GB/s gives a floor of 224 microseconds. Cold-L2 medians: starter 287.7, model 286.7, eager 833.5 microseconds. The model's kernel runs at 234 GB/s, 78% of peak, so there is at most 1.28x left, and torch.compile lands at the same 285.7. Warm L2 matters: the timed x is 32 MiB against a 48 MB L2, so warm runs reach 254 GB/s, and on the small shapes warm numbers exceed DRAM peak. Eager PyTorch launches 6 kernels, pow, mean, add, sqrt, div, mul, which is the whole 2.9x. For fp16 inputs the casts change nothing that is loaded or stored, so the bytes and the speed are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logged numbers were measured differently. The starter's 2.904x is quick mode over three runs, because in full mode it fails and gets no reward. The model's 2.926x is one full-mode observation of that exact code hash. The remeasure times both 200 times per shape, warm and cold, with eager and torch.compile baselines and no correctness gate. Model over starter is 1.004 cold and 1.004 warm at the timed shape, and the geomean over all shapes is 0.999. On H100 it is 0.999. The casts bought nothing. Every RMSNorm pass in the project sits between 2.858 and 2.926x, and the base model had 2.900x before training. On the timer: in Triton 3.2.0 do_bench's arguments are millisecond budgets, it returns the mean, and it flushes L2 by zeroing a 256 MB buffer each call. Its ratio agrees with the careful cold-L2 median, so the timer was fine. The problem was attribution: comparing only against PyTorch.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AutoKernel-side findings. The first two would have made the whole RL study meaningless: with the original worker no reward parsed at all, and a quick-mode reward would have paid kernels that fail numerical stability, since flash_attention and rmsnorm pass quick but fail full. Three remain in the harness as shipped: the both-NaN rule, the low-precision reference, and stability coverage of one size and one dtype with tolerances relaxed 10 times. Together they are exactly what let the fp16 RMSNorm pass. The last one is a reporting bug: Modal's H100 reports as "NVIDIA H100 80GB HBM3", the substring lookup misses "H100 SXM" and falls back to 2039 GB/s, so rmsnorm shows 113% of peak. Against 3352 GB/s it is about 68%. It doesn't affect speedup, but any roofline claim from those logs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KernelBench bridge was my first harness, and the identity test is the cheapest verifier test there is: submit the reference model itself, which must pass at 1.0x. The median identity speedup is 1.000x with p5 to p95 of 1.000 to 1.007, so the timer is fine. Coverage is not: the bridge's starter crashes on super(Model, self), weights are never seeded so all 35 conv problems fail even for an identical model, and CPU input generation is timed inside the 30 second trial so 9 problems time out intermittently. Only 55 of 100 Level 1 problems are usable, and that list is what the held-out eval uses. This is a limitation of the local bridge, not a claim that KernelBench itself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noise is the obvious suspect when rewards in a group differ by a hair. The stage1 repeats put quick-mode CV at 1.89% at worst. In GRPO v1, 42 of 162 groups had a reward standard deviation between 0 and 0.02. I audited them from the rollouts: 27 mix PASS and FAIL, which is the floor bug, not noise. Only 15 are all-PASS, and 40 of 42 contain several different best-PASS kernels. And 201 of 271 of those best-PASS timings came from the cache, which replays one earlier measurement per code hash. Inside a group you are often comparing a replayed timing of one kernel with a fresh timing of another. The 0.02 cutoff is just under the quick-mode CV in log units; the careful remeasure shows cold-L2 CV of 0.8%. The fix is to remeasure fixed code uncached, repeatedly, before attributing anything to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use case. A Qwen/Qwen2.5-Coder-7B-Instruct policy with a rank-64 LoRA writes a Triton kernel for one of 9 AutoKernel tasks, gets bench.py's feedback, and tries again for up to 4 turns. GRPO uses groups of 8, so a step is 72 episodes and up to 288 benchmarks. Benchmarking was 60.5% of a step's wall time and generation 32.8%. So the harness is both the throughput bottleneck and the only source of learning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RL result on one slide. Under the naive reward, log2 speedup if PASS and zero otherwise, 65.4% of groups had all-equal rewards and so zero advantage: eight failures tie, and a correct reduce at 0.986x scores −0.020, below a crash. Reward v2 floors any PASS at 0.5, gives partial credit from bench.py's own stages and ignores groups with sigma at most 0.02; zero-advantage groups fell to 37.8%. Those changes were bundled, so I can't attribute the drop to one of them. 78.9% of v1's absolute advantage came from low-variance groups, and 27 of 42 of those mix PASS and FAIL, so it is not simply timing noise. Neither run solved a new kernel type, pass rates were flat within noise, and KernelBench transfer was 0 of 28 before and after. The verifier's quality bounded the training signal's quality, which is why my roadmap is about the verifier.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before any more RL. First, hidden-test verification: a truth reference in fp64 or upcast fp32, where a candidate passes if its error is within a small multiple of what PyTorch itself achieves in the same dtype; exact NaN and Inf mask comparison; every dtype, outlier-heavy inputs and hidden shapes; and mutation tests to measure how often the checker accepts a wrong kernel. Second, deterministic timing: an explicit L2 policy with warm and cold reported, fixed clocks, candidate and baseline interleaved in random order, repeated with confidence intervals, in absolute microseconds and GB/s against the roofline, per shape. Third, uncached and attributed timing: time every candidate against the starter or the previous turn and against torch.compile, not only eager PyTorch, so the reward pays for the delta an edit made; the RMSNorm casts got a 2.9x reward for +0.4% speed. The cache may store correctness verdicts but never the timing that becomes a reward or a headline; re-time selected winners fresh, and calibrate full-mode noise before choosing any sigma cutoff. The decision rule: scale training only after independent evaluation shows a reproducible gain. Then the RL questions become answerable: frozen checkpoints against a best-of-N control, and the reward changes ablated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Two casts flipped a kernel from FAIL to PASS and earned a 2.926x reward, while contributing +0.4% of speed: the reference shared the kernel's overflow, and speed was measured against PyTorch rather than the starter. The verifier needs an independent truth and an attributed baseline. An identity model is the cheapest verifier test, and only 55 of 100 KernelBench problems passed it in the local bridge. 201 of 271 best-PASS timings in the suspicious groups were cache replays; timing claims need fresh, repeated, per-shape measurement with a stated L2 policy. And under the naive reward 65% of GRPO groups carried no gradient: in RL for kernels, the verifier sets the ceiling on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details for questions. v1 is clipped log2 speedup if any turn passes, else 0, which puts a correct reduce at 0.986x below a crash. v2 floors a pass at 0.5 and gives up to 0.3 partial credit from smoke, sweep and stability. Its limits: every pass at or below 1x ties at 0.5, the weights are heuristic, and the 0.02 cutoff was introduced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behind the RL slide: offline regrouping of base-model samples shows ties fall slowly with group size, and the no-std replay shows how much of the absolute advantage mass sat in low-variance groups. All offline replays, no training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Transfer was zero before and after, dominated by Triton API and compile errors; the test changes task set, interface and GPU at once, so it is scoped to this protocol. Benchmarking dominated wall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shape the remeasure covered, fp16 and bf16. The ratio stays at 1 within noise everywhere: the casts are not a speed optimisation at any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works motivate the tests; their outcomes are not directly comparable to this nine-task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A3A"/>
        </a:solidFill>
      </p:bgPr>
    </p:bg>
    <p:spTree>
      <p:nvGrpSpPr>
        <p:cNvPr id="1" name=""/>
        <p:cNvGrpSpPr/>
        <p:nvPr/>
      </p:nvGrpSpPr>
      <p:grpSpPr>
        <a:xfrm>
          <a:off x="0" y="0"/>
          <a:ext cx="0" cy="0"/>
          <a:chOff x="0" y="0"/>
          <a:chExt cx="0" cy="0"/>
        </a:xfrm>
      </p:grpSpPr>
      <p:sp>
        <p:nvSpPr>
          <p:cNvPr id="2" name="Text 0"/>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A9A6C4"/>
                </a:solidFill>
                <a:latin typeface="Calibri" pitchFamily="34" charset="0"/>
                <a:ea typeface="Calibri" pitchFamily="34" charset="-122"/>
                <a:cs typeface="Calibri" pitchFamily="34" charset="-120"/>
              </a:rPr>
              <a:t>Modal re-run, Sept 2026 · 1</a:t>
            </a:r>
            <a:endParaRPr lang="en-US" sz="1000" dirty="0"/>
          </a:p>
        </p:txBody>
      </p:sp>
      <p:sp>
        <p:nvSpPr>
          <p:cNvPr id="3" name="Text 1"/>
          <p:cNvSpPr txBox="1"/>
          <p:nvPr/>
        </p:nvSpPr>
        <p:spPr>
          <a:xfrm>
            <a:off x="731520" y="1417320"/>
            <a:ext cx="1078992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GPU kernel verification</a:t>
            </a:r>
            <a:endParaRPr lang="en-US" sz="4800" dirty="0"/>
          </a:p>
        </p:txBody>
      </p:sp>
      <p:sp>
        <p:nvSpPr>
          <p:cNvPr id="4" name="Text 2"/>
          <p:cNvSpPr txBox="1"/>
          <p:nvPr/>
        </p:nvSpPr>
        <p:spPr>
          <a:xfrm>
            <a:off x="731520" y="2331720"/>
            <a:ext cx="10789920" cy="640080"/>
          </a:xfrm>
          <a:prstGeom prst="rect">
            <a:avLst/>
          </a:prstGeom>
          <a:noFill/>
          <a:ln/>
        </p:spPr>
        <p:txBody>
          <a:bodyPr wrap="square" lIns="0" tIns="0" rIns="0" bIns="0" rtlCol="0" anchor="ctr"/>
          <a:lstStyle/>
          <a:p>
            <a:pPr indent="0" marL="0">
              <a:buNone/>
            </a:pPr>
            <a:r>
              <a:rPr lang="en-US" sz="2800" i="1" dirty="0">
                <a:solidFill>
                  <a:srgbClr val="E8A33D"/>
                </a:solidFill>
                <a:latin typeface="Cambria" pitchFamily="34" charset="0"/>
                <a:ea typeface="Cambria" pitchFamily="34" charset="-122"/>
                <a:cs typeface="Cambria" pitchFamily="34" charset="-120"/>
              </a:rPr>
              <a:t>why correctness and timing are harder than they look</a:t>
            </a:r>
            <a:endParaRPr lang="en-US" sz="2800" dirty="0"/>
          </a:p>
        </p:txBody>
      </p:sp>
      <p:sp>
        <p:nvSpPr>
          <p:cNvPr id="5" name="Text 3"/>
          <p:cNvSpPr txBox="1"/>
          <p:nvPr/>
        </p:nvSpPr>
        <p:spPr>
          <a:xfrm>
            <a:off x="731520" y="3383280"/>
            <a:ext cx="10789920" cy="457200"/>
          </a:xfrm>
          <a:prstGeom prst="rect">
            <a:avLst/>
          </a:prstGeom>
          <a:noFill/>
          <a:ln/>
        </p:spPr>
        <p:txBody>
          <a:bodyPr wrap="square" lIns="0" tIns="0" rIns="0" bIns="0" rtlCol="0" anchor="ctr"/>
          <a:lstStyle/>
          <a:p>
            <a:pPr indent="0" marL="0">
              <a:buNone/>
            </a:pPr>
            <a:r>
              <a:rPr lang="en-US" sz="1800" dirty="0">
                <a:solidFill>
                  <a:srgbClr val="E6E4F0"/>
                </a:solidFill>
                <a:latin typeface="Calibri" pitchFamily="34" charset="0"/>
                <a:ea typeface="Calibri" pitchFamily="34" charset="-122"/>
                <a:cs typeface="Calibri" pitchFamily="34" charset="-120"/>
              </a:rPr>
              <a:t>Building and validating a Triton kernel evaluation harness: AutoKernel bench.py and a KernelBench bridge, on Modal L4 / H100</a:t>
            </a:r>
            <a:endParaRPr lang="en-US" sz="1800" dirty="0"/>
          </a:p>
        </p:txBody>
      </p:sp>
      <p:sp>
        <p:nvSpPr>
          <p:cNvPr id="6" name="Text 4"/>
          <p:cNvSpPr txBox="1"/>
          <p:nvPr/>
        </p:nvSpPr>
        <p:spPr>
          <a:xfrm>
            <a:off x="731520" y="3886200"/>
            <a:ext cx="10789920" cy="411480"/>
          </a:xfrm>
          <a:prstGeom prst="rect">
            <a:avLst/>
          </a:prstGeom>
          <a:noFill/>
          <a:ln/>
        </p:spPr>
        <p:txBody>
          <a:bodyPr wrap="square" lIns="0" tIns="0" rIns="0" bIns="0" rtlCol="0" anchor="ctr"/>
          <a:lstStyle/>
          <a:p>
            <a:pPr indent="0" marL="0">
              <a:buNone/>
            </a:pPr>
            <a:r>
              <a:rPr lang="en-US" sz="1800" dirty="0">
                <a:solidFill>
                  <a:srgbClr val="E6E4F0"/>
                </a:solidFill>
                <a:latin typeface="Calibri" pitchFamily="34" charset="0"/>
                <a:ea typeface="Calibri" pitchFamily="34" charset="-122"/>
                <a:cs typeface="Calibri" pitchFamily="34" charset="-120"/>
              </a:rPr>
              <a:t>Use case: a Qwen2.5-Coder-7B-Instruct GRPO kernel agent whose reward is the harness</a:t>
            </a:r>
            <a:endParaRPr lang="en-US" sz="1800" dirty="0"/>
          </a:p>
        </p:txBody>
      </p:sp>
      <p:sp>
        <p:nvSpPr>
          <p:cNvPr id="7" name="Text 5"/>
          <p:cNvSpPr txBox="1"/>
          <p:nvPr/>
        </p:nvSpPr>
        <p:spPr>
          <a:xfrm>
            <a:off x="731520" y="4754880"/>
            <a:ext cx="10789920" cy="365760"/>
          </a:xfrm>
          <a:prstGeom prst="rect">
            <a:avLst/>
          </a:prstGeom>
          <a:noFill/>
          <a:ln/>
        </p:spPr>
        <p:txBody>
          <a:bodyPr wrap="square" lIns="0" tIns="0" rIns="0" bIns="0" rtlCol="0" anchor="ctr"/>
          <a:lstStyle/>
          <a:p>
            <a:pPr indent="0" marL="0">
              <a:buNone/>
            </a:pPr>
            <a:r>
              <a:rPr lang="en-US" sz="1400" dirty="0">
                <a:solidFill>
                  <a:srgbClr val="A9A6C4"/>
                </a:solidFill>
                <a:latin typeface="Calibri" pitchFamily="34" charset="0"/>
                <a:ea typeface="Calibri" pitchFamily="34" charset="-122"/>
                <a:cs typeface="Calibri" pitchFamily="34" charset="-120"/>
              </a:rPr>
              <a:t>Artifacts: results/ (every rollout, numbers.json, v3/), code in modal_app/ · torch 2.6.0, Triton 3.2.0, AutoKernel 78435821cc3d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1B1A3A"/>
                </a:solidFill>
                <a:latin typeface="Cambria" pitchFamily="34" charset="0"/>
                <a:ea typeface="Cambria" pitchFamily="34" charset="-122"/>
                <a:cs typeface="Cambria" pitchFamily="34" charset="-120"/>
              </a:rPr>
              <a:t>The verifier paid 2.9× for 0% speed and broken numerics</a:t>
            </a:r>
            <a:endParaRPr lang="en-US" sz="3000" dirty="0"/>
          </a:p>
        </p:txBody>
      </p:sp>
      <p:sp>
        <p:nvSpPr>
          <p:cNvPr id="3" name="Text 1"/>
          <p:cNvSpPr txBox="1"/>
          <p:nvPr/>
        </p:nvSpPr>
        <p:spPr>
          <a:xfrm>
            <a:off x="457200" y="896112"/>
            <a:ext cx="11277295" cy="329184"/>
          </a:xfrm>
          <a:prstGeom prst="rect">
            <a:avLst/>
          </a:prstGeom>
          <a:noFill/>
          <a:ln/>
        </p:spPr>
        <p:txBody>
          <a:bodyPr wrap="square" lIns="0" tIns="0" rIns="0" bIns="0" rtlCol="0" anchor="ctr"/>
          <a:lstStyle/>
          <a:p>
            <a:pPr indent="0" marL="0">
              <a:buNone/>
            </a:pPr>
            <a:r>
              <a:rPr lang="en-US" sz="1600" i="1" dirty="0">
                <a:solidFill>
                  <a:srgbClr val="9A5712"/>
                </a:solidFill>
                <a:latin typeface="Cambria" pitchFamily="34" charset="0"/>
                <a:ea typeface="Cambria" pitchFamily="34" charset="-122"/>
                <a:cs typeface="Cambria" pitchFamily="34" charset="-120"/>
              </a:rPr>
              <a:t>two dtype casts flipped FAIL → PASS; the speed was the starter's fusion, and rows with RMS &gt; 4.0 now come back as zeros</a:t>
            </a:r>
            <a:endParaRPr lang="en-US" sz="1600" dirty="0"/>
          </a:p>
        </p:txBody>
      </p:sp>
      <p:sp>
        <p:nvSpPr>
          <p:cNvPr id="4" name="Text 2"/>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85848F"/>
                </a:solidFill>
                <a:latin typeface="Calibri" pitchFamily="34" charset="0"/>
                <a:ea typeface="Calibri" pitchFamily="34" charset="-122"/>
                <a:cs typeface="Calibri" pitchFamily="34" charset="-120"/>
              </a:rPr>
              <a:t>Modal re-run, Sept 2026 · 2</a:t>
            </a:r>
            <a:endParaRPr lang="en-US" sz="1000" dirty="0"/>
          </a:p>
        </p:txBody>
      </p:sp>
      <p:sp>
        <p:nvSpPr>
          <p:cNvPr id="5" name="Shape 3"/>
          <p:cNvSpPr/>
          <p:nvPr/>
        </p:nvSpPr>
        <p:spPr>
          <a:xfrm>
            <a:off x="457200" y="1371600"/>
            <a:ext cx="5760720" cy="1600200"/>
          </a:xfrm>
          <a:prstGeom prst="roundRect">
            <a:avLst>
              <a:gd name="adj" fmla="val 4571"/>
            </a:avLst>
          </a:prstGeom>
          <a:solidFill>
            <a:srgbClr val="23213F"/>
          </a:solidFill>
          <a:ln w="12700">
            <a:solidFill>
              <a:srgbClr val="23213F"/>
            </a:solidFill>
            <a:prstDash val="solid"/>
          </a:ln>
        </p:spPr>
      </p:sp>
      <p:sp>
        <p:nvSpPr>
          <p:cNvPr id="6" name="Text 4"/>
          <p:cNvSpPr txBox="1"/>
          <p:nvPr/>
        </p:nvSpPr>
        <p:spPr>
          <a:xfrm>
            <a:off x="658368" y="1463040"/>
            <a:ext cx="5358384" cy="310896"/>
          </a:xfrm>
          <a:prstGeom prst="rect">
            <a:avLst/>
          </a:prstGeom>
          <a:noFill/>
          <a:ln/>
        </p:spPr>
        <p:txBody>
          <a:bodyPr wrap="square" lIns="0" tIns="0" rIns="0" bIns="0" rtlCol="0" anchor="ctr"/>
          <a:lstStyle/>
          <a:p>
            <a:pPr indent="0" marL="0">
              <a:buNone/>
            </a:pPr>
            <a:r>
              <a:rPr lang="en-US" sz="1300" dirty="0">
                <a:solidFill>
                  <a:srgbClr val="A9A6C4"/>
                </a:solidFill>
                <a:latin typeface="Calibri" pitchFamily="34" charset="0"/>
                <a:ea typeface="Calibri" pitchFamily="34" charset="-122"/>
                <a:cs typeface="Calibri" pitchFamily="34" charset="-120"/>
              </a:rPr>
              <a:t>rmsnorm: every code line that changed vs the starter</a:t>
            </a:r>
            <a:endParaRPr lang="en-US" sz="1300" dirty="0"/>
          </a:p>
        </p:txBody>
      </p:sp>
      <p:sp>
        <p:nvSpPr>
          <p:cNvPr id="7" name="Text 5"/>
          <p:cNvSpPr txBox="1"/>
          <p:nvPr/>
        </p:nvSpPr>
        <p:spPr>
          <a:xfrm>
            <a:off x="658368" y="1828800"/>
            <a:ext cx="5394960" cy="1051560"/>
          </a:xfrm>
          <a:prstGeom prst="rect">
            <a:avLst/>
          </a:prstGeom>
          <a:noFill/>
          <a:ln/>
        </p:spPr>
        <p:txBody>
          <a:bodyPr wrap="square" lIns="0" tIns="0" rIns="0" bIns="0" rtlCol="0" anchor="t"/>
          <a:lstStyle/>
          <a:p>
            <a:pPr indent="0" marL="0">
              <a:spcAft>
                <a:spcPts val="100"/>
              </a:spcAft>
              <a:buNone/>
            </a:pPr>
            <a:r>
              <a:rPr lang="en-US" sz="1300" dirty="0">
                <a:solidFill>
                  <a:srgbClr val="F08A80"/>
                </a:solidFill>
                <a:latin typeface="Courier New" pitchFamily="34" charset="0"/>
                <a:ea typeface="Courier New" pitchFamily="34" charset="-122"/>
                <a:cs typeface="Courier New" pitchFamily="34" charset="-120"/>
              </a:rPr>
              <a:t>- x = tl.load(…).to(tl.float32)</a:t>
            </a:r>
            <a:endParaRPr lang="en-US" sz="1300" dirty="0"/>
          </a:p>
          <a:p>
            <a:pPr indent="0" marL="0">
              <a:spcAft>
                <a:spcPts val="100"/>
              </a:spcAft>
              <a:buNone/>
            </a:pPr>
            <a:r>
              <a:rPr lang="en-US" sz="1300" dirty="0">
                <a:solidFill>
                  <a:srgbClr val="8FD6A0"/>
                </a:solidFill>
                <a:latin typeface="Courier New" pitchFamily="34" charset="0"/>
                <a:ea typeface="Courier New" pitchFamily="34" charset="-122"/>
                <a:cs typeface="Courier New" pitchFamily="34" charset="-120"/>
              </a:rPr>
              <a:t>+ x = tl.load(…).to(tl.float16)</a:t>
            </a:r>
            <a:endParaRPr lang="en-US" sz="1300" dirty="0"/>
          </a:p>
          <a:p>
            <a:pPr indent="0" marL="0">
              <a:spcAft>
                <a:spcPts val="100"/>
              </a:spcAft>
              <a:buNone/>
            </a:pPr>
            <a:r>
              <a:rPr lang="en-US" sz="1300" dirty="0">
                <a:solidFill>
                  <a:srgbClr val="F08A80"/>
                </a:solidFill>
                <a:latin typeface="Courier New" pitchFamily="34" charset="0"/>
                <a:ea typeface="Courier New" pitchFamily="34" charset="-122"/>
                <a:cs typeface="Courier New" pitchFamily="34" charset="-120"/>
              </a:rPr>
              <a:t>- w = tl.load(…).to(tl.float32)</a:t>
            </a:r>
            <a:endParaRPr lang="en-US" sz="1300" dirty="0"/>
          </a:p>
          <a:p>
            <a:pPr indent="0" marL="0">
              <a:spcAft>
                <a:spcPts val="100"/>
              </a:spcAft>
              <a:buNone/>
            </a:pPr>
            <a:r>
              <a:rPr lang="en-US" sz="1300" dirty="0">
                <a:solidFill>
                  <a:srgbClr val="8FD6A0"/>
                </a:solidFill>
                <a:latin typeface="Courier New" pitchFamily="34" charset="0"/>
                <a:ea typeface="Courier New" pitchFamily="34" charset="-122"/>
                <a:cs typeface="Courier New" pitchFamily="34" charset="-120"/>
              </a:rPr>
              <a:t>+ w = tl.load(…).to(tl.float16)</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3108960"/>
          <a:ext cx="5760720" cy="914400"/>
        </p:xfrm>
        <a:graphic>
          <a:graphicData uri="http://schemas.openxmlformats.org/drawingml/2006/table">
            <a:tbl>
              <a:tblPr/>
              <a:tblGrid>
                <a:gridCol w="1828800"/>
                <a:gridCol w="1965960"/>
                <a:gridCol w="1965960"/>
              </a:tblGrid>
              <a:tr h="365760">
                <a:tc>
                  <a:txBody>
                    <a:bodyPr/>
                    <a:lstStyle/>
                    <a:p>
                      <a:pPr algn="l" indent="0" marL="0">
                        <a:buNone/>
                      </a:pP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starter</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model's kernel</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r>
              <a:tr h="365760">
                <a:tc>
                  <a:txBody>
                    <a:bodyPr/>
                    <a:lstStyle/>
                    <a:p>
                      <a:pPr algn="l" indent="0" marL="0">
                        <a:buNone/>
                      </a:pPr>
                      <a:r>
                        <a:rPr lang="en-US" sz="1400" b="1" dirty="0">
                          <a:solidFill>
                            <a:srgbClr val="1F1F24"/>
                          </a:solidFill>
                          <a:latin typeface="Calibri" pitchFamily="34" charset="0"/>
                          <a:ea typeface="Calibri" pitchFamily="34" charset="-122"/>
                          <a:cs typeface="Calibri" pitchFamily="34" charset="-120"/>
                        </a:rPr>
                        <a:t>full bench (L4)</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400" b="1" dirty="0">
                          <a:solidFill>
                            <a:srgbClr val="B3261E"/>
                          </a:solidFill>
                          <a:latin typeface="Calibri" pitchFamily="34" charset="0"/>
                          <a:ea typeface="Calibri" pitchFamily="34" charset="-122"/>
                          <a:cs typeface="Calibri" pitchFamily="34" charset="-120"/>
                        </a:rPr>
                        <a:t>FAIL: 4/5 stages</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400" b="1" dirty="0">
                          <a:solidFill>
                            <a:srgbClr val="1E7B34"/>
                          </a:solidFill>
                          <a:latin typeface="Calibri" pitchFamily="34" charset="0"/>
                          <a:ea typeface="Calibri" pitchFamily="34" charset="-122"/>
                          <a:cs typeface="Calibri" pitchFamily="34" charset="-120"/>
                        </a:rPr>
                        <a:t>PASS: 5/5 stages</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365760">
                <a:tc>
                  <a:txBody>
                    <a:bodyPr/>
                    <a:lstStyle/>
                    <a:p>
                      <a:pPr algn="l" indent="0" marL="0">
                        <a:buNone/>
                      </a:pPr>
                      <a:r>
                        <a:rPr lang="en-US" sz="1400" b="1" dirty="0">
                          <a:solidFill>
                            <a:srgbClr val="1F1F24"/>
                          </a:solidFill>
                          <a:latin typeface="Calibri" pitchFamily="34" charset="0"/>
                          <a:ea typeface="Calibri" pitchFamily="34" charset="-122"/>
                          <a:cs typeface="Calibri" pitchFamily="34" charset="-120"/>
                        </a:rPr>
                        <a:t>failing stage</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400" dirty="0">
                          <a:solidFill>
                            <a:srgbClr val="1F1F24"/>
                          </a:solidFill>
                          <a:latin typeface="Calibri" pitchFamily="34" charset="0"/>
                          <a:ea typeface="Calibri" pitchFamily="34" charset="-122"/>
                          <a:cs typeface="Calibri" pitchFamily="34" charset="-120"/>
                        </a:rPr>
                        <a:t>numerical stability</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400" dirty="0">
                          <a:solidFill>
                            <a:srgbClr val="1F1F2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365760">
                <a:tc>
                  <a:txBody>
                    <a:bodyPr/>
                    <a:lstStyle/>
                    <a:p>
                      <a:pPr algn="l" indent="0" marL="0">
                        <a:buNone/>
                      </a:pPr>
                      <a:r>
                        <a:rPr lang="en-US" sz="1400" b="1" dirty="0">
                          <a:solidFill>
                            <a:srgbClr val="1F1F24"/>
                          </a:solidFill>
                          <a:latin typeface="Calibri" pitchFamily="34" charset="0"/>
                          <a:ea typeface="Calibri" pitchFamily="34" charset="-122"/>
                          <a:cs typeface="Calibri" pitchFamily="34" charset="-120"/>
                        </a:rPr>
                        <a:t>logged speedup</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400" dirty="0">
                          <a:solidFill>
                            <a:srgbClr val="1F1F24"/>
                          </a:solidFill>
                          <a:latin typeface="Calibri" pitchFamily="34" charset="0"/>
                          <a:ea typeface="Calibri" pitchFamily="34" charset="-122"/>
                          <a:cs typeface="Calibri" pitchFamily="34" charset="-120"/>
                        </a:rPr>
                        <a:t>2.904× (quick mode)</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400" dirty="0">
                          <a:solidFill>
                            <a:srgbClr val="1F1F24"/>
                          </a:solidFill>
                          <a:latin typeface="Calibri" pitchFamily="34" charset="0"/>
                          <a:ea typeface="Calibri" pitchFamily="34" charset="-122"/>
                          <a:cs typeface="Calibri" pitchFamily="34" charset="-120"/>
                        </a:rPr>
                        <a:t>2.926× (full) = reward</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365760">
                <a:tc>
                  <a:txBody>
                    <a:bodyPr/>
                    <a:lstStyle/>
                    <a:p>
                      <a:pPr algn="l" indent="0" marL="0">
                        <a:buNone/>
                      </a:pPr>
                      <a:r>
                        <a:rPr lang="en-US" sz="1400" b="1" dirty="0">
                          <a:solidFill>
                            <a:srgbClr val="1F1F24"/>
                          </a:solidFill>
                          <a:latin typeface="Calibri" pitchFamily="34" charset="0"/>
                          <a:ea typeface="Calibri" pitchFamily="34" charset="-122"/>
                          <a:cs typeface="Calibri" pitchFamily="34" charset="-120"/>
                        </a:rPr>
                        <a:t>remeasured, cold L2</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400" dirty="0">
                          <a:solidFill>
                            <a:srgbClr val="1F1F24"/>
                          </a:solidFill>
                          <a:latin typeface="Calibri" pitchFamily="34" charset="0"/>
                          <a:ea typeface="Calibri" pitchFamily="34" charset="-122"/>
                          <a:cs typeface="Calibri" pitchFamily="34" charset="-120"/>
                        </a:rPr>
                        <a:t>287.7 µs</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400" b="1" dirty="0">
                          <a:solidFill>
                            <a:srgbClr val="1F1F24"/>
                          </a:solidFill>
                          <a:latin typeface="Calibri" pitchFamily="34" charset="0"/>
                          <a:ea typeface="Calibri" pitchFamily="34" charset="-122"/>
                          <a:cs typeface="Calibri" pitchFamily="34" charset="-120"/>
                        </a:rPr>
                        <a:t>286.7 µs</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365760">
                <a:tc>
                  <a:txBody>
                    <a:bodyPr/>
                    <a:lstStyle/>
                    <a:p>
                      <a:pPr algn="l" indent="0" marL="0">
                        <a:buNone/>
                      </a:pPr>
                      <a:r>
                        <a:rPr lang="en-US" sz="1400" b="1" dirty="0">
                          <a:solidFill>
                            <a:srgbClr val="1F1F24"/>
                          </a:solidFill>
                          <a:latin typeface="Calibri" pitchFamily="34" charset="0"/>
                          <a:ea typeface="Calibri" pitchFamily="34" charset="-122"/>
                          <a:cs typeface="Calibri" pitchFamily="34" charset="-120"/>
                        </a:rPr>
                        <a:t>eager PyTorch</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gridSpan="2">
                  <a:txBody>
                    <a:bodyPr/>
                    <a:lstStyle/>
                    <a:p>
                      <a:pPr algn="ctr" indent="0" marL="0">
                        <a:buNone/>
                      </a:pPr>
                      <a:r>
                        <a:rPr lang="en-US" sz="1400" dirty="0">
                          <a:solidFill>
                            <a:srgbClr val="1F1F24"/>
                          </a:solidFill>
                          <a:latin typeface="Calibri" pitchFamily="34" charset="0"/>
                          <a:ea typeface="Calibri" pitchFamily="34" charset="-122"/>
                          <a:cs typeface="Calibri" pitchFamily="34" charset="-120"/>
                        </a:rPr>
                        <a:t>833.5 µs</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hMerge="1">
                  <a:tcPr/>
                </a:tc>
              </a:tr>
              <a:tr h="365760">
                <a:tc>
                  <a:txBody>
                    <a:bodyPr/>
                    <a:lstStyle/>
                    <a:p>
                      <a:pPr algn="l" indent="0" marL="0">
                        <a:buNone/>
                      </a:pPr>
                      <a:r>
                        <a:rPr lang="en-US" sz="1400" b="1" dirty="0">
                          <a:solidFill>
                            <a:srgbClr val="1F1F24"/>
                          </a:solidFill>
                          <a:latin typeface="Calibri" pitchFamily="34" charset="0"/>
                          <a:ea typeface="Calibri" pitchFamily="34" charset="-122"/>
                          <a:cs typeface="Calibri" pitchFamily="34" charset="-120"/>
                        </a:rPr>
                        <a:t>zero rows, RMS ≈ 4</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400" dirty="0">
                          <a:solidFill>
                            <a:srgbClr val="1F1F24"/>
                          </a:solidFill>
                          <a:latin typeface="Calibri" pitchFamily="34" charset="0"/>
                          <a:ea typeface="Calibri" pitchFamily="34" charset="-122"/>
                          <a:cs typeface="Calibri" pitchFamily="34" charset="-120"/>
                        </a:rPr>
                        <a:t>0/256</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400" b="1" dirty="0">
                          <a:solidFill>
                            <a:srgbClr val="B3261E"/>
                          </a:solidFill>
                          <a:latin typeface="Calibri" pitchFamily="34" charset="0"/>
                          <a:ea typeface="Calibri" pitchFamily="34" charset="-122"/>
                          <a:cs typeface="Calibri" pitchFamily="34" charset="-120"/>
                        </a:rPr>
                        <a:t>133/256</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bl>
          </a:graphicData>
        </a:graphic>
      </p:graphicFrame>
      <p:sp>
        <p:nvSpPr>
          <p:cNvPr id="9" name="Text 6"/>
          <p:cNvSpPr txBox="1"/>
          <p:nvPr/>
        </p:nvSpPr>
        <p:spPr>
          <a:xfrm>
            <a:off x="6583680" y="1371600"/>
            <a:ext cx="5150815" cy="365760"/>
          </a:xfrm>
          <a:prstGeom prst="rect">
            <a:avLst/>
          </a:prstGeom>
          <a:noFill/>
          <a:ln/>
        </p:spPr>
        <p:txBody>
          <a:bodyPr wrap="square" lIns="0" tIns="0" rIns="0" bIns="0" rtlCol="0" anchor="ctr"/>
          <a:lstStyle/>
          <a:p>
            <a:pPr indent="0" marL="0">
              <a:buNone/>
            </a:pPr>
            <a:r>
              <a:rPr lang="en-US" sz="1800" b="1" dirty="0">
                <a:solidFill>
                  <a:srgbClr val="1F1F24"/>
                </a:solidFill>
                <a:latin typeface="Cambria" pitchFamily="34" charset="0"/>
                <a:ea typeface="Cambria" pitchFamily="34" charset="-122"/>
                <a:cs typeface="Cambria" pitchFamily="34" charset="-120"/>
              </a:rPr>
              <a:t>What actually happened</a:t>
            </a:r>
            <a:endParaRPr lang="en-US" sz="1800" dirty="0"/>
          </a:p>
        </p:txBody>
      </p:sp>
      <p:sp>
        <p:nvSpPr>
          <p:cNvPr id="10" name="Text 7"/>
          <p:cNvSpPr txBox="1"/>
          <p:nvPr/>
        </p:nvSpPr>
        <p:spPr>
          <a:xfrm>
            <a:off x="6583680" y="1828800"/>
            <a:ext cx="5150815" cy="24688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F1F24"/>
                </a:solidFill>
                <a:latin typeface="Calibri" pitchFamily="34" charset="0"/>
                <a:ea typeface="Calibri" pitchFamily="34" charset="-122"/>
                <a:cs typeface="Calibri" pitchFamily="34" charset="-120"/>
              </a:rPr>
              <a:t>Speed was already there: the 2.9× over eager PyTorch is the starter's; the casts moved latency −0.4%.</a:t>
            </a:r>
            <a:endParaRPr lang="en-US" sz="1400" dirty="0"/>
          </a:p>
          <a:p>
            <a:pPr marL="177800" indent="-177800">
              <a:spcAft>
                <a:spcPts val="600"/>
              </a:spcAft>
              <a:buSzPct val="100000"/>
              <a:buChar char="•"/>
            </a:pPr>
            <a:r>
              <a:rPr lang="en-US" sz="1400" dirty="0">
                <a:solidFill>
                  <a:srgbClr val="1F1F24"/>
                </a:solidFill>
                <a:latin typeface="Calibri" pitchFamily="34" charset="0"/>
                <a:ea typeface="Calibri" pitchFamily="34" charset="-122"/>
                <a:cs typeface="Calibri" pitchFamily="34" charset="-120"/>
              </a:rPr>
              <a:t>Numerics broke: Σx² now runs in fp16 and overflows; at N=4096, RMS ≈ 4 zeroes 133/256 rows (fp32 starter: 0).</a:t>
            </a:r>
            <a:endParaRPr lang="en-US" sz="1400" dirty="0"/>
          </a:p>
          <a:p>
            <a:pPr marL="177800" indent="-177800">
              <a:spcAft>
                <a:spcPts val="600"/>
              </a:spcAft>
              <a:buSzPct val="100000"/>
              <a:buChar char="•"/>
            </a:pPr>
            <a:r>
              <a:rPr lang="en-US" sz="1400" dirty="0">
                <a:solidFill>
                  <a:srgbClr val="1F1F24"/>
                </a:solidFill>
                <a:latin typeface="Calibri" pitchFamily="34" charset="0"/>
                <a:ea typeface="Calibri" pitchFamily="34" charset="-122"/>
                <a:cs typeface="Calibri" pitchFamily="34" charset="-120"/>
              </a:rPr>
              <a:t>Why the verifier paid: its reference squares in float16 and overflows identically, so the correct fp32 starter FAILs; and speed is scored vs PyTorch, not vs the starter.</a:t>
            </a:r>
            <a:endParaRPr lang="en-US" sz="1400" dirty="0"/>
          </a:p>
        </p:txBody>
      </p:sp>
      <p:sp>
        <p:nvSpPr>
          <p:cNvPr id="11" name="Shape 8"/>
          <p:cNvSpPr/>
          <p:nvPr/>
        </p:nvSpPr>
        <p:spPr>
          <a:xfrm>
            <a:off x="6583680" y="4434840"/>
            <a:ext cx="5150815" cy="1280160"/>
          </a:xfrm>
          <a:prstGeom prst="roundRect">
            <a:avLst>
              <a:gd name="adj" fmla="val 5714"/>
            </a:avLst>
          </a:prstGeom>
          <a:solidFill>
            <a:srgbClr val="1B1A3A"/>
          </a:solidFill>
          <a:ln w="12700">
            <a:solidFill>
              <a:srgbClr val="1B1A3A"/>
            </a:solidFill>
            <a:prstDash val="solid"/>
          </a:ln>
        </p:spPr>
      </p:sp>
      <p:sp>
        <p:nvSpPr>
          <p:cNvPr id="12" name="Text 9"/>
          <p:cNvSpPr txBox="1"/>
          <p:nvPr/>
        </p:nvSpPr>
        <p:spPr>
          <a:xfrm>
            <a:off x="6812280" y="4507992"/>
            <a:ext cx="4693615" cy="1143000"/>
          </a:xfrm>
          <a:prstGeom prst="rect">
            <a:avLst/>
          </a:prstGeom>
          <a:noFill/>
          <a:ln/>
        </p:spPr>
        <p:txBody>
          <a:bodyPr wrap="square" lIns="0" tIns="0" rIns="0" bIns="0" rtlCol="0" anchor="ctr"/>
          <a:lstStyle/>
          <a:p>
            <a:pPr indent="0" marL="0">
              <a:spcAft>
                <a:spcPts val="400"/>
              </a:spcAft>
              <a:buNone/>
            </a:pPr>
            <a:r>
              <a:rPr lang="en-US" sz="1400" dirty="0">
                <a:solidFill>
                  <a:srgbClr val="E6E4F0"/>
                </a:solidFill>
                <a:latin typeface="Calibri" pitchFamily="34" charset="0"/>
                <a:ea typeface="Calibri" pitchFamily="34" charset="-122"/>
                <a:cs typeface="Calibri" pitchFamily="34" charset="-120"/>
              </a:rPr>
              <a:t>This talk: the harness that surfaced this, what else it got wrong, and how I would verify and time kernels so a PASS and a speedup mean something.</a:t>
            </a:r>
            <a:endParaRPr lang="en-US" sz="1400" dirty="0"/>
          </a:p>
        </p:txBody>
      </p:sp>
      <p:sp>
        <p:nvSpPr>
          <p:cNvPr id="13" name="Text 10"/>
          <p:cNvSpPr txBox="1"/>
          <p:nvPr/>
        </p:nvSpPr>
        <p:spPr>
          <a:xfrm>
            <a:off x="4572000" y="6419088"/>
            <a:ext cx="7162495" cy="256032"/>
          </a:xfrm>
          <a:prstGeom prst="rect">
            <a:avLst/>
          </a:prstGeom>
          <a:noFill/>
          <a:ln/>
        </p:spPr>
        <p:txBody>
          <a:bodyPr wrap="square" lIns="0" tIns="0" rIns="0" bIns="0" rtlCol="0" anchor="ctr"/>
          <a:lstStyle/>
          <a:p>
            <a:pPr algn="r" indent="0" marL="0">
              <a:buNone/>
            </a:pPr>
            <a:r>
              <a:rPr lang="en-US" sz="1000" i="1" dirty="0">
                <a:solidFill>
                  <a:srgbClr val="85848F"/>
                </a:solidFill>
                <a:latin typeface="Calibri" pitchFamily="34" charset="0"/>
                <a:ea typeface="Calibri" pitchFamily="34" charset="-122"/>
                <a:cs typeface="Calibri" pitchFamily="34" charset="-120"/>
              </a:rPr>
              <a:t>grpo_v2 step 9, code c45bd6a226e2 · stage1_baselines.jsonl · results/v3/rmsnorm_remeasure.json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1B1A3A"/>
                </a:solidFill>
                <a:latin typeface="Cambria" pitchFamily="34" charset="0"/>
                <a:ea typeface="Cambria" pitchFamily="34" charset="-122"/>
                <a:cs typeface="Cambria" pitchFamily="34" charset="-120"/>
              </a:rPr>
              <a:t>The harness: model output → reward</a:t>
            </a:r>
            <a:endParaRPr lang="en-US" sz="3000" dirty="0"/>
          </a:p>
        </p:txBody>
      </p:sp>
      <p:sp>
        <p:nvSpPr>
          <p:cNvPr id="3" name="Text 1"/>
          <p:cNvSpPr txBox="1"/>
          <p:nvPr/>
        </p:nvSpPr>
        <p:spPr>
          <a:xfrm>
            <a:off x="457200" y="896112"/>
            <a:ext cx="11277295" cy="329184"/>
          </a:xfrm>
          <a:prstGeom prst="rect">
            <a:avLst/>
          </a:prstGeom>
          <a:noFill/>
          <a:ln/>
        </p:spPr>
        <p:txBody>
          <a:bodyPr wrap="square" lIns="0" tIns="0" rIns="0" bIns="0" rtlCol="0" anchor="ctr"/>
          <a:lstStyle/>
          <a:p>
            <a:pPr indent="0" marL="0">
              <a:buNone/>
            </a:pPr>
            <a:r>
              <a:rPr lang="en-US" sz="1600" i="1" dirty="0">
                <a:solidFill>
                  <a:srgbClr val="9A5712"/>
                </a:solidFill>
                <a:latin typeface="Cambria" pitchFamily="34" charset="0"/>
                <a:ea typeface="Cambria" pitchFamily="34" charset="-122"/>
                <a:cs typeface="Cambria" pitchFamily="34" charset="-120"/>
              </a:rPr>
              <a:t>every box below gave a wrong answer at least once</a:t>
            </a:r>
            <a:endParaRPr lang="en-US" sz="1600" dirty="0"/>
          </a:p>
        </p:txBody>
      </p:sp>
      <p:sp>
        <p:nvSpPr>
          <p:cNvPr id="4" name="Text 2"/>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85848F"/>
                </a:solidFill>
                <a:latin typeface="Calibri" pitchFamily="34" charset="0"/>
                <a:ea typeface="Calibri" pitchFamily="34" charset="-122"/>
                <a:cs typeface="Calibri" pitchFamily="34" charset="-120"/>
              </a:rPr>
              <a:t>Modal re-run, Sept 2026 · 3</a:t>
            </a:r>
            <a:endParaRPr lang="en-US" sz="1000" dirty="0"/>
          </a:p>
        </p:txBody>
      </p:sp>
      <p:sp>
        <p:nvSpPr>
          <p:cNvPr id="5" name="Shape 3"/>
          <p:cNvSpPr/>
          <p:nvPr/>
        </p:nvSpPr>
        <p:spPr>
          <a:xfrm>
            <a:off x="457200" y="1417320"/>
            <a:ext cx="2123785" cy="1783080"/>
          </a:xfrm>
          <a:prstGeom prst="roundRect">
            <a:avLst>
              <a:gd name="adj" fmla="val 4103"/>
            </a:avLst>
          </a:prstGeom>
          <a:solidFill>
            <a:srgbClr val="2E2A6B"/>
          </a:solidFill>
          <a:ln w="12700">
            <a:solidFill>
              <a:srgbClr val="2E2A6B"/>
            </a:solidFill>
            <a:prstDash val="solid"/>
          </a:ln>
        </p:spPr>
      </p:sp>
      <p:sp>
        <p:nvSpPr>
          <p:cNvPr id="6" name="Text 4"/>
          <p:cNvSpPr txBox="1"/>
          <p:nvPr/>
        </p:nvSpPr>
        <p:spPr>
          <a:xfrm>
            <a:off x="594360" y="1508760"/>
            <a:ext cx="1849465" cy="411480"/>
          </a:xfrm>
          <a:prstGeom prst="rect">
            <a:avLst/>
          </a:prstGeom>
          <a:noFill/>
          <a:ln/>
        </p:spPr>
        <p:txBody>
          <a:bodyPr wrap="square" lIns="0" tIns="0" rIns="0" bIns="0" rtlCol="0" anchor="ctr"/>
          <a:lstStyle/>
          <a:p>
            <a:pPr indent="0" marL="0">
              <a:buNone/>
            </a:pPr>
            <a:r>
              <a:rPr lang="en-US" sz="1800" b="1" dirty="0">
                <a:solidFill>
                  <a:srgbClr val="E8A33D"/>
                </a:solidFill>
                <a:latin typeface="Cambria" pitchFamily="34" charset="0"/>
                <a:ea typeface="Cambria" pitchFamily="34" charset="-122"/>
                <a:cs typeface="Cambria" pitchFamily="34" charset="-120"/>
              </a:rPr>
              <a:t>Parse</a:t>
            </a:r>
            <a:endParaRPr lang="en-US" sz="1800" dirty="0"/>
          </a:p>
        </p:txBody>
      </p:sp>
      <p:sp>
        <p:nvSpPr>
          <p:cNvPr id="7" name="Text 5"/>
          <p:cNvSpPr txBox="1"/>
          <p:nvPr/>
        </p:nvSpPr>
        <p:spPr>
          <a:xfrm>
            <a:off x="594360" y="1938528"/>
            <a:ext cx="1849465" cy="11887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code block → kernel.py</a:t>
            </a:r>
            <a:endParaRPr lang="en-US" sz="1300" dirty="0"/>
          </a:p>
        </p:txBody>
      </p:sp>
      <p:sp>
        <p:nvSpPr>
          <p:cNvPr id="8" name="Text 6"/>
          <p:cNvSpPr txBox="1"/>
          <p:nvPr/>
        </p:nvSpPr>
        <p:spPr>
          <a:xfrm>
            <a:off x="2562697" y="2057400"/>
            <a:ext cx="201168" cy="365760"/>
          </a:xfrm>
          <a:prstGeom prst="rect">
            <a:avLst/>
          </a:prstGeom>
          <a:noFill/>
          <a:ln/>
        </p:spPr>
        <p:txBody>
          <a:bodyPr wrap="square" lIns="0" tIns="0" rIns="0" bIns="0" rtlCol="0" anchor="ctr"/>
          <a:lstStyle/>
          <a:p>
            <a:pPr algn="ctr" indent="0" marL="0">
              <a:buNone/>
            </a:pPr>
            <a:r>
              <a:rPr lang="en-US" sz="1800" b="1" dirty="0">
                <a:solidFill>
                  <a:srgbClr val="9A5712"/>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457200" y="3337560"/>
            <a:ext cx="2123785" cy="1600200"/>
          </a:xfrm>
          <a:prstGeom prst="roundRect">
            <a:avLst>
              <a:gd name="adj" fmla="val 4571"/>
            </a:avLst>
          </a:prstGeom>
          <a:solidFill>
            <a:srgbClr val="FBEAE8"/>
          </a:solidFill>
          <a:ln w="12700">
            <a:solidFill>
              <a:srgbClr val="FBEAE8"/>
            </a:solidFill>
            <a:prstDash val="solid"/>
          </a:ln>
        </p:spPr>
      </p:sp>
      <p:sp>
        <p:nvSpPr>
          <p:cNvPr id="10" name="Text 8"/>
          <p:cNvSpPr txBox="1"/>
          <p:nvPr/>
        </p:nvSpPr>
        <p:spPr>
          <a:xfrm>
            <a:off x="594360" y="3429000"/>
            <a:ext cx="1849465" cy="1417320"/>
          </a:xfrm>
          <a:prstGeom prst="rect">
            <a:avLst/>
          </a:prstGeom>
          <a:noFill/>
          <a:ln/>
        </p:spPr>
        <p:txBody>
          <a:bodyPr wrap="square" lIns="0" tIns="0" rIns="0" bIns="0" rtlCol="0" anchor="t"/>
          <a:lstStyle/>
          <a:p>
            <a:pPr indent="0" marL="0">
              <a:buNone/>
            </a:pPr>
            <a:r>
              <a:rPr lang="en-US" sz="1300" b="1" dirty="0">
                <a:solidFill>
                  <a:srgbClr val="B3261E"/>
                </a:solidFill>
                <a:latin typeface="Calibri" pitchFamily="34" charset="0"/>
                <a:ea typeface="Calibri" pitchFamily="34" charset="-122"/>
                <a:cs typeface="Calibri" pitchFamily="34" charset="-120"/>
              </a:rPr>
              <a:t>failure found: </a:t>
            </a:r>
            <a:pPr indent="0" marL="0">
              <a:buNone/>
            </a:pPr>
            <a:r>
              <a:rPr lang="en-US" sz="1300" dirty="0">
                <a:solidFill>
                  <a:srgbClr val="1F1F24"/>
                </a:solidFill>
                <a:latin typeface="Calibri" pitchFamily="34" charset="0"/>
                <a:ea typeface="Calibri" pitchFamily="34" charset="-122"/>
                <a:cs typeface="Calibri" pitchFamily="34" charset="-120"/>
              </a:rPr>
              <a:t>worker passed --kernel-type and parsed results.tsv; bench.py takes --kernel and prints to stdout</a:t>
            </a:r>
            <a:endParaRPr lang="en-US" sz="1300" dirty="0"/>
          </a:p>
        </p:txBody>
      </p:sp>
      <p:sp>
        <p:nvSpPr>
          <p:cNvPr id="11" name="Shape 9"/>
          <p:cNvSpPr/>
          <p:nvPr/>
        </p:nvSpPr>
        <p:spPr>
          <a:xfrm>
            <a:off x="2745577" y="1417320"/>
            <a:ext cx="2123785" cy="1783080"/>
          </a:xfrm>
          <a:prstGeom prst="roundRect">
            <a:avLst>
              <a:gd name="adj" fmla="val 4103"/>
            </a:avLst>
          </a:prstGeom>
          <a:solidFill>
            <a:srgbClr val="2E2A6B"/>
          </a:solidFill>
          <a:ln w="12700">
            <a:solidFill>
              <a:srgbClr val="2E2A6B"/>
            </a:solidFill>
            <a:prstDash val="solid"/>
          </a:ln>
        </p:spPr>
      </p:sp>
      <p:sp>
        <p:nvSpPr>
          <p:cNvPr id="12" name="Text 10"/>
          <p:cNvSpPr txBox="1"/>
          <p:nvPr/>
        </p:nvSpPr>
        <p:spPr>
          <a:xfrm>
            <a:off x="2882737" y="1508760"/>
            <a:ext cx="1849465" cy="411480"/>
          </a:xfrm>
          <a:prstGeom prst="rect">
            <a:avLst/>
          </a:prstGeom>
          <a:noFill/>
          <a:ln/>
        </p:spPr>
        <p:txBody>
          <a:bodyPr wrap="square" lIns="0" tIns="0" rIns="0" bIns="0" rtlCol="0" anchor="ctr"/>
          <a:lstStyle/>
          <a:p>
            <a:pPr indent="0" marL="0">
              <a:buNone/>
            </a:pPr>
            <a:r>
              <a:rPr lang="en-US" sz="1800" b="1" dirty="0">
                <a:solidFill>
                  <a:srgbClr val="E8A33D"/>
                </a:solidFill>
                <a:latin typeface="Cambria" pitchFamily="34" charset="0"/>
                <a:ea typeface="Cambria" pitchFamily="34" charset="-122"/>
                <a:cs typeface="Cambria" pitchFamily="34" charset="-120"/>
              </a:rPr>
              <a:t>Correctness</a:t>
            </a:r>
            <a:endParaRPr lang="en-US" sz="1800" dirty="0"/>
          </a:p>
        </p:txBody>
      </p:sp>
      <p:sp>
        <p:nvSpPr>
          <p:cNvPr id="13" name="Text 11"/>
          <p:cNvSpPr txBox="1"/>
          <p:nvPr/>
        </p:nvSpPr>
        <p:spPr>
          <a:xfrm>
            <a:off x="2882737" y="1938528"/>
            <a:ext cx="1849465" cy="11887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5 stages: smoke, shape sweep, stability, determinism, edge sizes</a:t>
            </a:r>
            <a:endParaRPr lang="en-US" sz="1300" dirty="0"/>
          </a:p>
        </p:txBody>
      </p:sp>
      <p:sp>
        <p:nvSpPr>
          <p:cNvPr id="14" name="Text 12"/>
          <p:cNvSpPr txBox="1"/>
          <p:nvPr/>
        </p:nvSpPr>
        <p:spPr>
          <a:xfrm>
            <a:off x="4851075" y="2057400"/>
            <a:ext cx="201168" cy="365760"/>
          </a:xfrm>
          <a:prstGeom prst="rect">
            <a:avLst/>
          </a:prstGeom>
          <a:noFill/>
          <a:ln/>
        </p:spPr>
        <p:txBody>
          <a:bodyPr wrap="square" lIns="0" tIns="0" rIns="0" bIns="0" rtlCol="0" anchor="ctr"/>
          <a:lstStyle/>
          <a:p>
            <a:pPr algn="ctr" indent="0" marL="0">
              <a:buNone/>
            </a:pPr>
            <a:r>
              <a:rPr lang="en-US" sz="1800" b="1" dirty="0">
                <a:solidFill>
                  <a:srgbClr val="9A5712"/>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2745577" y="3337560"/>
            <a:ext cx="2123785" cy="1600200"/>
          </a:xfrm>
          <a:prstGeom prst="roundRect">
            <a:avLst>
              <a:gd name="adj" fmla="val 4571"/>
            </a:avLst>
          </a:prstGeom>
          <a:solidFill>
            <a:srgbClr val="FBEAE8"/>
          </a:solidFill>
          <a:ln w="12700">
            <a:solidFill>
              <a:srgbClr val="FBEAE8"/>
            </a:solidFill>
            <a:prstDash val="solid"/>
          </a:ln>
        </p:spPr>
      </p:sp>
      <p:sp>
        <p:nvSpPr>
          <p:cNvPr id="16" name="Text 14"/>
          <p:cNvSpPr txBox="1"/>
          <p:nvPr/>
        </p:nvSpPr>
        <p:spPr>
          <a:xfrm>
            <a:off x="2882737" y="3429000"/>
            <a:ext cx="1849465" cy="1417320"/>
          </a:xfrm>
          <a:prstGeom prst="rect">
            <a:avLst/>
          </a:prstGeom>
          <a:noFill/>
          <a:ln/>
        </p:spPr>
        <p:txBody>
          <a:bodyPr wrap="square" lIns="0" tIns="0" rIns="0" bIns="0" rtlCol="0" anchor="t"/>
          <a:lstStyle/>
          <a:p>
            <a:pPr indent="0" marL="0">
              <a:buNone/>
            </a:pPr>
            <a:r>
              <a:rPr lang="en-US" sz="1300" b="1" dirty="0">
                <a:solidFill>
                  <a:srgbClr val="B3261E"/>
                </a:solidFill>
                <a:latin typeface="Calibri" pitchFamily="34" charset="0"/>
                <a:ea typeface="Calibri" pitchFamily="34" charset="-122"/>
                <a:cs typeface="Calibri" pitchFamily="34" charset="-120"/>
              </a:rPr>
              <a:t>failure found: </a:t>
            </a:r>
            <a:pPr indent="0" marL="0">
              <a:buNone/>
            </a:pPr>
            <a:r>
              <a:rPr lang="en-US" sz="1300" dirty="0">
                <a:solidFill>
                  <a:srgbClr val="1F1F24"/>
                </a:solidFill>
                <a:latin typeface="Calibri" pitchFamily="34" charset="0"/>
                <a:ea typeface="Calibri" pitchFamily="34" charset="-122"/>
                <a:cs typeface="Calibri" pitchFamily="34" charset="-120"/>
              </a:rPr>
              <a:t>--quick skips stability; both-NaN/Inf outputs accepted (bench.py:838)</a:t>
            </a:r>
            <a:endParaRPr lang="en-US" sz="1300" dirty="0"/>
          </a:p>
        </p:txBody>
      </p:sp>
      <p:sp>
        <p:nvSpPr>
          <p:cNvPr id="17" name="Shape 15"/>
          <p:cNvSpPr/>
          <p:nvPr/>
        </p:nvSpPr>
        <p:spPr>
          <a:xfrm>
            <a:off x="5033955" y="1417320"/>
            <a:ext cx="2123785" cy="1783080"/>
          </a:xfrm>
          <a:prstGeom prst="roundRect">
            <a:avLst>
              <a:gd name="adj" fmla="val 4103"/>
            </a:avLst>
          </a:prstGeom>
          <a:solidFill>
            <a:srgbClr val="2E2A6B"/>
          </a:solidFill>
          <a:ln w="12700">
            <a:solidFill>
              <a:srgbClr val="2E2A6B"/>
            </a:solidFill>
            <a:prstDash val="solid"/>
          </a:ln>
        </p:spPr>
      </p:sp>
      <p:sp>
        <p:nvSpPr>
          <p:cNvPr id="18" name="Text 16"/>
          <p:cNvSpPr txBox="1"/>
          <p:nvPr/>
        </p:nvSpPr>
        <p:spPr>
          <a:xfrm>
            <a:off x="5171115" y="1508760"/>
            <a:ext cx="1849465" cy="411480"/>
          </a:xfrm>
          <a:prstGeom prst="rect">
            <a:avLst/>
          </a:prstGeom>
          <a:noFill/>
          <a:ln/>
        </p:spPr>
        <p:txBody>
          <a:bodyPr wrap="square" lIns="0" tIns="0" rIns="0" bIns="0" rtlCol="0" anchor="ctr"/>
          <a:lstStyle/>
          <a:p>
            <a:pPr indent="0" marL="0">
              <a:buNone/>
            </a:pPr>
            <a:r>
              <a:rPr lang="en-US" sz="1800" b="1" dirty="0">
                <a:solidFill>
                  <a:srgbClr val="E8A33D"/>
                </a:solidFill>
                <a:latin typeface="Cambria" pitchFamily="34" charset="0"/>
                <a:ea typeface="Cambria" pitchFamily="34" charset="-122"/>
                <a:cs typeface="Cambria" pitchFamily="34" charset="-120"/>
              </a:rPr>
              <a:t>Timing</a:t>
            </a:r>
            <a:endParaRPr lang="en-US" sz="1800" dirty="0"/>
          </a:p>
        </p:txBody>
      </p:sp>
      <p:sp>
        <p:nvSpPr>
          <p:cNvPr id="19" name="Text 17"/>
          <p:cNvSpPr txBox="1"/>
          <p:nvPr/>
        </p:nvSpPr>
        <p:spPr>
          <a:xfrm>
            <a:off x="5171115" y="1938528"/>
            <a:ext cx="1849465" cy="11887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do_bench, float16 4096×4096, vs eager PyTorch</a:t>
            </a:r>
            <a:endParaRPr lang="en-US" sz="1300" dirty="0"/>
          </a:p>
        </p:txBody>
      </p:sp>
      <p:sp>
        <p:nvSpPr>
          <p:cNvPr id="20" name="Text 18"/>
          <p:cNvSpPr txBox="1"/>
          <p:nvPr/>
        </p:nvSpPr>
        <p:spPr>
          <a:xfrm>
            <a:off x="7139452" y="2057400"/>
            <a:ext cx="201168" cy="365760"/>
          </a:xfrm>
          <a:prstGeom prst="rect">
            <a:avLst/>
          </a:prstGeom>
          <a:noFill/>
          <a:ln/>
        </p:spPr>
        <p:txBody>
          <a:bodyPr wrap="square" lIns="0" tIns="0" rIns="0" bIns="0" rtlCol="0" anchor="ctr"/>
          <a:lstStyle/>
          <a:p>
            <a:pPr algn="ctr" indent="0" marL="0">
              <a:buNone/>
            </a:pPr>
            <a:r>
              <a:rPr lang="en-US" sz="1800" b="1" dirty="0">
                <a:solidFill>
                  <a:srgbClr val="9A5712"/>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5033955" y="3337560"/>
            <a:ext cx="2123785" cy="1600200"/>
          </a:xfrm>
          <a:prstGeom prst="roundRect">
            <a:avLst>
              <a:gd name="adj" fmla="val 4571"/>
            </a:avLst>
          </a:prstGeom>
          <a:solidFill>
            <a:srgbClr val="FBEAE8"/>
          </a:solidFill>
          <a:ln w="12700">
            <a:solidFill>
              <a:srgbClr val="FBEAE8"/>
            </a:solidFill>
            <a:prstDash val="solid"/>
          </a:ln>
        </p:spPr>
      </p:sp>
      <p:sp>
        <p:nvSpPr>
          <p:cNvPr id="22" name="Text 20"/>
          <p:cNvSpPr txBox="1"/>
          <p:nvPr/>
        </p:nvSpPr>
        <p:spPr>
          <a:xfrm>
            <a:off x="5171115" y="3429000"/>
            <a:ext cx="1849465" cy="1417320"/>
          </a:xfrm>
          <a:prstGeom prst="rect">
            <a:avLst/>
          </a:prstGeom>
          <a:noFill/>
          <a:ln/>
        </p:spPr>
        <p:txBody>
          <a:bodyPr wrap="square" lIns="0" tIns="0" rIns="0" bIns="0" rtlCol="0" anchor="t"/>
          <a:lstStyle/>
          <a:p>
            <a:pPr indent="0" marL="0">
              <a:buNone/>
            </a:pPr>
            <a:r>
              <a:rPr lang="en-US" sz="1300" b="1" dirty="0">
                <a:solidFill>
                  <a:srgbClr val="B3261E"/>
                </a:solidFill>
                <a:latin typeface="Calibri" pitchFamily="34" charset="0"/>
                <a:ea typeface="Calibri" pitchFamily="34" charset="-122"/>
                <a:cs typeface="Calibri" pitchFamily="34" charset="-120"/>
              </a:rPr>
              <a:t>failure found: </a:t>
            </a:r>
            <a:pPr indent="0" marL="0">
              <a:buNone/>
            </a:pPr>
            <a:r>
              <a:rPr lang="en-US" sz="1300" dirty="0">
                <a:solidFill>
                  <a:srgbClr val="1F1F24"/>
                </a:solidFill>
                <a:latin typeface="Calibri" pitchFamily="34" charset="0"/>
                <a:ea typeface="Calibri" pitchFamily="34" charset="-122"/>
                <a:cs typeface="Calibri" pitchFamily="34" charset="-120"/>
              </a:rPr>
              <a:t>one shape, one dtype, PyTorch-only baseline; H100 spec lookup reports 113% of peak BW</a:t>
            </a:r>
            <a:endParaRPr lang="en-US" sz="1300" dirty="0"/>
          </a:p>
        </p:txBody>
      </p:sp>
      <p:sp>
        <p:nvSpPr>
          <p:cNvPr id="23" name="Shape 21"/>
          <p:cNvSpPr/>
          <p:nvPr/>
        </p:nvSpPr>
        <p:spPr>
          <a:xfrm>
            <a:off x="7322332" y="1417320"/>
            <a:ext cx="2123785" cy="1783080"/>
          </a:xfrm>
          <a:prstGeom prst="roundRect">
            <a:avLst>
              <a:gd name="adj" fmla="val 4103"/>
            </a:avLst>
          </a:prstGeom>
          <a:solidFill>
            <a:srgbClr val="2E2A6B"/>
          </a:solidFill>
          <a:ln w="12700">
            <a:solidFill>
              <a:srgbClr val="2E2A6B"/>
            </a:solidFill>
            <a:prstDash val="solid"/>
          </a:ln>
        </p:spPr>
      </p:sp>
      <p:sp>
        <p:nvSpPr>
          <p:cNvPr id="24" name="Text 22"/>
          <p:cNvSpPr txBox="1"/>
          <p:nvPr/>
        </p:nvSpPr>
        <p:spPr>
          <a:xfrm>
            <a:off x="7459492" y="1508760"/>
            <a:ext cx="1849465" cy="411480"/>
          </a:xfrm>
          <a:prstGeom prst="rect">
            <a:avLst/>
          </a:prstGeom>
          <a:noFill/>
          <a:ln/>
        </p:spPr>
        <p:txBody>
          <a:bodyPr wrap="square" lIns="0" tIns="0" rIns="0" bIns="0" rtlCol="0" anchor="ctr"/>
          <a:lstStyle/>
          <a:p>
            <a:pPr indent="0" marL="0">
              <a:buNone/>
            </a:pPr>
            <a:r>
              <a:rPr lang="en-US" sz="1800" b="1" dirty="0">
                <a:solidFill>
                  <a:srgbClr val="E8A33D"/>
                </a:solidFill>
                <a:latin typeface="Cambria" pitchFamily="34" charset="0"/>
                <a:ea typeface="Cambria" pitchFamily="34" charset="-122"/>
                <a:cs typeface="Cambria" pitchFamily="34" charset="-120"/>
              </a:rPr>
              <a:t>Cache</a:t>
            </a:r>
            <a:endParaRPr lang="en-US" sz="1800" dirty="0"/>
          </a:p>
        </p:txBody>
      </p:sp>
      <p:sp>
        <p:nvSpPr>
          <p:cNvPr id="25" name="Text 23"/>
          <p:cNvSpPr txBox="1"/>
          <p:nvPr/>
        </p:nvSpPr>
        <p:spPr>
          <a:xfrm>
            <a:off x="7459492" y="1938528"/>
            <a:ext cx="1849465" cy="11887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sha256(gpu, mode, kernel, code)</a:t>
            </a:r>
            <a:endParaRPr lang="en-US" sz="1300" dirty="0"/>
          </a:p>
        </p:txBody>
      </p:sp>
      <p:sp>
        <p:nvSpPr>
          <p:cNvPr id="26" name="Text 24"/>
          <p:cNvSpPr txBox="1"/>
          <p:nvPr/>
        </p:nvSpPr>
        <p:spPr>
          <a:xfrm>
            <a:off x="9427830" y="2057400"/>
            <a:ext cx="201168" cy="365760"/>
          </a:xfrm>
          <a:prstGeom prst="rect">
            <a:avLst/>
          </a:prstGeom>
          <a:noFill/>
          <a:ln/>
        </p:spPr>
        <p:txBody>
          <a:bodyPr wrap="square" lIns="0" tIns="0" rIns="0" bIns="0" rtlCol="0" anchor="ctr"/>
          <a:lstStyle/>
          <a:p>
            <a:pPr algn="ctr" indent="0" marL="0">
              <a:buNone/>
            </a:pPr>
            <a:r>
              <a:rPr lang="en-US" sz="1800" b="1" dirty="0">
                <a:solidFill>
                  <a:srgbClr val="9A5712"/>
                </a:solidFill>
                <a:latin typeface="Calibri" pitchFamily="34" charset="0"/>
                <a:ea typeface="Calibri" pitchFamily="34" charset="-122"/>
                <a:cs typeface="Calibri" pitchFamily="34" charset="-120"/>
              </a:rPr>
              <a:t>→</a:t>
            </a:r>
            <a:endParaRPr lang="en-US" sz="1800" dirty="0"/>
          </a:p>
        </p:txBody>
      </p:sp>
      <p:sp>
        <p:nvSpPr>
          <p:cNvPr id="27" name="Shape 25"/>
          <p:cNvSpPr/>
          <p:nvPr/>
        </p:nvSpPr>
        <p:spPr>
          <a:xfrm>
            <a:off x="7322332" y="3337560"/>
            <a:ext cx="2123785" cy="1600200"/>
          </a:xfrm>
          <a:prstGeom prst="roundRect">
            <a:avLst>
              <a:gd name="adj" fmla="val 4571"/>
            </a:avLst>
          </a:prstGeom>
          <a:solidFill>
            <a:srgbClr val="FBEAE8"/>
          </a:solidFill>
          <a:ln w="12700">
            <a:solidFill>
              <a:srgbClr val="FBEAE8"/>
            </a:solidFill>
            <a:prstDash val="solid"/>
          </a:ln>
        </p:spPr>
      </p:sp>
      <p:sp>
        <p:nvSpPr>
          <p:cNvPr id="28" name="Text 26"/>
          <p:cNvSpPr txBox="1"/>
          <p:nvPr/>
        </p:nvSpPr>
        <p:spPr>
          <a:xfrm>
            <a:off x="7459492" y="3429000"/>
            <a:ext cx="1849465" cy="1417320"/>
          </a:xfrm>
          <a:prstGeom prst="rect">
            <a:avLst/>
          </a:prstGeom>
          <a:noFill/>
          <a:ln/>
        </p:spPr>
        <p:txBody>
          <a:bodyPr wrap="square" lIns="0" tIns="0" rIns="0" bIns="0" rtlCol="0" anchor="t"/>
          <a:lstStyle/>
          <a:p>
            <a:pPr indent="0" marL="0">
              <a:buNone/>
            </a:pPr>
            <a:r>
              <a:rPr lang="en-US" sz="1300" b="1" dirty="0">
                <a:solidFill>
                  <a:srgbClr val="B3261E"/>
                </a:solidFill>
                <a:latin typeface="Calibri" pitchFamily="34" charset="0"/>
                <a:ea typeface="Calibri" pitchFamily="34" charset="-122"/>
                <a:cs typeface="Calibri" pitchFamily="34" charset="-120"/>
              </a:rPr>
              <a:t>failure found: </a:t>
            </a:r>
            <a:pPr indent="0" marL="0">
              <a:buNone/>
            </a:pPr>
            <a:r>
              <a:rPr lang="en-US" sz="1300" dirty="0">
                <a:solidFill>
                  <a:srgbClr val="1F1F24"/>
                </a:solidFill>
                <a:latin typeface="Calibri" pitchFamily="34" charset="0"/>
                <a:ea typeface="Calibri" pitchFamily="34" charset="-122"/>
                <a:cs typeface="Calibri" pitchFamily="34" charset="-120"/>
              </a:rPr>
              <a:t>201/271 best-PASS records in low-variance groups were cache replays</a:t>
            </a:r>
            <a:endParaRPr lang="en-US" sz="1300" dirty="0"/>
          </a:p>
        </p:txBody>
      </p:sp>
      <p:sp>
        <p:nvSpPr>
          <p:cNvPr id="29" name="Shape 27"/>
          <p:cNvSpPr/>
          <p:nvPr/>
        </p:nvSpPr>
        <p:spPr>
          <a:xfrm>
            <a:off x="9610710" y="1417320"/>
            <a:ext cx="2123785" cy="1783080"/>
          </a:xfrm>
          <a:prstGeom prst="roundRect">
            <a:avLst>
              <a:gd name="adj" fmla="val 4103"/>
            </a:avLst>
          </a:prstGeom>
          <a:solidFill>
            <a:srgbClr val="2E2A6B"/>
          </a:solidFill>
          <a:ln w="12700">
            <a:solidFill>
              <a:srgbClr val="2E2A6B"/>
            </a:solidFill>
            <a:prstDash val="solid"/>
          </a:ln>
        </p:spPr>
      </p:sp>
      <p:sp>
        <p:nvSpPr>
          <p:cNvPr id="30" name="Text 28"/>
          <p:cNvSpPr txBox="1"/>
          <p:nvPr/>
        </p:nvSpPr>
        <p:spPr>
          <a:xfrm>
            <a:off x="9747870" y="1508760"/>
            <a:ext cx="1849465" cy="411480"/>
          </a:xfrm>
          <a:prstGeom prst="rect">
            <a:avLst/>
          </a:prstGeom>
          <a:noFill/>
          <a:ln/>
        </p:spPr>
        <p:txBody>
          <a:bodyPr wrap="square" lIns="0" tIns="0" rIns="0" bIns="0" rtlCol="0" anchor="ctr"/>
          <a:lstStyle/>
          <a:p>
            <a:pPr indent="0" marL="0">
              <a:buNone/>
            </a:pPr>
            <a:r>
              <a:rPr lang="en-US" sz="1800" b="1" dirty="0">
                <a:solidFill>
                  <a:srgbClr val="E8A33D"/>
                </a:solidFill>
                <a:latin typeface="Cambria" pitchFamily="34" charset="0"/>
                <a:ea typeface="Cambria" pitchFamily="34" charset="-122"/>
                <a:cs typeface="Cambria" pitchFamily="34" charset="-120"/>
              </a:rPr>
              <a:t>Reward</a:t>
            </a:r>
            <a:endParaRPr lang="en-US" sz="1800" dirty="0"/>
          </a:p>
        </p:txBody>
      </p:sp>
      <p:sp>
        <p:nvSpPr>
          <p:cNvPr id="31" name="Text 29"/>
          <p:cNvSpPr txBox="1"/>
          <p:nvPr/>
        </p:nvSpPr>
        <p:spPr>
          <a:xfrm>
            <a:off x="9747870" y="1938528"/>
            <a:ext cx="1849465" cy="11887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log2 speedup if PASS, else 0</a:t>
            </a:r>
            <a:endParaRPr lang="en-US" sz="1300" dirty="0"/>
          </a:p>
        </p:txBody>
      </p:sp>
      <p:sp>
        <p:nvSpPr>
          <p:cNvPr id="32" name="Shape 30"/>
          <p:cNvSpPr/>
          <p:nvPr/>
        </p:nvSpPr>
        <p:spPr>
          <a:xfrm>
            <a:off x="9610710" y="3337560"/>
            <a:ext cx="2123785" cy="1600200"/>
          </a:xfrm>
          <a:prstGeom prst="roundRect">
            <a:avLst>
              <a:gd name="adj" fmla="val 4571"/>
            </a:avLst>
          </a:prstGeom>
          <a:solidFill>
            <a:srgbClr val="FBEAE8"/>
          </a:solidFill>
          <a:ln w="12700">
            <a:solidFill>
              <a:srgbClr val="FBEAE8"/>
            </a:solidFill>
            <a:prstDash val="solid"/>
          </a:ln>
        </p:spPr>
      </p:sp>
      <p:sp>
        <p:nvSpPr>
          <p:cNvPr id="33" name="Text 31"/>
          <p:cNvSpPr txBox="1"/>
          <p:nvPr/>
        </p:nvSpPr>
        <p:spPr>
          <a:xfrm>
            <a:off x="9747870" y="3429000"/>
            <a:ext cx="1849465" cy="1417320"/>
          </a:xfrm>
          <a:prstGeom prst="rect">
            <a:avLst/>
          </a:prstGeom>
          <a:noFill/>
          <a:ln/>
        </p:spPr>
        <p:txBody>
          <a:bodyPr wrap="square" lIns="0" tIns="0" rIns="0" bIns="0" rtlCol="0" anchor="t"/>
          <a:lstStyle/>
          <a:p>
            <a:pPr indent="0" marL="0">
              <a:buNone/>
            </a:pPr>
            <a:r>
              <a:rPr lang="en-US" sz="1300" b="1" dirty="0">
                <a:solidFill>
                  <a:srgbClr val="B3261E"/>
                </a:solidFill>
                <a:latin typeface="Calibri" pitchFamily="34" charset="0"/>
                <a:ea typeface="Calibri" pitchFamily="34" charset="-122"/>
                <a:cs typeface="Calibri" pitchFamily="34" charset="-120"/>
              </a:rPr>
              <a:t>failure found: </a:t>
            </a:r>
            <a:pPr indent="0" marL="0">
              <a:buNone/>
            </a:pPr>
            <a:r>
              <a:rPr lang="en-US" sz="1300" dirty="0">
                <a:solidFill>
                  <a:srgbClr val="1F1F24"/>
                </a:solidFill>
                <a:latin typeface="Calibri" pitchFamily="34" charset="0"/>
                <a:ea typeface="Calibri" pitchFamily="34" charset="-122"/>
                <a:cs typeface="Calibri" pitchFamily="34" charset="-120"/>
              </a:rPr>
              <a:t>a slow PASS scored below a crash (14/22 passing episodes)</a:t>
            </a:r>
            <a:endParaRPr lang="en-US" sz="1300" dirty="0"/>
          </a:p>
        </p:txBody>
      </p:sp>
      <p:sp>
        <p:nvSpPr>
          <p:cNvPr id="34" name="Shape 32"/>
          <p:cNvSpPr/>
          <p:nvPr/>
        </p:nvSpPr>
        <p:spPr>
          <a:xfrm>
            <a:off x="457200" y="5120640"/>
            <a:ext cx="11277295" cy="1051560"/>
          </a:xfrm>
          <a:prstGeom prst="roundRect">
            <a:avLst>
              <a:gd name="adj" fmla="val 6957"/>
            </a:avLst>
          </a:prstGeom>
          <a:solidFill>
            <a:srgbClr val="EDECF5"/>
          </a:solidFill>
          <a:ln w="12700">
            <a:solidFill>
              <a:srgbClr val="EDECF5"/>
            </a:solidFill>
            <a:prstDash val="solid"/>
          </a:ln>
        </p:spPr>
      </p:sp>
      <p:sp>
        <p:nvSpPr>
          <p:cNvPr id="35" name="Text 33"/>
          <p:cNvSpPr txBox="1"/>
          <p:nvPr/>
        </p:nvSpPr>
        <p:spPr>
          <a:xfrm>
            <a:off x="685800" y="5193792"/>
            <a:ext cx="10820095" cy="914400"/>
          </a:xfrm>
          <a:prstGeom prst="rect">
            <a:avLst/>
          </a:prstGeom>
          <a:noFill/>
          <a:ln/>
        </p:spPr>
        <p:txBody>
          <a:bodyPr wrap="square" lIns="0" tIns="0" rIns="0" bIns="0" rtlCol="0" anchor="ctr"/>
          <a:lstStyle/>
          <a:p>
            <a:pPr indent="0" marL="0">
              <a:spcAft>
                <a:spcPts val="400"/>
              </a:spcAft>
              <a:buNone/>
            </a:pPr>
            <a:r>
              <a:rPr lang="en-US" sz="1400" b="1" dirty="0">
                <a:solidFill>
                  <a:srgbClr val="4A4A55"/>
                </a:solidFill>
                <a:latin typeface="Calibri" pitchFamily="34" charset="0"/>
                <a:ea typeface="Calibri" pitchFamily="34" charset="-122"/>
                <a:cs typeface="Calibri" pitchFamily="34" charset="-120"/>
              </a:rPr>
              <a:t>KernelBench bridge (second harness, held-out eval): </a:t>
            </a:r>
            <a:pPr indent="0" marL="0">
              <a:spcAft>
                <a:spcPts val="400"/>
              </a:spcAft>
              <a:buNone/>
            </a:pPr>
            <a:r>
              <a:rPr lang="en-US" sz="1400" dirty="0">
                <a:solidFill>
                  <a:srgbClr val="4A4A55"/>
                </a:solidFill>
                <a:latin typeface="Calibri" pitchFamily="34" charset="0"/>
                <a:ea typeface="Calibri" pitchFamily="34" charset="-122"/>
                <a:cs typeface="Calibri" pitchFamily="34" charset="-120"/>
              </a:rPr>
              <a:t>starter keeps super(Model, self) → every starter crashes; weights never seeded → all 35 conv problems fail even for an identical model; CPU get_inputs() timed inside the 30 s trial → 9 flaky timeouts. Only 55/100 Level 1 problems are harness-valid.</a:t>
            </a:r>
            <a:endParaRPr lang="en-US" sz="1400" dirty="0"/>
          </a:p>
        </p:txBody>
      </p:sp>
      <p:sp>
        <p:nvSpPr>
          <p:cNvPr id="36" name="Text 34"/>
          <p:cNvSpPr txBox="1"/>
          <p:nvPr/>
        </p:nvSpPr>
        <p:spPr>
          <a:xfrm>
            <a:off x="4572000" y="6419088"/>
            <a:ext cx="7162495" cy="256032"/>
          </a:xfrm>
          <a:prstGeom prst="rect">
            <a:avLst/>
          </a:prstGeom>
          <a:noFill/>
          <a:ln/>
        </p:spPr>
        <p:txBody>
          <a:bodyPr wrap="square" lIns="0" tIns="0" rIns="0" bIns="0" rtlCol="0" anchor="ctr"/>
          <a:lstStyle/>
          <a:p>
            <a:pPr algn="r" indent="0" marL="0">
              <a:buNone/>
            </a:pPr>
            <a:r>
              <a:rPr lang="en-US" sz="1000" i="1" dirty="0">
                <a:solidFill>
                  <a:srgbClr val="85848F"/>
                </a:solidFill>
                <a:latin typeface="Calibri" pitchFamily="34" charset="0"/>
                <a:ea typeface="Calibri" pitchFamily="34" charset="-122"/>
                <a:cs typeface="Calibri" pitchFamily="34" charset="-120"/>
              </a:rPr>
              <a:t>modal_app/bench_modal.py · results/autokernel_src/bench.py · CLAUDE.md findings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1B1A3A"/>
                </a:solidFill>
                <a:latin typeface="Cambria" pitchFamily="34" charset="0"/>
                <a:ea typeface="Cambria" pitchFamily="34" charset="-122"/>
                <a:cs typeface="Cambria" pitchFamily="34" charset="-120"/>
              </a:rPr>
              <a:t>RMSNorm, line by line</a:t>
            </a:r>
            <a:endParaRPr lang="en-US" sz="3000" dirty="0"/>
          </a:p>
        </p:txBody>
      </p:sp>
      <p:sp>
        <p:nvSpPr>
          <p:cNvPr id="3" name="Text 1"/>
          <p:cNvSpPr txBox="1"/>
          <p:nvPr/>
        </p:nvSpPr>
        <p:spPr>
          <a:xfrm>
            <a:off x="457200" y="896112"/>
            <a:ext cx="11277295" cy="329184"/>
          </a:xfrm>
          <a:prstGeom prst="rect">
            <a:avLst/>
          </a:prstGeom>
          <a:noFill/>
          <a:ln/>
        </p:spPr>
        <p:txBody>
          <a:bodyPr wrap="square" lIns="0" tIns="0" rIns="0" bIns="0" rtlCol="0" anchor="ctr"/>
          <a:lstStyle/>
          <a:p>
            <a:pPr indent="0" marL="0">
              <a:buNone/>
            </a:pPr>
            <a:r>
              <a:rPr lang="en-US" sz="1600" i="1" dirty="0">
                <a:solidFill>
                  <a:srgbClr val="9A5712"/>
                </a:solidFill>
                <a:latin typeface="Cambria" pitchFamily="34" charset="0"/>
                <a:ea typeface="Cambria" pitchFamily="34" charset="-122"/>
                <a:cs typeface="Cambria" pitchFamily="34" charset="-120"/>
              </a:rPr>
              <a:t>y = x / sqrt(mean(x²) + ε) · w, one program per row</a:t>
            </a:r>
            <a:endParaRPr lang="en-US" sz="1600" dirty="0"/>
          </a:p>
        </p:txBody>
      </p:sp>
      <p:sp>
        <p:nvSpPr>
          <p:cNvPr id="4" name="Text 2"/>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85848F"/>
                </a:solidFill>
                <a:latin typeface="Calibri" pitchFamily="34" charset="0"/>
                <a:ea typeface="Calibri" pitchFamily="34" charset="-122"/>
                <a:cs typeface="Calibri" pitchFamily="34" charset="-120"/>
              </a:rPr>
              <a:t>Modal re-run, Sept 2026 · 4</a:t>
            </a:r>
            <a:endParaRPr lang="en-US" sz="1000" dirty="0"/>
          </a:p>
        </p:txBody>
      </p:sp>
      <p:sp>
        <p:nvSpPr>
          <p:cNvPr id="5" name="Shape 3"/>
          <p:cNvSpPr/>
          <p:nvPr/>
        </p:nvSpPr>
        <p:spPr>
          <a:xfrm>
            <a:off x="457200" y="1371600"/>
            <a:ext cx="6675120" cy="4754880"/>
          </a:xfrm>
          <a:prstGeom prst="roundRect">
            <a:avLst>
              <a:gd name="adj" fmla="val 1538"/>
            </a:avLst>
          </a:prstGeom>
          <a:solidFill>
            <a:srgbClr val="23213F"/>
          </a:solidFill>
          <a:ln w="12700">
            <a:solidFill>
              <a:srgbClr val="23213F"/>
            </a:solidFill>
            <a:prstDash val="solid"/>
          </a:ln>
        </p:spPr>
      </p:sp>
      <p:sp>
        <p:nvSpPr>
          <p:cNvPr id="6" name="Text 4"/>
          <p:cNvSpPr txBox="1"/>
          <p:nvPr/>
        </p:nvSpPr>
        <p:spPr>
          <a:xfrm>
            <a:off x="658368" y="1463040"/>
            <a:ext cx="6272784" cy="310896"/>
          </a:xfrm>
          <a:prstGeom prst="rect">
            <a:avLst/>
          </a:prstGeom>
          <a:noFill/>
          <a:ln/>
        </p:spPr>
        <p:txBody>
          <a:bodyPr wrap="square" lIns="0" tIns="0" rIns="0" bIns="0" rtlCol="0" anchor="ctr"/>
          <a:lstStyle/>
          <a:p>
            <a:pPr indent="0" marL="0">
              <a:buNone/>
            </a:pPr>
            <a:r>
              <a:rPr lang="en-US" sz="1300" dirty="0">
                <a:solidFill>
                  <a:srgbClr val="A9A6C4"/>
                </a:solidFill>
                <a:latin typeface="Calibri" pitchFamily="34" charset="0"/>
                <a:ea typeface="Calibri" pitchFamily="34" charset="-122"/>
                <a:cs typeface="Calibri" pitchFamily="34" charset="-120"/>
              </a:rPr>
              <a:t>model's kernel (verbatim; amber = where precision is decided)</a:t>
            </a:r>
            <a:endParaRPr lang="en-US" sz="1300" dirty="0"/>
          </a:p>
        </p:txBody>
      </p:sp>
      <p:sp>
        <p:nvSpPr>
          <p:cNvPr id="7" name="Text 5"/>
          <p:cNvSpPr txBox="1"/>
          <p:nvPr/>
        </p:nvSpPr>
        <p:spPr>
          <a:xfrm>
            <a:off x="658368" y="1828800"/>
            <a:ext cx="6309360" cy="4206240"/>
          </a:xfrm>
          <a:prstGeom prst="rect">
            <a:avLst/>
          </a:prstGeom>
          <a:noFill/>
          <a:ln/>
        </p:spPr>
        <p:txBody>
          <a:bodyPr wrap="square" lIns="0" tIns="0" rIns="0" bIns="0" rtlCol="0" anchor="t"/>
          <a:lstStyle/>
          <a:p>
            <a:pPr indent="0" marL="0">
              <a:spcAft>
                <a:spcPts val="100"/>
              </a:spcAft>
              <a:buNone/>
            </a:pPr>
            <a:r>
              <a:rPr lang="en-US" sz="1200" dirty="0">
                <a:solidFill>
                  <a:srgbClr val="D8D6EA"/>
                </a:solidFill>
                <a:latin typeface="Courier New" pitchFamily="34" charset="0"/>
                <a:ea typeface="Courier New" pitchFamily="34" charset="-122"/>
                <a:cs typeface="Courier New" pitchFamily="34" charset="-120"/>
              </a:rPr>
              <a:t>row = tl.program_id(0)</a:t>
            </a:r>
            <a:endParaRPr lang="en-US" sz="1200" dirty="0"/>
          </a:p>
          <a:p>
            <a:pPr indent="0" marL="0">
              <a:spcAft>
                <a:spcPts val="100"/>
              </a:spcAft>
              <a:buNone/>
            </a:pPr>
            <a:r>
              <a:rPr lang="en-US" sz="1200" dirty="0">
                <a:solidFill>
                  <a:srgbClr val="D8D6EA"/>
                </a:solidFill>
                <a:latin typeface="Courier New" pitchFamily="34" charset="0"/>
                <a:ea typeface="Courier New" pitchFamily="34" charset="-122"/>
                <a:cs typeface="Courier New" pitchFamily="34" charset="-120"/>
              </a:rPr>
              <a:t>offs = tl.arange(0, BLOCK_SIZE)</a:t>
            </a:r>
            <a:endParaRPr lang="en-US" sz="1200" dirty="0"/>
          </a:p>
          <a:p>
            <a:pPr indent="0" marL="0">
              <a:spcAft>
                <a:spcPts val="100"/>
              </a:spcAft>
              <a:buNone/>
            </a:pPr>
            <a:r>
              <a:rPr lang="en-US" sz="1200" dirty="0">
                <a:solidFill>
                  <a:srgbClr val="D8D6EA"/>
                </a:solidFill>
                <a:latin typeface="Courier New" pitchFamily="34" charset="0"/>
                <a:ea typeface="Courier New" pitchFamily="34" charset="-122"/>
                <a:cs typeface="Courier New" pitchFamily="34" charset="-120"/>
              </a:rPr>
              <a:t>mask = offs &lt; N</a:t>
            </a:r>
            <a:endParaRPr lang="en-US" sz="1200" dirty="0"/>
          </a:p>
          <a:p>
            <a:pPr indent="0" marL="0">
              <a:spcAft>
                <a:spcPts val="100"/>
              </a:spcAft>
              <a:buNone/>
            </a:pPr>
            <a:r>
              <a:rPr lang="en-US" sz="1200" dirty="0">
                <a:solidFill>
                  <a:srgbClr val="D8D6EA"/>
                </a:solidFill>
                <a:latin typeface="Courier New" pitchFamily="34" charset="0"/>
                <a:ea typeface="Courier New" pitchFamily="34" charset="-122"/>
                <a:cs typeface="Courier New" pitchFamily="34" charset="-120"/>
              </a:rPr>
              <a:t>x = tl.load(X_ptr + row*stride_xm + offs*stride_xn,</a:t>
            </a:r>
            <a:endParaRPr lang="en-US" sz="1200" dirty="0"/>
          </a:p>
          <a:p>
            <a:pPr indent="0" marL="0">
              <a:spcAft>
                <a:spcPts val="100"/>
              </a:spcAft>
              <a:buNone/>
            </a:pPr>
            <a:r>
              <a:rPr lang="en-US" sz="1200" b="1" dirty="0">
                <a:solidFill>
                  <a:srgbClr val="E8A33D"/>
                </a:solidFill>
                <a:latin typeface="Courier New" pitchFamily="34" charset="0"/>
                <a:ea typeface="Courier New" pitchFamily="34" charset="-122"/>
                <a:cs typeface="Courier New" pitchFamily="34" charset="-120"/>
              </a:rPr>
              <a:t>            mask=mask, other=0.0).to(tl.float16)</a:t>
            </a:r>
            <a:endParaRPr lang="en-US" sz="1200" dirty="0"/>
          </a:p>
          <a:p>
            <a:pPr indent="0" marL="0">
              <a:spcAft>
                <a:spcPts val="100"/>
              </a:spcAft>
              <a:buNone/>
            </a:pPr>
            <a:r>
              <a:rPr lang="en-US" sz="1200" b="1" dirty="0">
                <a:solidFill>
                  <a:srgbClr val="E8A33D"/>
                </a:solidFill>
                <a:latin typeface="Courier New" pitchFamily="34" charset="0"/>
                <a:ea typeface="Courier New" pitchFamily="34" charset="-122"/>
                <a:cs typeface="Courier New" pitchFamily="34" charset="-120"/>
              </a:rPr>
              <a:t>sq_mean = tl.sum(x * x, axis=0) / N</a:t>
            </a:r>
            <a:endParaRPr lang="en-US" sz="1200" dirty="0"/>
          </a:p>
          <a:p>
            <a:pPr indent="0" marL="0">
              <a:spcAft>
                <a:spcPts val="100"/>
              </a:spcAft>
              <a:buNone/>
            </a:pPr>
            <a:r>
              <a:rPr lang="en-US" sz="1200" dirty="0">
                <a:solidFill>
                  <a:srgbClr val="D8D6EA"/>
                </a:solidFill>
                <a:latin typeface="Courier New" pitchFamily="34" charset="0"/>
                <a:ea typeface="Courier New" pitchFamily="34" charset="-122"/>
                <a:cs typeface="Courier New" pitchFamily="34" charset="-120"/>
              </a:rPr>
              <a:t>rms = tl.sqrt(sq_mean + eps)</a:t>
            </a:r>
            <a:endParaRPr lang="en-US" sz="1200" dirty="0"/>
          </a:p>
          <a:p>
            <a:pPr indent="0" marL="0">
              <a:spcAft>
                <a:spcPts val="100"/>
              </a:spcAft>
              <a:buNone/>
            </a:pPr>
            <a:r>
              <a:rPr lang="en-US" sz="1200" dirty="0">
                <a:solidFill>
                  <a:srgbClr val="D8D6EA"/>
                </a:solidFill>
                <a:latin typeface="Courier New" pitchFamily="34" charset="0"/>
                <a:ea typeface="Courier New" pitchFamily="34" charset="-122"/>
                <a:cs typeface="Courier New" pitchFamily="34" charset="-120"/>
              </a:rPr>
              <a:t>x_norm = x / rms</a:t>
            </a:r>
            <a:endParaRPr lang="en-US" sz="1200" dirty="0"/>
          </a:p>
          <a:p>
            <a:pPr indent="0" marL="0">
              <a:spcAft>
                <a:spcPts val="100"/>
              </a:spcAft>
              <a:buNone/>
            </a:pPr>
            <a:r>
              <a:rPr lang="en-US" sz="1200" b="1" dirty="0">
                <a:solidFill>
                  <a:srgbClr val="E8A33D"/>
                </a:solidFill>
                <a:latin typeface="Courier New" pitchFamily="34" charset="0"/>
                <a:ea typeface="Courier New" pitchFamily="34" charset="-122"/>
                <a:cs typeface="Courier New" pitchFamily="34" charset="-120"/>
              </a:rPr>
              <a:t>w = tl.load(W_ptr + offs, mask=mask, other=0.0).to(tl.float16)</a:t>
            </a:r>
            <a:endParaRPr lang="en-US" sz="1200" dirty="0"/>
          </a:p>
          <a:p>
            <a:pPr indent="0" marL="0">
              <a:spcAft>
                <a:spcPts val="100"/>
              </a:spcAft>
              <a:buNone/>
            </a:pPr>
            <a:r>
              <a:rPr lang="en-US" sz="1200" dirty="0">
                <a:solidFill>
                  <a:srgbClr val="D8D6EA"/>
                </a:solidFill>
                <a:latin typeface="Courier New" pitchFamily="34" charset="0"/>
                <a:ea typeface="Courier New" pitchFamily="34" charset="-122"/>
                <a:cs typeface="Courier New" pitchFamily="34" charset="-120"/>
              </a:rPr>
              <a:t>out = x_norm * w</a:t>
            </a:r>
            <a:endParaRPr lang="en-US" sz="1200" dirty="0"/>
          </a:p>
          <a:p>
            <a:pPr indent="0" marL="0">
              <a:spcAft>
                <a:spcPts val="100"/>
              </a:spcAft>
              <a:buNone/>
            </a:pPr>
            <a:r>
              <a:rPr lang="en-US" sz="1200" dirty="0">
                <a:solidFill>
                  <a:srgbClr val="D8D6EA"/>
                </a:solidFill>
                <a:latin typeface="Courier New" pitchFamily="34" charset="0"/>
                <a:ea typeface="Courier New" pitchFamily="34" charset="-122"/>
                <a:cs typeface="Courier New" pitchFamily="34" charset="-120"/>
              </a:rPr>
              <a:t>tl.store(OUT_ptr + row*stride_om + offs*stride_on, out, mask=mask)</a:t>
            </a:r>
            <a:endParaRPr lang="en-US" sz="1200" dirty="0"/>
          </a:p>
          <a:p>
            <a:pPr indent="0" marL="0">
              <a:spcAft>
                <a:spcPts val="100"/>
              </a:spcAft>
              <a:buNone/>
            </a:pPr>
            <a:r>
              <a:rPr lang="en-US" sz="1200" dirty="0">
                <a:solidFill>
                  <a:srgbClr val="D8D6EA"/>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8C89A8"/>
                </a:solidFill>
                <a:latin typeface="Courier New" pitchFamily="34" charset="0"/>
                <a:ea typeface="Courier New" pitchFamily="34" charset="-122"/>
                <a:cs typeface="Courier New" pitchFamily="34" charset="-120"/>
              </a:rPr>
              <a:t># launch</a:t>
            </a:r>
            <a:endParaRPr lang="en-US" sz="1200" dirty="0"/>
          </a:p>
          <a:p>
            <a:pPr indent="0" marL="0">
              <a:spcAft>
                <a:spcPts val="100"/>
              </a:spcAft>
              <a:buNone/>
            </a:pPr>
            <a:r>
              <a:rPr lang="en-US" sz="1200" dirty="0">
                <a:solidFill>
                  <a:srgbClr val="D8D6EA"/>
                </a:solidFill>
                <a:latin typeface="Courier New" pitchFamily="34" charset="0"/>
                <a:ea typeface="Courier New" pitchFamily="34" charset="-122"/>
                <a:cs typeface="Courier New" pitchFamily="34" charset="-120"/>
              </a:rPr>
              <a:t>BLOCK_SIZE = triton.next_power_of_2(N)</a:t>
            </a:r>
            <a:endParaRPr lang="en-US" sz="1200" dirty="0"/>
          </a:p>
          <a:p>
            <a:pPr indent="0" marL="0">
              <a:spcAft>
                <a:spcPts val="100"/>
              </a:spcAft>
              <a:buNone/>
            </a:pPr>
            <a:r>
              <a:rPr lang="en-US" sz="1200" dirty="0">
                <a:solidFill>
                  <a:srgbClr val="D8D6EA"/>
                </a:solidFill>
                <a:latin typeface="Courier New" pitchFamily="34" charset="0"/>
                <a:ea typeface="Courier New" pitchFamily="34" charset="-122"/>
                <a:cs typeface="Courier New" pitchFamily="34" charset="-120"/>
              </a:rPr>
              <a:t>rmsnorm_kernel[(M,)](x, weight, out, M, N, …, BLOCK_SIZE=BLOCK_SIZE)</a:t>
            </a:r>
            <a:endParaRPr lang="en-US" sz="1200" dirty="0"/>
          </a:p>
        </p:txBody>
      </p:sp>
      <p:sp>
        <p:nvSpPr>
          <p:cNvPr id="8" name="Text 6"/>
          <p:cNvSpPr txBox="1"/>
          <p:nvPr/>
        </p:nvSpPr>
        <p:spPr>
          <a:xfrm>
            <a:off x="7360920" y="1371600"/>
            <a:ext cx="4373575" cy="347472"/>
          </a:xfrm>
          <a:prstGeom prst="rect">
            <a:avLst/>
          </a:prstGeom>
          <a:noFill/>
          <a:ln/>
        </p:spPr>
        <p:txBody>
          <a:bodyPr wrap="square" lIns="0" tIns="0" rIns="0" bIns="0" rtlCol="0" anchor="ctr"/>
          <a:lstStyle/>
          <a:p>
            <a:pPr indent="0" marL="0">
              <a:buNone/>
            </a:pPr>
            <a:r>
              <a:rPr lang="en-US" sz="1700" b="1" dirty="0">
                <a:solidFill>
                  <a:srgbClr val="1F1F24"/>
                </a:solidFill>
                <a:latin typeface="Cambria" pitchFamily="34" charset="0"/>
                <a:ea typeface="Cambria" pitchFamily="34" charset="-122"/>
                <a:cs typeface="Cambria" pitchFamily="34" charset="-120"/>
              </a:rPr>
              <a:t>Mapping</a:t>
            </a:r>
            <a:endParaRPr lang="en-US" sz="1700" dirty="0"/>
          </a:p>
        </p:txBody>
      </p:sp>
      <p:sp>
        <p:nvSpPr>
          <p:cNvPr id="9" name="Text 7"/>
          <p:cNvSpPr txBox="1"/>
          <p:nvPr/>
        </p:nvSpPr>
        <p:spPr>
          <a:xfrm>
            <a:off x="7360920" y="1737360"/>
            <a:ext cx="4373575" cy="28346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1F24"/>
                </a:solidFill>
                <a:latin typeface="Calibri" pitchFamily="34" charset="0"/>
                <a:ea typeface="Calibri" pitchFamily="34" charset="-122"/>
                <a:cs typeface="Calibri" pitchFamily="34" charset="-120"/>
              </a:rPr>
              <a:t>grid = (M,): one program owns a whole row; the reduction is one in-register tl.sum</a:t>
            </a:r>
            <a:endParaRPr lang="en-US" sz="1300" dirty="0"/>
          </a:p>
          <a:p>
            <a:pPr marL="177800" indent="-177800">
              <a:spcAft>
                <a:spcPts val="600"/>
              </a:spcAft>
              <a:buSzPct val="100000"/>
              <a:buChar char="•"/>
            </a:pPr>
            <a:r>
              <a:rPr lang="en-US" sz="1300" dirty="0">
                <a:solidFill>
                  <a:srgbClr val="1F1F24"/>
                </a:solidFill>
                <a:latin typeface="Calibri" pitchFamily="34" charset="0"/>
                <a:ea typeface="Calibri" pitchFamily="34" charset="-122"/>
                <a:cs typeface="Calibri" pitchFamily="34" charset="-120"/>
              </a:rPr>
              <a:t>BLOCK = next_pow2(N): N=4096 → 4096 lanes; N=768 → 1024, 25% masked off</a:t>
            </a:r>
            <a:endParaRPr lang="en-US" sz="1300" dirty="0"/>
          </a:p>
          <a:p>
            <a:pPr marL="177800" indent="-177800">
              <a:spcAft>
                <a:spcPts val="600"/>
              </a:spcAft>
              <a:buSzPct val="100000"/>
              <a:buChar char="•"/>
            </a:pPr>
            <a:r>
              <a:rPr lang="en-US" sz="1300" dirty="0">
                <a:solidFill>
                  <a:srgbClr val="1F1F24"/>
                </a:solidFill>
                <a:latin typeface="Calibri" pitchFamily="34" charset="0"/>
                <a:ea typeface="Calibri" pitchFamily="34" charset="-122"/>
                <a:cs typeface="Calibri" pitchFamily="34" charset="-120"/>
              </a:rPr>
              <a:t>tail: masked lanes load 0.0, so the sum is exact; it divides by N, not BLOCK</a:t>
            </a:r>
            <a:endParaRPr lang="en-US" sz="1300" dirty="0"/>
          </a:p>
          <a:p>
            <a:pPr marL="177800" indent="-177800">
              <a:spcAft>
                <a:spcPts val="600"/>
              </a:spcAft>
              <a:buSzPct val="100000"/>
              <a:buChar char="•"/>
            </a:pPr>
            <a:r>
              <a:rPr lang="en-US" sz="1300" dirty="0">
                <a:solidFill>
                  <a:srgbClr val="1F1F24"/>
                </a:solidFill>
                <a:latin typeface="Calibri" pitchFamily="34" charset="0"/>
                <a:ea typeface="Calibri" pitchFamily="34" charset="-122"/>
                <a:cs typeface="Calibri" pitchFamily="34" charset="-120"/>
              </a:rPr>
              <a:t>compiled (L4, N=4096): 4 warps, 54→48 regs, 0 spills, 8 vector loads either way</a:t>
            </a:r>
            <a:endParaRPr lang="en-US" sz="1300" dirty="0"/>
          </a:p>
          <a:p>
            <a:pPr marL="177800" indent="-177800">
              <a:spcAft>
                <a:spcPts val="600"/>
              </a:spcAft>
              <a:buSzPct val="100000"/>
              <a:buChar char="•"/>
            </a:pPr>
            <a:r>
              <a:rPr lang="en-US" sz="1300" dirty="0">
                <a:solidFill>
                  <a:srgbClr val="1F1F24"/>
                </a:solidFill>
                <a:latin typeface="Calibri" pitchFamily="34" charset="0"/>
                <a:ea typeface="Calibri" pitchFamily="34" charset="-122"/>
                <a:cs typeface="Calibri" pitchFamily="34" charset="-120"/>
              </a:rPr>
              <a:t>PTX: fp32 mul/fma 64→32, f16 ops 96→136: the math moved to fp16, the memory ops did not</a:t>
            </a:r>
            <a:endParaRPr lang="en-US" sz="1300" dirty="0"/>
          </a:p>
        </p:txBody>
      </p:sp>
      <p:sp>
        <p:nvSpPr>
          <p:cNvPr id="10" name="Text 8"/>
          <p:cNvSpPr txBox="1"/>
          <p:nvPr/>
        </p:nvSpPr>
        <p:spPr>
          <a:xfrm>
            <a:off x="7360920" y="4617720"/>
            <a:ext cx="4373575" cy="347472"/>
          </a:xfrm>
          <a:prstGeom prst="rect">
            <a:avLst/>
          </a:prstGeom>
          <a:noFill/>
          <a:ln/>
        </p:spPr>
        <p:txBody>
          <a:bodyPr wrap="square" lIns="0" tIns="0" rIns="0" bIns="0" rtlCol="0" anchor="ctr"/>
          <a:lstStyle/>
          <a:p>
            <a:pPr indent="0" marL="0">
              <a:buNone/>
            </a:pPr>
            <a:r>
              <a:rPr lang="en-US" sz="1700" b="1" dirty="0">
                <a:solidFill>
                  <a:srgbClr val="1F1F24"/>
                </a:solidFill>
                <a:latin typeface="Cambria" pitchFamily="34" charset="0"/>
                <a:ea typeface="Cambria" pitchFamily="34" charset="-122"/>
                <a:cs typeface="Cambria" pitchFamily="34" charset="-120"/>
              </a:rPr>
              <a:t>Contract bench.py checks</a:t>
            </a:r>
            <a:endParaRPr lang="en-US" sz="1700" dirty="0"/>
          </a:p>
        </p:txBody>
      </p:sp>
      <p:sp>
        <p:nvSpPr>
          <p:cNvPr id="11" name="Text 9"/>
          <p:cNvSpPr txBox="1"/>
          <p:nvPr/>
        </p:nvSpPr>
        <p:spPr>
          <a:xfrm>
            <a:off x="7360920" y="4983480"/>
            <a:ext cx="4373575" cy="12344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4A4A55"/>
                </a:solidFill>
                <a:latin typeface="Calibri" pitchFamily="34" charset="0"/>
                <a:ea typeface="Calibri" pitchFamily="34" charset="-122"/>
                <a:cs typeface="Calibri" pitchFamily="34" charset="-120"/>
              </a:rPr>
              <a:t>dtypes float16, bfloat16 only; sizes 1024×768, 4096×1024, 4096×4096, 2048×4096 + 2 edge sizes</a:t>
            </a:r>
            <a:endParaRPr lang="en-US" sz="1300" dirty="0"/>
          </a:p>
          <a:p>
            <a:pPr marL="177800" indent="-177800">
              <a:spcAft>
                <a:spcPts val="600"/>
              </a:spcAft>
              <a:buSzPct val="100000"/>
              <a:buChar char="•"/>
            </a:pPr>
            <a:r>
              <a:rPr lang="en-US" sz="1300" dirty="0">
                <a:solidFill>
                  <a:srgbClr val="4A4A55"/>
                </a:solidFill>
                <a:latin typeface="Calibri" pitchFamily="34" charset="0"/>
                <a:ea typeface="Calibri" pitchFamily="34" charset="-122"/>
                <a:cs typeface="Calibri" pitchFamily="34" charset="-120"/>
              </a:rPr>
              <a:t>tolerance: fp16 atol = rtol = 0.01; bf16 atol 0.1, rtol 0.05</a:t>
            </a:r>
            <a:endParaRPr lang="en-US" sz="1300" dirty="0"/>
          </a:p>
        </p:txBody>
      </p:sp>
      <p:sp>
        <p:nvSpPr>
          <p:cNvPr id="12" name="Text 10"/>
          <p:cNvSpPr txBox="1"/>
          <p:nvPr/>
        </p:nvSpPr>
        <p:spPr>
          <a:xfrm>
            <a:off x="4572000" y="6419088"/>
            <a:ext cx="7162495" cy="256032"/>
          </a:xfrm>
          <a:prstGeom prst="rect">
            <a:avLst/>
          </a:prstGeom>
          <a:noFill/>
          <a:ln/>
        </p:spPr>
        <p:txBody>
          <a:bodyPr wrap="square" lIns="0" tIns="0" rIns="0" bIns="0" rtlCol="0" anchor="ctr"/>
          <a:lstStyle/>
          <a:p>
            <a:pPr algn="r" indent="0" marL="0">
              <a:buNone/>
            </a:pPr>
            <a:r>
              <a:rPr lang="en-US" sz="1000" i="1" dirty="0">
                <a:solidFill>
                  <a:srgbClr val="85848F"/>
                </a:solidFill>
                <a:latin typeface="Calibri" pitchFamily="34" charset="0"/>
                <a:ea typeface="Calibri" pitchFamily="34" charset="-122"/>
                <a:cs typeface="Calibri" pitchFamily="34" charset="-120"/>
              </a:rPr>
              <a:t>presentation/v2/best_kernel.py · bench.py rmsnorm config · remeasure compile_info</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1B1A3A"/>
                </a:solidFill>
                <a:latin typeface="Cambria" pitchFamily="34" charset="0"/>
                <a:ea typeface="Cambria" pitchFamily="34" charset="-122"/>
                <a:cs typeface="Cambria" pitchFamily="34" charset="-120"/>
              </a:rPr>
              <a:t>What the two casts change numerically</a:t>
            </a:r>
            <a:endParaRPr lang="en-US" sz="3000" dirty="0"/>
          </a:p>
        </p:txBody>
      </p:sp>
      <p:sp>
        <p:nvSpPr>
          <p:cNvPr id="3" name="Text 1"/>
          <p:cNvSpPr txBox="1"/>
          <p:nvPr/>
        </p:nvSpPr>
        <p:spPr>
          <a:xfrm>
            <a:off x="457200" y="896112"/>
            <a:ext cx="11277295" cy="329184"/>
          </a:xfrm>
          <a:prstGeom prst="rect">
            <a:avLst/>
          </a:prstGeom>
          <a:noFill/>
          <a:ln/>
        </p:spPr>
        <p:txBody>
          <a:bodyPr wrap="square" lIns="0" tIns="0" rIns="0" bIns="0" rtlCol="0" anchor="ctr"/>
          <a:lstStyle/>
          <a:p>
            <a:pPr indent="0" marL="0">
              <a:buNone/>
            </a:pPr>
            <a:r>
              <a:rPr lang="en-US" sz="1600" i="1" dirty="0">
                <a:solidFill>
                  <a:srgbClr val="9A5712"/>
                </a:solidFill>
                <a:latin typeface="Cambria" pitchFamily="34" charset="0"/>
                <a:ea typeface="Cambria" pitchFamily="34" charset="-122"/>
                <a:cs typeface="Cambria" pitchFamily="34" charset="-120"/>
              </a:rPr>
              <a:t>fp32 accumulation vs fp16: the model's kernel forms x*x and sums it in fp16</a:t>
            </a:r>
            <a:endParaRPr lang="en-US" sz="1600" dirty="0"/>
          </a:p>
        </p:txBody>
      </p:sp>
      <p:sp>
        <p:nvSpPr>
          <p:cNvPr id="4" name="Text 2"/>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85848F"/>
                </a:solidFill>
                <a:latin typeface="Calibri" pitchFamily="34" charset="0"/>
                <a:ea typeface="Calibri" pitchFamily="34" charset="-122"/>
                <a:cs typeface="Calibri" pitchFamily="34" charset="-120"/>
              </a:rPr>
              <a:t>Modal re-run, Sept 2026 · 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6766560" cy="914400"/>
        </p:xfrm>
        <a:graphic>
          <a:graphicData uri="http://schemas.openxmlformats.org/drawingml/2006/table">
            <a:tbl>
              <a:tblPr/>
              <a:tblGrid>
                <a:gridCol w="1600200"/>
                <a:gridCol w="1737360"/>
                <a:gridCol w="1234440"/>
                <a:gridCol w="2194560"/>
              </a:tblGrid>
              <a:tr h="393192">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step (fp16 input)</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PyTorch reference</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starter</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model's kernel</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r>
              <a:tr h="393192">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load x, w</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fp16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fp32</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fp16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393192">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x · x</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b="1" dirty="0">
                          <a:solidFill>
                            <a:srgbClr val="B3261E"/>
                          </a:solidFill>
                          <a:latin typeface="Calibri" pitchFamily="34" charset="0"/>
                          <a:ea typeface="Calibri" pitchFamily="34" charset="-122"/>
                          <a:cs typeface="Calibri" pitchFamily="34" charset="-120"/>
                        </a:rPr>
                        <a:t>fp16 (x ** 2)</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fp32</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b="1" dirty="0">
                          <a:solidFill>
                            <a:srgbClr val="B3261E"/>
                          </a:solidFill>
                          <a:latin typeface="Calibri" pitchFamily="34" charset="0"/>
                          <a:ea typeface="Calibri" pitchFamily="34" charset="-122"/>
                          <a:cs typeface="Calibri" pitchFamily="34" charset="-120"/>
                        </a:rPr>
                        <a:t>fp16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393192">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Σ over N</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mean: fp32 accum.</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fp32</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b="1" dirty="0">
                          <a:solidFill>
                            <a:srgbClr val="B3261E"/>
                          </a:solidFill>
                          <a:latin typeface="Calibri" pitchFamily="34" charset="0"/>
                          <a:ea typeface="Calibri" pitchFamily="34" charset="-122"/>
                          <a:cs typeface="Calibri" pitchFamily="34" charset="-120"/>
                        </a:rPr>
                        <a:t>fp16 (tl.sum: no widening)</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393192">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 rms, · w</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fp16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fp32</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fp16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393192">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store</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fp16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fp32 → fp16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fp16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393192">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bf16 input</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bf16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fp32</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B3261E"/>
                          </a:solidFill>
                          <a:latin typeface="Calibri" pitchFamily="34" charset="0"/>
                          <a:ea typeface="Calibri" pitchFamily="34" charset="-122"/>
                          <a:cs typeface="Calibri" pitchFamily="34" charset="-120"/>
                        </a:rPr>
                        <a:t>bf16 → fp16: range narrows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bl>
          </a:graphicData>
        </a:graphic>
      </p:graphicFrame>
      <p:sp>
        <p:nvSpPr>
          <p:cNvPr id="6" name="Shape 3"/>
          <p:cNvSpPr/>
          <p:nvPr/>
        </p:nvSpPr>
        <p:spPr>
          <a:xfrm>
            <a:off x="457200" y="4251960"/>
            <a:ext cx="2133600" cy="1188720"/>
          </a:xfrm>
          <a:prstGeom prst="roundRect">
            <a:avLst>
              <a:gd name="adj" fmla="val 6154"/>
            </a:avLst>
          </a:prstGeom>
          <a:solidFill>
            <a:srgbClr val="F2F1EC"/>
          </a:solidFill>
          <a:ln w="12700">
            <a:solidFill>
              <a:srgbClr val="F2F1EC"/>
            </a:solidFill>
            <a:prstDash val="solid"/>
          </a:ln>
        </p:spPr>
      </p:sp>
      <p:sp>
        <p:nvSpPr>
          <p:cNvPr id="7" name="Text 4"/>
          <p:cNvSpPr txBox="1"/>
          <p:nvPr/>
        </p:nvSpPr>
        <p:spPr>
          <a:xfrm>
            <a:off x="621792" y="4361688"/>
            <a:ext cx="1804416" cy="548640"/>
          </a:xfrm>
          <a:prstGeom prst="rect">
            <a:avLst/>
          </a:prstGeom>
          <a:noFill/>
          <a:ln/>
        </p:spPr>
        <p:txBody>
          <a:bodyPr wrap="square" lIns="0" tIns="0" rIns="0" bIns="0" rtlCol="0" anchor="ctr"/>
          <a:lstStyle/>
          <a:p>
            <a:pPr indent="0" marL="0">
              <a:buNone/>
            </a:pPr>
            <a:r>
              <a:rPr lang="en-US" sz="2000" b="1" dirty="0">
                <a:solidFill>
                  <a:srgbClr val="2E2A6B"/>
                </a:solidFill>
                <a:latin typeface="Cambria" pitchFamily="34" charset="0"/>
                <a:ea typeface="Cambria" pitchFamily="34" charset="-122"/>
                <a:cs typeface="Cambria" pitchFamily="34" charset="-120"/>
              </a:rPr>
              <a:t>|x| &gt; 255.9</a:t>
            </a:r>
            <a:endParaRPr lang="en-US" sz="2000" dirty="0"/>
          </a:p>
        </p:txBody>
      </p:sp>
      <p:sp>
        <p:nvSpPr>
          <p:cNvPr id="8" name="Text 5"/>
          <p:cNvSpPr txBox="1"/>
          <p:nvPr/>
        </p:nvSpPr>
        <p:spPr>
          <a:xfrm>
            <a:off x="621792" y="4946904"/>
            <a:ext cx="1804416" cy="420624"/>
          </a:xfrm>
          <a:prstGeom prst="rect">
            <a:avLst/>
          </a:prstGeom>
          <a:noFill/>
          <a:ln/>
        </p:spPr>
        <p:txBody>
          <a:bodyPr wrap="square" lIns="0" tIns="0" rIns="0" bIns="0" rtlCol="0" anchor="t"/>
          <a:lstStyle/>
          <a:p>
            <a:pPr indent="0" marL="0">
              <a:buNone/>
            </a:pPr>
            <a:r>
              <a:rPr lang="en-US" sz="1300" dirty="0">
                <a:solidFill>
                  <a:srgbClr val="4A4A55"/>
                </a:solidFill>
                <a:latin typeface="Calibri" pitchFamily="34" charset="0"/>
                <a:ea typeface="Calibri" pitchFamily="34" charset="-122"/>
                <a:cs typeface="Calibri" pitchFamily="34" charset="-120"/>
              </a:rPr>
              <a:t>x·x overflows fp16 (max 65504)</a:t>
            </a:r>
            <a:endParaRPr lang="en-US" sz="1300" dirty="0"/>
          </a:p>
        </p:txBody>
      </p:sp>
      <p:sp>
        <p:nvSpPr>
          <p:cNvPr id="9" name="Shape 6"/>
          <p:cNvSpPr/>
          <p:nvPr/>
        </p:nvSpPr>
        <p:spPr>
          <a:xfrm>
            <a:off x="2773680" y="4251960"/>
            <a:ext cx="2133600" cy="1188720"/>
          </a:xfrm>
          <a:prstGeom prst="roundRect">
            <a:avLst>
              <a:gd name="adj" fmla="val 6154"/>
            </a:avLst>
          </a:prstGeom>
          <a:solidFill>
            <a:srgbClr val="F2F1EC"/>
          </a:solidFill>
          <a:ln w="12700">
            <a:solidFill>
              <a:srgbClr val="F2F1EC"/>
            </a:solidFill>
            <a:prstDash val="solid"/>
          </a:ln>
        </p:spPr>
      </p:sp>
      <p:sp>
        <p:nvSpPr>
          <p:cNvPr id="10" name="Text 7"/>
          <p:cNvSpPr txBox="1"/>
          <p:nvPr/>
        </p:nvSpPr>
        <p:spPr>
          <a:xfrm>
            <a:off x="2938272" y="4361688"/>
            <a:ext cx="1804416" cy="548640"/>
          </a:xfrm>
          <a:prstGeom prst="rect">
            <a:avLst/>
          </a:prstGeom>
          <a:noFill/>
          <a:ln/>
        </p:spPr>
        <p:txBody>
          <a:bodyPr wrap="square" lIns="0" tIns="0" rIns="0" bIns="0" rtlCol="0" anchor="ctr"/>
          <a:lstStyle/>
          <a:p>
            <a:pPr indent="0" marL="0">
              <a:buNone/>
            </a:pPr>
            <a:r>
              <a:rPr lang="en-US" sz="2000" b="1" dirty="0">
                <a:solidFill>
                  <a:srgbClr val="2E2A6B"/>
                </a:solidFill>
                <a:latin typeface="Cambria" pitchFamily="34" charset="0"/>
                <a:ea typeface="Cambria" pitchFamily="34" charset="-122"/>
                <a:cs typeface="Cambria" pitchFamily="34" charset="-120"/>
              </a:rPr>
              <a:t>RMS &gt; 4.0</a:t>
            </a:r>
            <a:endParaRPr lang="en-US" sz="2000" dirty="0"/>
          </a:p>
        </p:txBody>
      </p:sp>
      <p:sp>
        <p:nvSpPr>
          <p:cNvPr id="11" name="Text 8"/>
          <p:cNvSpPr txBox="1"/>
          <p:nvPr/>
        </p:nvSpPr>
        <p:spPr>
          <a:xfrm>
            <a:off x="2938272" y="4946904"/>
            <a:ext cx="1804416" cy="420624"/>
          </a:xfrm>
          <a:prstGeom prst="rect">
            <a:avLst/>
          </a:prstGeom>
          <a:noFill/>
          <a:ln/>
        </p:spPr>
        <p:txBody>
          <a:bodyPr wrap="square" lIns="0" tIns="0" rIns="0" bIns="0" rtlCol="0" anchor="t"/>
          <a:lstStyle/>
          <a:p>
            <a:pPr indent="0" marL="0">
              <a:buNone/>
            </a:pPr>
            <a:r>
              <a:rPr lang="en-US" sz="1300" dirty="0">
                <a:solidFill>
                  <a:srgbClr val="4A4A55"/>
                </a:solidFill>
                <a:latin typeface="Calibri" pitchFamily="34" charset="0"/>
                <a:ea typeface="Calibri" pitchFamily="34" charset="-122"/>
                <a:cs typeface="Calibri" pitchFamily="34" charset="-120"/>
              </a:rPr>
              <a:t>fp16 Σx² overflows at N=4096</a:t>
            </a:r>
            <a:endParaRPr lang="en-US" sz="1300" dirty="0"/>
          </a:p>
        </p:txBody>
      </p:sp>
      <p:sp>
        <p:nvSpPr>
          <p:cNvPr id="12" name="Shape 9"/>
          <p:cNvSpPr/>
          <p:nvPr/>
        </p:nvSpPr>
        <p:spPr>
          <a:xfrm>
            <a:off x="5090160" y="4251960"/>
            <a:ext cx="2133600" cy="1188720"/>
          </a:xfrm>
          <a:prstGeom prst="roundRect">
            <a:avLst>
              <a:gd name="adj" fmla="val 6154"/>
            </a:avLst>
          </a:prstGeom>
          <a:solidFill>
            <a:srgbClr val="F2F1EC"/>
          </a:solidFill>
          <a:ln w="12700">
            <a:solidFill>
              <a:srgbClr val="F2F1EC"/>
            </a:solidFill>
            <a:prstDash val="solid"/>
          </a:ln>
        </p:spPr>
      </p:sp>
      <p:sp>
        <p:nvSpPr>
          <p:cNvPr id="13" name="Text 10"/>
          <p:cNvSpPr txBox="1"/>
          <p:nvPr/>
        </p:nvSpPr>
        <p:spPr>
          <a:xfrm>
            <a:off x="5254752" y="4361688"/>
            <a:ext cx="1804416" cy="548640"/>
          </a:xfrm>
          <a:prstGeom prst="rect">
            <a:avLst/>
          </a:prstGeom>
          <a:noFill/>
          <a:ln/>
        </p:spPr>
        <p:txBody>
          <a:bodyPr wrap="square" lIns="0" tIns="0" rIns="0" bIns="0" rtlCol="0" anchor="ctr"/>
          <a:lstStyle/>
          <a:p>
            <a:pPr indent="0" marL="0">
              <a:buNone/>
            </a:pPr>
            <a:r>
              <a:rPr lang="en-US" sz="2000" b="1" dirty="0">
                <a:solidFill>
                  <a:srgbClr val="2E2A6B"/>
                </a:solidFill>
                <a:latin typeface="Cambria" pitchFamily="34" charset="0"/>
                <a:ea typeface="Cambria" pitchFamily="34" charset="-122"/>
                <a:cs typeface="Cambria" pitchFamily="34" charset="-120"/>
              </a:rPr>
              <a:t>RMS &gt; 9.2</a:t>
            </a:r>
            <a:endParaRPr lang="en-US" sz="2000" dirty="0"/>
          </a:p>
        </p:txBody>
      </p:sp>
      <p:sp>
        <p:nvSpPr>
          <p:cNvPr id="14" name="Text 11"/>
          <p:cNvSpPr txBox="1"/>
          <p:nvPr/>
        </p:nvSpPr>
        <p:spPr>
          <a:xfrm>
            <a:off x="5254752" y="4946904"/>
            <a:ext cx="1804416" cy="420624"/>
          </a:xfrm>
          <a:prstGeom prst="rect">
            <a:avLst/>
          </a:prstGeom>
          <a:noFill/>
          <a:ln/>
        </p:spPr>
        <p:txBody>
          <a:bodyPr wrap="square" lIns="0" tIns="0" rIns="0" bIns="0" rtlCol="0" anchor="t"/>
          <a:lstStyle/>
          <a:p>
            <a:pPr indent="0" marL="0">
              <a:buNone/>
            </a:pPr>
            <a:r>
              <a:rPr lang="en-US" sz="1300" dirty="0">
                <a:solidFill>
                  <a:srgbClr val="4A4A55"/>
                </a:solidFill>
                <a:latin typeface="Calibri" pitchFamily="34" charset="0"/>
                <a:ea typeface="Calibri" pitchFamily="34" charset="-122"/>
                <a:cs typeface="Calibri" pitchFamily="34" charset="-120"/>
              </a:rPr>
              <a:t>…at N=768 (stability size)</a:t>
            </a:r>
            <a:endParaRPr lang="en-US" sz="1300" dirty="0"/>
          </a:p>
        </p:txBody>
      </p:sp>
      <p:sp>
        <p:nvSpPr>
          <p:cNvPr id="15" name="Text 12"/>
          <p:cNvSpPr txBox="1"/>
          <p:nvPr/>
        </p:nvSpPr>
        <p:spPr>
          <a:xfrm>
            <a:off x="457200" y="5559552"/>
            <a:ext cx="6766560" cy="640080"/>
          </a:xfrm>
          <a:prstGeom prst="rect">
            <a:avLst/>
          </a:prstGeom>
          <a:noFill/>
          <a:ln/>
        </p:spPr>
        <p:txBody>
          <a:bodyPr wrap="square" lIns="0" tIns="0" rIns="0" bIns="0" rtlCol="0" anchor="t"/>
          <a:lstStyle/>
          <a:p>
            <a:pPr indent="0" marL="0">
              <a:spcAft>
                <a:spcPts val="400"/>
              </a:spcAft>
              <a:buNone/>
            </a:pPr>
            <a:r>
              <a:rPr lang="en-US" sz="1300" dirty="0">
                <a:solidFill>
                  <a:srgbClr val="4A4A55"/>
                </a:solidFill>
                <a:latin typeface="Calibri" pitchFamily="34" charset="0"/>
                <a:ea typeface="Calibri" pitchFamily="34" charset="-122"/>
                <a:cs typeface="Calibri" pitchFamily="34" charset="-120"/>
              </a:rPr>
              <a:t>randn rows have RMS ≈ 1, so the sweep passes; activations with outlier channels need not. Worst sweep error is 1.25e-01 for both kernels (bf16).</a:t>
            </a:r>
            <a:endParaRPr lang="en-US" sz="1300" dirty="0"/>
          </a:p>
        </p:txBody>
      </p:sp>
      <p:sp>
        <p:nvSpPr>
          <p:cNvPr id="16" name="Text 13"/>
          <p:cNvSpPr txBox="1"/>
          <p:nvPr/>
        </p:nvSpPr>
        <p:spPr>
          <a:xfrm>
            <a:off x="7498080" y="1371600"/>
            <a:ext cx="4236415" cy="347472"/>
          </a:xfrm>
          <a:prstGeom prst="rect">
            <a:avLst/>
          </a:prstGeom>
          <a:noFill/>
          <a:ln/>
        </p:spPr>
        <p:txBody>
          <a:bodyPr wrap="square" lIns="0" tIns="0" rIns="0" bIns="0" rtlCol="0" anchor="ctr"/>
          <a:lstStyle/>
          <a:p>
            <a:pPr indent="0" marL="0">
              <a:buNone/>
            </a:pPr>
            <a:r>
              <a:rPr lang="en-US" sz="1700" b="1" dirty="0">
                <a:solidFill>
                  <a:srgbClr val="1F1F24"/>
                </a:solidFill>
                <a:latin typeface="Cambria" pitchFamily="34" charset="0"/>
                <a:ea typeface="Cambria" pitchFamily="34" charset="-122"/>
                <a:cs typeface="Cambria" pitchFamily="34" charset="-120"/>
              </a:rPr>
              <a:t>Why the stability stage flips</a:t>
            </a:r>
            <a:endParaRPr lang="en-US" sz="1700" dirty="0"/>
          </a:p>
        </p:txBody>
      </p:sp>
      <p:sp>
        <p:nvSpPr>
          <p:cNvPr id="17" name="Text 14"/>
          <p:cNvSpPr txBox="1"/>
          <p:nvPr/>
        </p:nvSpPr>
        <p:spPr>
          <a:xfrm>
            <a:off x="7498080" y="1755648"/>
            <a:ext cx="4236415" cy="27432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F1F24"/>
                </a:solidFill>
                <a:latin typeface="Calibri" pitchFamily="34" charset="0"/>
                <a:ea typeface="Calibri" pitchFamily="34" charset="-122"/>
                <a:cs typeface="Calibri" pitchFamily="34" charset="-120"/>
              </a:rPr>
              <a:t>mixed_scale: every float input × 1000 or × 0.001, small size, first dtype (float16)</a:t>
            </a:r>
            <a:endParaRPr lang="en-US" sz="1400" dirty="0"/>
          </a:p>
          <a:p>
            <a:pPr marL="177800" indent="-177800">
              <a:spcAft>
                <a:spcPts val="600"/>
              </a:spcAft>
              <a:buSzPct val="100000"/>
              <a:buChar char="•"/>
            </a:pPr>
            <a:r>
              <a:rPr lang="en-US" sz="1400" dirty="0">
                <a:solidFill>
                  <a:srgbClr val="1F1F24"/>
                </a:solidFill>
                <a:latin typeface="Calibri" pitchFamily="34" charset="0"/>
                <a:ea typeface="Calibri" pitchFamily="34" charset="-122"/>
                <a:cs typeface="Calibri" pitchFamily="34" charset="-120"/>
              </a:rPr>
              <a:t>reference: x**2 → inf → rms = inf → output 0 (finite, so "clean")</a:t>
            </a:r>
            <a:endParaRPr lang="en-US" sz="1400" dirty="0"/>
          </a:p>
          <a:p>
            <a:pPr marL="177800" indent="-177800">
              <a:spcAft>
                <a:spcPts val="600"/>
              </a:spcAft>
              <a:buSzPct val="100000"/>
              <a:buChar char="•"/>
            </a:pPr>
            <a:r>
              <a:rPr lang="en-US" sz="1400" dirty="0">
                <a:solidFill>
                  <a:srgbClr val="1F1F24"/>
                </a:solidFill>
                <a:latin typeface="Calibri" pitchFamily="34" charset="0"/>
                <a:ea typeface="Calibri" pitchFamily="34" charset="-122"/>
                <a:cs typeface="Calibri" pitchFamily="34" charset="-120"/>
              </a:rPr>
              <a:t>starter (fp32): correct values ≫ 0 → exceeds 10× tol → FAIL</a:t>
            </a:r>
            <a:endParaRPr lang="en-US" sz="1400" dirty="0"/>
          </a:p>
          <a:p>
            <a:pPr marL="177800" indent="-177800">
              <a:spcAft>
                <a:spcPts val="600"/>
              </a:spcAft>
              <a:buSzPct val="100000"/>
              <a:buChar char="•"/>
            </a:pPr>
            <a:r>
              <a:rPr lang="en-US" sz="1400" dirty="0">
                <a:solidFill>
                  <a:srgbClr val="1F1F24"/>
                </a:solidFill>
                <a:latin typeface="Calibri" pitchFamily="34" charset="0"/>
                <a:ea typeface="Calibri" pitchFamily="34" charset="-122"/>
                <a:cs typeface="Calibri" pitchFamily="34" charset="-120"/>
              </a:rPr>
              <a:t>model (fp16): overflows the same way → 0 = 0 → PASS</a:t>
            </a:r>
            <a:endParaRPr lang="en-US" sz="1400" dirty="0"/>
          </a:p>
          <a:p>
            <a:pPr marL="177800" indent="-177800">
              <a:spcAft>
                <a:spcPts val="600"/>
              </a:spcAft>
              <a:buSzPct val="100000"/>
              <a:buChar char="•"/>
            </a:pPr>
            <a:r>
              <a:rPr lang="en-US" sz="1400" dirty="0">
                <a:solidFill>
                  <a:srgbClr val="1F1F24"/>
                </a:solidFill>
                <a:latin typeface="Calibri" pitchFamily="34" charset="0"/>
                <a:ea typeface="Calibri" pitchFamily="34" charset="-122"/>
                <a:cs typeface="Calibri" pitchFamily="34" charset="-120"/>
              </a:rPr>
              <a:t>near_max (× 60000): both inf → accepted by the both-NaN/Inf rule</a:t>
            </a:r>
            <a:endParaRPr lang="en-US" sz="1400" dirty="0"/>
          </a:p>
        </p:txBody>
      </p:sp>
      <p:sp>
        <p:nvSpPr>
          <p:cNvPr id="18" name="Shape 15"/>
          <p:cNvSpPr/>
          <p:nvPr/>
        </p:nvSpPr>
        <p:spPr>
          <a:xfrm>
            <a:off x="7498080" y="4572000"/>
            <a:ext cx="4236415" cy="1554480"/>
          </a:xfrm>
          <a:prstGeom prst="roundRect">
            <a:avLst>
              <a:gd name="adj" fmla="val 4706"/>
            </a:avLst>
          </a:prstGeom>
          <a:solidFill>
            <a:srgbClr val="EDECF5"/>
          </a:solidFill>
          <a:ln w="12700">
            <a:solidFill>
              <a:srgbClr val="EDECF5"/>
            </a:solidFill>
            <a:prstDash val="solid"/>
          </a:ln>
        </p:spPr>
      </p:sp>
      <p:sp>
        <p:nvSpPr>
          <p:cNvPr id="19" name="Text 16"/>
          <p:cNvSpPr txBox="1"/>
          <p:nvPr/>
        </p:nvSpPr>
        <p:spPr>
          <a:xfrm>
            <a:off x="7680960" y="4663440"/>
            <a:ext cx="3870655" cy="1371600"/>
          </a:xfrm>
          <a:prstGeom prst="rect">
            <a:avLst/>
          </a:prstGeom>
          <a:noFill/>
          <a:ln/>
        </p:spPr>
        <p:txBody>
          <a:bodyPr wrap="square" lIns="0" tIns="0" rIns="0" bIns="0" rtlCol="0" anchor="ctr"/>
          <a:lstStyle/>
          <a:p>
            <a:pPr indent="0" marL="0">
              <a:spcAft>
                <a:spcPts val="400"/>
              </a:spcAft>
              <a:buNone/>
            </a:pPr>
            <a:r>
              <a:rPr lang="en-US" sz="1400" b="1" dirty="0">
                <a:solidFill>
                  <a:srgbClr val="4A4A55"/>
                </a:solidFill>
                <a:latin typeface="Calibri" pitchFamily="34" charset="0"/>
                <a:ea typeface="Calibri" pitchFamily="34" charset="-122"/>
                <a:cs typeface="Calibri" pitchFamily="34" charset="-120"/>
              </a:rPr>
              <a:t>Prediction to test: </a:t>
            </a:r>
            <a:pPr indent="0" marL="0">
              <a:spcAft>
                <a:spcPts val="400"/>
              </a:spcAft>
              <a:buNone/>
            </a:pPr>
            <a:r>
              <a:rPr lang="en-US" sz="1400" dirty="0">
                <a:solidFill>
                  <a:srgbClr val="4A4A55"/>
                </a:solidFill>
                <a:latin typeface="Calibri" pitchFamily="34" charset="0"/>
                <a:ea typeface="Calibri" pitchFamily="34" charset="-122"/>
                <a:cs typeface="Calibri" pitchFamily="34" charset="-120"/>
              </a:rPr>
              <a:t>the remeasure replays stage 3 and checks every kernel against an fp64 truth: next slide.</a:t>
            </a:r>
            <a:endParaRPr lang="en-US" sz="1400" dirty="0"/>
          </a:p>
        </p:txBody>
      </p:sp>
      <p:sp>
        <p:nvSpPr>
          <p:cNvPr id="20" name="Text 17"/>
          <p:cNvSpPr txBox="1"/>
          <p:nvPr/>
        </p:nvSpPr>
        <p:spPr>
          <a:xfrm>
            <a:off x="4572000" y="6419088"/>
            <a:ext cx="7162495" cy="256032"/>
          </a:xfrm>
          <a:prstGeom prst="rect">
            <a:avLst/>
          </a:prstGeom>
          <a:noFill/>
          <a:ln/>
        </p:spPr>
        <p:txBody>
          <a:bodyPr wrap="square" lIns="0" tIns="0" rIns="0" bIns="0" rtlCol="0" anchor="ctr"/>
          <a:lstStyle/>
          <a:p>
            <a:pPr algn="r" indent="0" marL="0">
              <a:buNone/>
            </a:pPr>
            <a:r>
              <a:rPr lang="en-US" sz="1000" i="1" dirty="0">
                <a:solidFill>
                  <a:srgbClr val="85848F"/>
                </a:solidFill>
                <a:latin typeface="Calibri" pitchFamily="34" charset="0"/>
                <a:ea typeface="Calibri" pitchFamily="34" charset="-122"/>
                <a:cs typeface="Calibri" pitchFamily="34" charset="-120"/>
              </a:rPr>
              <a:t>bench.py stage 3 · reference.rmsnorm_ref · Triton 3.2.0 tl.sum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1B1A3A"/>
                </a:solidFill>
                <a:latin typeface="Cambria" pitchFamily="34" charset="0"/>
                <a:ea typeface="Cambria" pitchFamily="34" charset="-122"/>
                <a:cs typeface="Cambria" pitchFamily="34" charset="-120"/>
              </a:rPr>
              <a:t>Measured vs fp64 truth: the oracle is the bug</a:t>
            </a:r>
            <a:endParaRPr lang="en-US" sz="3000" dirty="0"/>
          </a:p>
        </p:txBody>
      </p:sp>
      <p:sp>
        <p:nvSpPr>
          <p:cNvPr id="3" name="Text 1"/>
          <p:cNvSpPr txBox="1"/>
          <p:nvPr/>
        </p:nvSpPr>
        <p:spPr>
          <a:xfrm>
            <a:off x="457200" y="896112"/>
            <a:ext cx="11277295" cy="329184"/>
          </a:xfrm>
          <a:prstGeom prst="rect">
            <a:avLst/>
          </a:prstGeom>
          <a:noFill/>
          <a:ln/>
        </p:spPr>
        <p:txBody>
          <a:bodyPr wrap="square" lIns="0" tIns="0" rIns="0" bIns="0" rtlCol="0" anchor="ctr"/>
          <a:lstStyle/>
          <a:p>
            <a:pPr indent="0" marL="0">
              <a:buNone/>
            </a:pPr>
            <a:r>
              <a:rPr lang="en-US" sz="1600" i="1" dirty="0">
                <a:solidFill>
                  <a:srgbClr val="9A5712"/>
                </a:solidFill>
                <a:latin typeface="Cambria" pitchFamily="34" charset="0"/>
                <a:ea typeface="Cambria" pitchFamily="34" charset="-122"/>
                <a:cs typeface="Cambria" pitchFamily="34" charset="-120"/>
              </a:rPr>
              <a:t>the stability stage rejects every correct kernel and accepts the overflowing one</a:t>
            </a:r>
            <a:endParaRPr lang="en-US" sz="1600" dirty="0"/>
          </a:p>
        </p:txBody>
      </p:sp>
      <p:sp>
        <p:nvSpPr>
          <p:cNvPr id="4" name="Text 2"/>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85848F"/>
                </a:solidFill>
                <a:latin typeface="Calibri" pitchFamily="34" charset="0"/>
                <a:ea typeface="Calibri" pitchFamily="34" charset="-122"/>
                <a:cs typeface="Calibri" pitchFamily="34" charset="-120"/>
              </a:rPr>
              <a:t>Modal re-run, Sept 2026 · 6</a:t>
            </a:r>
            <a:endParaRPr lang="en-US" sz="1000" dirty="0"/>
          </a:p>
        </p:txBody>
      </p:sp>
      <p:sp>
        <p:nvSpPr>
          <p:cNvPr id="5" name="Text 3"/>
          <p:cNvSpPr txBox="1"/>
          <p:nvPr/>
        </p:nvSpPr>
        <p:spPr>
          <a:xfrm>
            <a:off x="457200" y="1371600"/>
            <a:ext cx="6400800" cy="347472"/>
          </a:xfrm>
          <a:prstGeom prst="rect">
            <a:avLst/>
          </a:prstGeom>
          <a:noFill/>
          <a:ln/>
        </p:spPr>
        <p:txBody>
          <a:bodyPr wrap="square" lIns="0" tIns="0" rIns="0" bIns="0" rtlCol="0" anchor="ctr"/>
          <a:lstStyle/>
          <a:p>
            <a:pPr indent="0" marL="0">
              <a:buNone/>
            </a:pPr>
            <a:r>
              <a:rPr lang="en-US" sz="1600" b="1" dirty="0">
                <a:solidFill>
                  <a:srgbClr val="1F1F24"/>
                </a:solidFill>
                <a:latin typeface="Cambria" pitchFamily="34" charset="0"/>
                <a:ea typeface="Cambria" pitchFamily="34" charset="-122"/>
                <a:cs typeface="Cambria" pitchFamily="34" charset="-120"/>
              </a:rPr>
              <a:t>Stage 3 replayed: mixed_scale, float16, 1024×768 (L4)</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6400800" cy="914400"/>
        </p:xfrm>
        <a:graphic>
          <a:graphicData uri="http://schemas.openxmlformats.org/drawingml/2006/table">
            <a:tbl>
              <a:tblPr/>
              <a:tblGrid>
                <a:gridCol w="2194560"/>
                <a:gridCol w="1463040"/>
                <a:gridCol w="1188720"/>
                <a:gridCol w="1554480"/>
              </a:tblGrid>
              <a:tr h="402336">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kernel</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harness verdict</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zero rows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max |err| vs fp64</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r>
              <a:tr h="402336">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starter (fp32)</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b="1" dirty="0">
                          <a:solidFill>
                            <a:srgbClr val="B3261E"/>
                          </a:solidFill>
                          <a:latin typeface="Calibri" pitchFamily="34" charset="0"/>
                          <a:ea typeface="Calibri" pitchFamily="34" charset="-122"/>
                          <a:cs typeface="Calibri" pitchFamily="34" charset="-120"/>
                        </a:rPr>
                        <a:t>FAIL</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0/1024</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3.96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402336">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model's kernel (fp16)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b="1" dirty="0">
                          <a:solidFill>
                            <a:srgbClr val="1E7B34"/>
                          </a:solidFill>
                          <a:latin typeface="Calibri" pitchFamily="34" charset="0"/>
                          <a:ea typeface="Calibri" pitchFamily="34" charset="-122"/>
                          <a:cs typeface="Calibri" pitchFamily="34" charset="-120"/>
                        </a:rPr>
                        <a:t>PASS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1024/1024</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14767</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402336">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hand-written fp32-acc</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b="1" dirty="0">
                          <a:solidFill>
                            <a:srgbClr val="B3261E"/>
                          </a:solidFill>
                          <a:latin typeface="Calibri" pitchFamily="34" charset="0"/>
                          <a:ea typeface="Calibri" pitchFamily="34" charset="-122"/>
                          <a:cs typeface="Calibri" pitchFamily="34" charset="-120"/>
                        </a:rPr>
                        <a:t>FAIL</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0/1024</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3.96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402336">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torch.compile</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b="1" dirty="0">
                          <a:solidFill>
                            <a:srgbClr val="B3261E"/>
                          </a:solidFill>
                          <a:latin typeface="Calibri" pitchFamily="34" charset="0"/>
                          <a:ea typeface="Calibri" pitchFamily="34" charset="-122"/>
                          <a:cs typeface="Calibri" pitchFamily="34" charset="-120"/>
                        </a:rPr>
                        <a:t>FAIL</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0/1024</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3.96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402336">
                <a:tc>
                  <a:txBody>
                    <a:bodyPr/>
                    <a:lstStyle/>
                    <a:p>
                      <a:pPr algn="l" indent="0" marL="0">
                        <a:buNone/>
                      </a:pPr>
                      <a:r>
                        <a:rPr lang="en-US" sz="1300" b="1" dirty="0">
                          <a:solidFill>
                            <a:srgbClr val="B3261E"/>
                          </a:solidFill>
                          <a:latin typeface="Calibri" pitchFamily="34" charset="0"/>
                          <a:ea typeface="Calibri" pitchFamily="34" charset="-122"/>
                          <a:cs typeface="Calibri" pitchFamily="34" charset="-120"/>
                        </a:rPr>
                        <a:t>harness reference</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1024/1024</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b="1" dirty="0">
                          <a:solidFill>
                            <a:srgbClr val="B3261E"/>
                          </a:solidFill>
                          <a:latin typeface="Calibri" pitchFamily="34" charset="0"/>
                          <a:ea typeface="Calibri" pitchFamily="34" charset="-122"/>
                          <a:cs typeface="Calibri" pitchFamily="34" charset="-120"/>
                        </a:rPr>
                        <a:t>14767</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bl>
          </a:graphicData>
        </a:graphic>
      </p:graphicFrame>
      <p:sp>
        <p:nvSpPr>
          <p:cNvPr id="7" name="Text 4"/>
          <p:cNvSpPr txBox="1"/>
          <p:nvPr/>
        </p:nvSpPr>
        <p:spPr>
          <a:xfrm>
            <a:off x="457200" y="4315968"/>
            <a:ext cx="6400800" cy="20116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4A4A55"/>
                </a:solidFill>
                <a:latin typeface="Calibri" pitchFamily="34" charset="0"/>
                <a:ea typeface="Calibri" pitchFamily="34" charset="-122"/>
                <a:cs typeface="Calibri" pitchFamily="34" charset="-120"/>
              </a:rPr>
              <a:t>the reference zeroes all 1024 rows; the model's kernel matches it exactly, so it PASSes with the reference's error</a:t>
            </a:r>
            <a:endParaRPr lang="en-US" sz="1200" dirty="0"/>
          </a:p>
          <a:p>
            <a:pPr marL="177800" indent="-177800">
              <a:spcAft>
                <a:spcPts val="600"/>
              </a:spcAft>
              <a:buSzPct val="100000"/>
              <a:buChar char="•"/>
            </a:pPr>
            <a:r>
              <a:rPr lang="en-US" sz="1200" dirty="0">
                <a:solidFill>
                  <a:srgbClr val="4A4A55"/>
                </a:solidFill>
                <a:latin typeface="Calibri" pitchFamily="34" charset="0"/>
                <a:ea typeface="Calibri" pitchFamily="34" charset="-122"/>
                <a:cs typeface="Calibri" pitchFamily="34" charset="-120"/>
              </a:rPr>
              <a:t>near_max: every kernel PASSes via "both NaN/Inf" (365,191 non-finite reference outputs, never compared)</a:t>
            </a:r>
            <a:endParaRPr lang="en-US" sz="1200" dirty="0"/>
          </a:p>
          <a:p>
            <a:pPr marL="177800" indent="-177800">
              <a:spcAft>
                <a:spcPts val="600"/>
              </a:spcAft>
              <a:buSzPct val="100000"/>
              <a:buChar char="•"/>
            </a:pPr>
            <a:r>
              <a:rPr lang="en-US" sz="1200" dirty="0">
                <a:solidFill>
                  <a:srgbClr val="4A4A55"/>
                </a:solidFill>
                <a:latin typeface="Calibri" pitchFamily="34" charset="0"/>
                <a:ea typeface="Calibri" pitchFamily="34" charset="-122"/>
                <a:cs typeface="Calibri" pitchFamily="34" charset="-120"/>
              </a:rPr>
              <a:t>an fp32-accumulating kernel and torch.compile both FAIL: correctness here means agreeing with an overflowing reference</a:t>
            </a:r>
            <a:endParaRPr lang="en-US" sz="1200" dirty="0"/>
          </a:p>
          <a:p>
            <a:pPr marL="177800" indent="-177800">
              <a:spcAft>
                <a:spcPts val="600"/>
              </a:spcAft>
              <a:buSzPct val="100000"/>
              <a:buChar char="•"/>
            </a:pPr>
            <a:r>
              <a:rPr lang="en-US" sz="1200" dirty="0">
                <a:solidFill>
                  <a:srgbClr val="4A4A55"/>
                </a:solidFill>
                <a:latin typeface="Calibri" pitchFamily="34" charset="0"/>
                <a:ea typeface="Calibri" pitchFamily="34" charset="-122"/>
                <a:cs typeface="Calibri" pitchFamily="34" charset="-120"/>
              </a:rPr>
              <a:t>outside the harness: at N=4096, scale 4, the model's kernel zeroes 133/256 rows; fp32 kernels and eager zero none</a:t>
            </a:r>
            <a:endParaRPr lang="en-US" sz="1200" dirty="0"/>
          </a:p>
        </p:txBody>
      </p:sp>
      <p:sp>
        <p:nvSpPr>
          <p:cNvPr id="8" name="Text 5"/>
          <p:cNvSpPr txBox="1"/>
          <p:nvPr/>
        </p:nvSpPr>
        <p:spPr>
          <a:xfrm>
            <a:off x="7269480" y="1371600"/>
            <a:ext cx="4465015" cy="347472"/>
          </a:xfrm>
          <a:prstGeom prst="rect">
            <a:avLst/>
          </a:prstGeom>
          <a:noFill/>
          <a:ln/>
        </p:spPr>
        <p:txBody>
          <a:bodyPr wrap="square" lIns="0" tIns="0" rIns="0" bIns="0" rtlCol="0" anchor="ctr"/>
          <a:lstStyle/>
          <a:p>
            <a:pPr indent="0" marL="0">
              <a:buNone/>
            </a:pPr>
            <a:r>
              <a:rPr lang="en-US" sz="1600" b="1" dirty="0">
                <a:solidFill>
                  <a:srgbClr val="1F1F24"/>
                </a:solidFill>
                <a:latin typeface="Cambria" pitchFamily="34" charset="0"/>
                <a:ea typeface="Cambria" pitchFamily="34" charset="-122"/>
                <a:cs typeface="Cambria" pitchFamily="34" charset="-120"/>
              </a:rPr>
              <a:t>First input scale that fails vs fp64 truth</a:t>
            </a:r>
            <a:endParaRPr lang="en-US" sz="16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7269480" y="1783080"/>
          <a:ext cx="4465015" cy="914400"/>
        </p:xfrm>
        <a:graphic>
          <a:graphicData uri="http://schemas.openxmlformats.org/drawingml/2006/table">
            <a:tbl>
              <a:tblPr/>
              <a:tblGrid>
                <a:gridCol w="731520"/>
                <a:gridCol w="1097280"/>
                <a:gridCol w="868680"/>
                <a:gridCol w="868680"/>
                <a:gridCol w="898855"/>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predicted RMS*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model fp16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model bf16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eager fp16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r>
              <a:tr h="384048">
                <a:tc>
                  <a:txBody>
                    <a:bodyPr/>
                    <a:lstStyle/>
                    <a:p>
                      <a:pPr algn="l" indent="0" marL="0">
                        <a:buNone/>
                      </a:pPr>
                      <a:r>
                        <a:rPr lang="en-US" sz="1300" dirty="0">
                          <a:solidFill>
                            <a:srgbClr val="1F1F24"/>
                          </a:solidFill>
                          <a:latin typeface="Calibri" pitchFamily="34" charset="0"/>
                          <a:ea typeface="Calibri" pitchFamily="34" charset="-122"/>
                          <a:cs typeface="Calibri" pitchFamily="34" charset="-120"/>
                        </a:rPr>
                        <a:t>768</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9.2</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b="1" dirty="0">
                          <a:solidFill>
                            <a:srgbClr val="B3261E"/>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384048">
                <a:tc>
                  <a:txBody>
                    <a:bodyPr/>
                    <a:lstStyle/>
                    <a:p>
                      <a:pPr algn="l" indent="0" marL="0">
                        <a:buNone/>
                      </a:pPr>
                      <a:r>
                        <a:rPr lang="en-US" sz="1300" dirty="0">
                          <a:solidFill>
                            <a:srgbClr val="1F1F24"/>
                          </a:solidFill>
                          <a:latin typeface="Calibri" pitchFamily="34" charset="0"/>
                          <a:ea typeface="Calibri" pitchFamily="34" charset="-122"/>
                          <a:cs typeface="Calibri" pitchFamily="34" charset="-120"/>
                        </a:rPr>
                        <a:t>4096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b="1" dirty="0">
                          <a:solidFill>
                            <a:srgbClr val="B3261E"/>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384048">
                <a:tc>
                  <a:txBody>
                    <a:bodyPr/>
                    <a:lstStyle/>
                    <a:p>
                      <a:pPr algn="l" indent="0" marL="0">
                        <a:buNone/>
                      </a:pPr>
                      <a:r>
                        <a:rPr lang="en-US" sz="1300" dirty="0">
                          <a:solidFill>
                            <a:srgbClr val="1F1F24"/>
                          </a:solidFill>
                          <a:latin typeface="Calibri" pitchFamily="34" charset="0"/>
                          <a:ea typeface="Calibri" pitchFamily="34" charset="-122"/>
                          <a:cs typeface="Calibri" pitchFamily="34" charset="-120"/>
                        </a:rPr>
                        <a:t>8192</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2.8</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b="1" dirty="0">
                          <a:solidFill>
                            <a:srgbClr val="B3261E"/>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384048">
                <a:tc>
                  <a:txBody>
                    <a:bodyPr/>
                    <a:lstStyle/>
                    <a:p>
                      <a:pPr algn="l" indent="0" marL="0">
                        <a:buNone/>
                      </a:pPr>
                      <a:r>
                        <a:rPr lang="en-US" sz="1300" dirty="0">
                          <a:solidFill>
                            <a:srgbClr val="1F1F24"/>
                          </a:solidFill>
                          <a:latin typeface="Calibri" pitchFamily="34" charset="0"/>
                          <a:ea typeface="Calibri" pitchFamily="34" charset="-122"/>
                          <a:cs typeface="Calibri" pitchFamily="34" charset="-120"/>
                        </a:rPr>
                        <a:t>16384</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b="1" dirty="0">
                          <a:solidFill>
                            <a:srgbClr val="B3261E"/>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bl>
          </a:graphicData>
        </a:graphic>
      </p:graphicFrame>
      <p:sp>
        <p:nvSpPr>
          <p:cNvPr id="10" name="Text 6"/>
          <p:cNvSpPr txBox="1"/>
          <p:nvPr/>
        </p:nvSpPr>
        <p:spPr>
          <a:xfrm>
            <a:off x="7269480" y="3840480"/>
            <a:ext cx="4465015" cy="1234440"/>
          </a:xfrm>
          <a:prstGeom prst="rect">
            <a:avLst/>
          </a:prstGeom>
          <a:noFill/>
          <a:ln/>
        </p:spPr>
        <p:txBody>
          <a:bodyPr wrap="square" lIns="0" tIns="0" rIns="0" bIns="0" rtlCol="0" anchor="t"/>
          <a:lstStyle/>
          <a:p>
            <a:pPr indent="0" marL="0">
              <a:spcAft>
                <a:spcPts val="400"/>
              </a:spcAft>
              <a:buNone/>
            </a:pPr>
            <a:r>
              <a:rPr lang="en-US" sz="1300" dirty="0">
                <a:solidFill>
                  <a:srgbClr val="4A4A55"/>
                </a:solidFill>
                <a:latin typeface="Calibri" pitchFamily="34" charset="0"/>
                <a:ea typeface="Calibri" pitchFamily="34" charset="-122"/>
                <a:cs typeface="Calibri" pitchFamily="34" charset="-120"/>
              </a:rPr>
              <a:t>inputs = scale × randn, so row RMS ≈ scale. * fp16 Σx² overflow threshold sqrt(65504/N), computed here. The model's kernel breaks exactly where fp16 accumulation predicts; eager PyTorch holds until x² itself overflows.</a:t>
            </a:r>
            <a:endParaRPr lang="en-US" sz="1300" dirty="0"/>
          </a:p>
        </p:txBody>
      </p:sp>
      <p:sp>
        <p:nvSpPr>
          <p:cNvPr id="11" name="Shape 7"/>
          <p:cNvSpPr/>
          <p:nvPr/>
        </p:nvSpPr>
        <p:spPr>
          <a:xfrm>
            <a:off x="7269480" y="5120640"/>
            <a:ext cx="4465015" cy="1005840"/>
          </a:xfrm>
          <a:prstGeom prst="roundRect">
            <a:avLst>
              <a:gd name="adj" fmla="val 7273"/>
            </a:avLst>
          </a:prstGeom>
          <a:solidFill>
            <a:srgbClr val="1B1A3A"/>
          </a:solidFill>
          <a:ln w="12700">
            <a:solidFill>
              <a:srgbClr val="1B1A3A"/>
            </a:solidFill>
            <a:prstDash val="solid"/>
          </a:ln>
        </p:spPr>
      </p:sp>
      <p:sp>
        <p:nvSpPr>
          <p:cNvPr id="12" name="Text 8"/>
          <p:cNvSpPr txBox="1"/>
          <p:nvPr/>
        </p:nvSpPr>
        <p:spPr>
          <a:xfrm>
            <a:off x="7452360" y="5166360"/>
            <a:ext cx="4099255" cy="914400"/>
          </a:xfrm>
          <a:prstGeom prst="rect">
            <a:avLst/>
          </a:prstGeom>
          <a:noFill/>
          <a:ln/>
        </p:spPr>
        <p:txBody>
          <a:bodyPr wrap="square" lIns="0" tIns="0" rIns="0" bIns="0" rtlCol="0" anchor="ctr"/>
          <a:lstStyle/>
          <a:p>
            <a:pPr indent="0" marL="0">
              <a:spcAft>
                <a:spcPts val="400"/>
              </a:spcAft>
              <a:buNone/>
            </a:pPr>
            <a:r>
              <a:rPr lang="en-US" sz="1400" dirty="0">
                <a:solidFill>
                  <a:srgbClr val="E6E4F0"/>
                </a:solidFill>
                <a:latin typeface="Calibri" pitchFamily="34" charset="0"/>
                <a:ea typeface="Calibri" pitchFamily="34" charset="-122"/>
                <a:cs typeface="Calibri" pitchFamily="34" charset="-120"/>
              </a:rPr>
              <a:t>Fix the oracle, not the kernel: an fp64 / upcast truth reference and exact NaN/Inf masks would flip both verdicts.</a:t>
            </a:r>
            <a:endParaRPr lang="en-US" sz="1400" dirty="0"/>
          </a:p>
        </p:txBody>
      </p:sp>
      <p:sp>
        <p:nvSpPr>
          <p:cNvPr id="13" name="Text 9"/>
          <p:cNvSpPr txBox="1"/>
          <p:nvPr/>
        </p:nvSpPr>
        <p:spPr>
          <a:xfrm>
            <a:off x="4572000" y="6419088"/>
            <a:ext cx="7162495" cy="256032"/>
          </a:xfrm>
          <a:prstGeom prst="rect">
            <a:avLst/>
          </a:prstGeom>
          <a:noFill/>
          <a:ln/>
        </p:spPr>
        <p:txBody>
          <a:bodyPr wrap="square" lIns="0" tIns="0" rIns="0" bIns="0" rtlCol="0" anchor="ctr"/>
          <a:lstStyle/>
          <a:p>
            <a:pPr algn="r" indent="0" marL="0">
              <a:buNone/>
            </a:pPr>
            <a:r>
              <a:rPr lang="en-US" sz="1000" i="1" dirty="0">
                <a:solidFill>
                  <a:srgbClr val="85848F"/>
                </a:solidFill>
                <a:latin typeface="Calibri" pitchFamily="34" charset="0"/>
                <a:ea typeface="Calibri" pitchFamily="34" charset="-122"/>
                <a:cs typeface="Calibri" pitchFamily="34" charset="-120"/>
              </a:rPr>
              <a:t>results/v3/rmsnorm_remeasure.json: stability_replica, numerics_first_failing_scale_vs_truth</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1B1A3A"/>
                </a:solidFill>
                <a:latin typeface="Cambria" pitchFamily="34" charset="0"/>
                <a:ea typeface="Cambria" pitchFamily="34" charset="-122"/>
                <a:cs typeface="Cambria" pitchFamily="34" charset="-120"/>
              </a:rPr>
              <a:t>Memory traffic: same bytes, same speed</a:t>
            </a:r>
            <a:endParaRPr lang="en-US" sz="3000" dirty="0"/>
          </a:p>
        </p:txBody>
      </p:sp>
      <p:sp>
        <p:nvSpPr>
          <p:cNvPr id="3" name="Text 1"/>
          <p:cNvSpPr txBox="1"/>
          <p:nvPr/>
        </p:nvSpPr>
        <p:spPr>
          <a:xfrm>
            <a:off x="457200" y="896112"/>
            <a:ext cx="11277295" cy="329184"/>
          </a:xfrm>
          <a:prstGeom prst="rect">
            <a:avLst/>
          </a:prstGeom>
          <a:noFill/>
          <a:ln/>
        </p:spPr>
        <p:txBody>
          <a:bodyPr wrap="square" lIns="0" tIns="0" rIns="0" bIns="0" rtlCol="0" anchor="ctr"/>
          <a:lstStyle/>
          <a:p>
            <a:pPr indent="0" marL="0">
              <a:buNone/>
            </a:pPr>
            <a:r>
              <a:rPr lang="en-US" sz="1600" i="1" dirty="0">
                <a:solidFill>
                  <a:srgbClr val="9A5712"/>
                </a:solidFill>
                <a:latin typeface="Cambria" pitchFamily="34" charset="0"/>
                <a:ea typeface="Cambria" pitchFamily="34" charset="-122"/>
                <a:cs typeface="Cambria" pitchFamily="34" charset="-120"/>
              </a:rPr>
              <a:t>RMSNorm is bandwidth-bound: read x, read w, write y</a:t>
            </a:r>
            <a:endParaRPr lang="en-US" sz="1600" dirty="0"/>
          </a:p>
        </p:txBody>
      </p:sp>
      <p:sp>
        <p:nvSpPr>
          <p:cNvPr id="4" name="Text 2"/>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85848F"/>
                </a:solidFill>
                <a:latin typeface="Calibri" pitchFamily="34" charset="0"/>
                <a:ea typeface="Calibri" pitchFamily="34" charset="-122"/>
                <a:cs typeface="Calibri" pitchFamily="34" charset="-120"/>
              </a:rPr>
              <a:t>Modal re-run, Sept 2026 · 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2011680"/>
                <a:gridCol w="1097280"/>
                <a:gridCol w="1417320"/>
                <a:gridCol w="1325880"/>
                <a:gridCol w="1508760"/>
                <a:gridCol w="1463040"/>
                <a:gridCol w="1188720"/>
                <a:gridCol w="1264615"/>
              </a:tblGrid>
              <a:tr h="36576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shape (fp16)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bytes (MB)</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floor @ L4 peak</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starter</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model's kernel</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eager PyTorch</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model GB/s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 of peak</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r>
              <a:tr h="365760">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1024×768</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3.1</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10.5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16.4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b="1" dirty="0">
                          <a:solidFill>
                            <a:srgbClr val="1F1F24"/>
                          </a:solidFill>
                          <a:latin typeface="Calibri" pitchFamily="34" charset="0"/>
                          <a:ea typeface="Calibri" pitchFamily="34" charset="-122"/>
                          <a:cs typeface="Calibri" pitchFamily="34" charset="-120"/>
                        </a:rPr>
                        <a:t>16.4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37.9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192</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64%</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365760">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4096×1024</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16.8</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55.9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72.7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b="1" dirty="0">
                          <a:solidFill>
                            <a:srgbClr val="1F1F24"/>
                          </a:solidFill>
                          <a:latin typeface="Calibri" pitchFamily="34" charset="0"/>
                          <a:ea typeface="Calibri" pitchFamily="34" charset="-122"/>
                          <a:cs typeface="Calibri" pitchFamily="34" charset="-120"/>
                        </a:rPr>
                        <a:t>72.7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130.0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231</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77%</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365760">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2048×4096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33.6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111.9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143.4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b="1" dirty="0">
                          <a:solidFill>
                            <a:srgbClr val="1F1F24"/>
                          </a:solidFill>
                          <a:latin typeface="Calibri" pitchFamily="34" charset="0"/>
                          <a:ea typeface="Calibri" pitchFamily="34" charset="-122"/>
                          <a:cs typeface="Calibri" pitchFamily="34" charset="-120"/>
                        </a:rPr>
                        <a:t>142.3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250.9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236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79%</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365760">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4096×4096 (timed)</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67.1</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223.7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287.7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b="1" dirty="0">
                          <a:solidFill>
                            <a:srgbClr val="1F1F24"/>
                          </a:solidFill>
                          <a:latin typeface="Calibri" pitchFamily="34" charset="0"/>
                          <a:ea typeface="Calibri" pitchFamily="34" charset="-122"/>
                          <a:cs typeface="Calibri" pitchFamily="34" charset="-120"/>
                        </a:rPr>
                        <a:t>286.7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833.5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234</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78%</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365760">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16384×8192</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536.9</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1789.6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2306.0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b="1" dirty="0">
                          <a:solidFill>
                            <a:srgbClr val="1F1F24"/>
                          </a:solidFill>
                          <a:latin typeface="Calibri" pitchFamily="34" charset="0"/>
                          <a:ea typeface="Calibri" pitchFamily="34" charset="-122"/>
                          <a:cs typeface="Calibri" pitchFamily="34" charset="-120"/>
                        </a:rPr>
                        <a:t>2305.0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7864.8 µs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233</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78%</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bl>
          </a:graphicData>
        </a:graphic>
      </p:graphicFrame>
      <p:sp>
        <p:nvSpPr>
          <p:cNvPr id="6" name="Text 3"/>
          <p:cNvSpPr txBox="1"/>
          <p:nvPr/>
        </p:nvSpPr>
        <p:spPr>
          <a:xfrm>
            <a:off x="457200" y="3657600"/>
            <a:ext cx="11277295" cy="457200"/>
          </a:xfrm>
          <a:prstGeom prst="rect">
            <a:avLst/>
          </a:prstGeom>
          <a:noFill/>
          <a:ln/>
        </p:spPr>
        <p:txBody>
          <a:bodyPr wrap="square" lIns="0" tIns="0" rIns="0" bIns="0" rtlCol="0" anchor="t"/>
          <a:lstStyle/>
          <a:p>
            <a:pPr indent="0" marL="0">
              <a:spcAft>
                <a:spcPts val="400"/>
              </a:spcAft>
              <a:buNone/>
            </a:pPr>
            <a:r>
              <a:rPr lang="en-US" sz="1200" i="1" dirty="0">
                <a:solidFill>
                  <a:srgbClr val="85848F"/>
                </a:solidFill>
                <a:latin typeface="Calibri" pitchFamily="34" charset="0"/>
                <a:ea typeface="Calibri" pitchFamily="34" charset="-122"/>
                <a:cs typeface="Calibri" pitchFamily="34" charset="-120"/>
              </a:rPr>
              <a:t>L4, cold L2, median of 200 reps. bytes = (2·M·N + N)·2 B (bench.py bytes_fn), floor at 300 GB/s: both computed here from the shape. For fp16 input the casts change no load or store width.</a:t>
            </a:r>
            <a:endParaRPr lang="en-US" sz="1200" dirty="0"/>
          </a:p>
        </p:txBody>
      </p:sp>
      <p:sp>
        <p:nvSpPr>
          <p:cNvPr id="7" name="Shape 4"/>
          <p:cNvSpPr/>
          <p:nvPr/>
        </p:nvSpPr>
        <p:spPr>
          <a:xfrm>
            <a:off x="457200" y="4160520"/>
            <a:ext cx="2682164" cy="1325880"/>
          </a:xfrm>
          <a:prstGeom prst="roundRect">
            <a:avLst>
              <a:gd name="adj" fmla="val 5517"/>
            </a:avLst>
          </a:prstGeom>
          <a:solidFill>
            <a:srgbClr val="F2F1EC"/>
          </a:solidFill>
          <a:ln w="12700">
            <a:solidFill>
              <a:srgbClr val="F2F1EC"/>
            </a:solidFill>
            <a:prstDash val="solid"/>
          </a:ln>
        </p:spPr>
      </p:sp>
      <p:sp>
        <p:nvSpPr>
          <p:cNvPr id="8" name="Text 5"/>
          <p:cNvSpPr txBox="1"/>
          <p:nvPr/>
        </p:nvSpPr>
        <p:spPr>
          <a:xfrm>
            <a:off x="621792" y="4270248"/>
            <a:ext cx="2352980" cy="548640"/>
          </a:xfrm>
          <a:prstGeom prst="rect">
            <a:avLst/>
          </a:prstGeom>
          <a:noFill/>
          <a:ln/>
        </p:spPr>
        <p:txBody>
          <a:bodyPr wrap="square" lIns="0" tIns="0" rIns="0" bIns="0" rtlCol="0" anchor="ctr"/>
          <a:lstStyle/>
          <a:p>
            <a:pPr indent="0" marL="0">
              <a:buNone/>
            </a:pPr>
            <a:r>
              <a:rPr lang="en-US" sz="2200" b="1" dirty="0">
                <a:solidFill>
                  <a:srgbClr val="2E2A6B"/>
                </a:solidFill>
                <a:latin typeface="Cambria" pitchFamily="34" charset="0"/>
                <a:ea typeface="Cambria" pitchFamily="34" charset="-122"/>
                <a:cs typeface="Cambria" pitchFamily="34" charset="-120"/>
              </a:rPr>
              <a:t>234 GB/s</a:t>
            </a:r>
            <a:endParaRPr lang="en-US" sz="2200" dirty="0"/>
          </a:p>
        </p:txBody>
      </p:sp>
      <p:sp>
        <p:nvSpPr>
          <p:cNvPr id="9" name="Text 6"/>
          <p:cNvSpPr txBox="1"/>
          <p:nvPr/>
        </p:nvSpPr>
        <p:spPr>
          <a:xfrm>
            <a:off x="621792" y="4855464"/>
            <a:ext cx="2352980" cy="557784"/>
          </a:xfrm>
          <a:prstGeom prst="rect">
            <a:avLst/>
          </a:prstGeom>
          <a:noFill/>
          <a:ln/>
        </p:spPr>
        <p:txBody>
          <a:bodyPr wrap="square" lIns="0" tIns="0" rIns="0" bIns="0" rtlCol="0" anchor="t"/>
          <a:lstStyle/>
          <a:p>
            <a:pPr indent="0" marL="0">
              <a:buNone/>
            </a:pPr>
            <a:r>
              <a:rPr lang="en-US" sz="1300" dirty="0">
                <a:solidFill>
                  <a:srgbClr val="4A4A55"/>
                </a:solidFill>
                <a:latin typeface="Calibri" pitchFamily="34" charset="0"/>
                <a:ea typeface="Calibri" pitchFamily="34" charset="-122"/>
                <a:cs typeface="Calibri" pitchFamily="34" charset="-120"/>
              </a:rPr>
              <a:t>model's kernel at 4096², cold L2: 78% of 300 (starter 233)</a:t>
            </a:r>
            <a:endParaRPr lang="en-US" sz="1300" dirty="0"/>
          </a:p>
        </p:txBody>
      </p:sp>
      <p:sp>
        <p:nvSpPr>
          <p:cNvPr id="10" name="Shape 7"/>
          <p:cNvSpPr/>
          <p:nvPr/>
        </p:nvSpPr>
        <p:spPr>
          <a:xfrm>
            <a:off x="3322244" y="4160520"/>
            <a:ext cx="2682164" cy="1325880"/>
          </a:xfrm>
          <a:prstGeom prst="roundRect">
            <a:avLst>
              <a:gd name="adj" fmla="val 5517"/>
            </a:avLst>
          </a:prstGeom>
          <a:solidFill>
            <a:srgbClr val="F2F1EC"/>
          </a:solidFill>
          <a:ln w="12700">
            <a:solidFill>
              <a:srgbClr val="F2F1EC"/>
            </a:solidFill>
            <a:prstDash val="solid"/>
          </a:ln>
        </p:spPr>
      </p:sp>
      <p:sp>
        <p:nvSpPr>
          <p:cNvPr id="11" name="Text 8"/>
          <p:cNvSpPr txBox="1"/>
          <p:nvPr/>
        </p:nvSpPr>
        <p:spPr>
          <a:xfrm>
            <a:off x="3486836" y="4270248"/>
            <a:ext cx="2352980" cy="548640"/>
          </a:xfrm>
          <a:prstGeom prst="rect">
            <a:avLst/>
          </a:prstGeom>
          <a:noFill/>
          <a:ln/>
        </p:spPr>
        <p:txBody>
          <a:bodyPr wrap="square" lIns="0" tIns="0" rIns="0" bIns="0" rtlCol="0" anchor="ctr"/>
          <a:lstStyle/>
          <a:p>
            <a:pPr indent="0" marL="0">
              <a:buNone/>
            </a:pPr>
            <a:r>
              <a:rPr lang="en-US" sz="2200" b="1" dirty="0">
                <a:solidFill>
                  <a:srgbClr val="2E2A6B"/>
                </a:solidFill>
                <a:latin typeface="Cambria" pitchFamily="34" charset="0"/>
                <a:ea typeface="Cambria" pitchFamily="34" charset="-122"/>
                <a:cs typeface="Cambria" pitchFamily="34" charset="-120"/>
              </a:rPr>
              <a:t>254 GB/s</a:t>
            </a:r>
            <a:endParaRPr lang="en-US" sz="2200" dirty="0"/>
          </a:p>
        </p:txBody>
      </p:sp>
      <p:sp>
        <p:nvSpPr>
          <p:cNvPr id="12" name="Text 9"/>
          <p:cNvSpPr txBox="1"/>
          <p:nvPr/>
        </p:nvSpPr>
        <p:spPr>
          <a:xfrm>
            <a:off x="3486836" y="4855464"/>
            <a:ext cx="2352980" cy="557784"/>
          </a:xfrm>
          <a:prstGeom prst="rect">
            <a:avLst/>
          </a:prstGeom>
          <a:noFill/>
          <a:ln/>
        </p:spPr>
        <p:txBody>
          <a:bodyPr wrap="square" lIns="0" tIns="0" rIns="0" bIns="0" rtlCol="0" anchor="t"/>
          <a:lstStyle/>
          <a:p>
            <a:pPr indent="0" marL="0">
              <a:buNone/>
            </a:pPr>
            <a:r>
              <a:rPr lang="en-US" sz="1300" dirty="0">
                <a:solidFill>
                  <a:srgbClr val="4A4A55"/>
                </a:solidFill>
                <a:latin typeface="Calibri" pitchFamily="34" charset="0"/>
                <a:ea typeface="Calibri" pitchFamily="34" charset="-122"/>
                <a:cs typeface="Calibri" pitchFamily="34" charset="-120"/>
              </a:rPr>
              <a:t>warm L2: x is 32 MiB, L2 is 48 MB, so warm beats "peak" on small shapes</a:t>
            </a:r>
            <a:endParaRPr lang="en-US" sz="1300" dirty="0"/>
          </a:p>
        </p:txBody>
      </p:sp>
      <p:sp>
        <p:nvSpPr>
          <p:cNvPr id="13" name="Shape 10"/>
          <p:cNvSpPr/>
          <p:nvPr/>
        </p:nvSpPr>
        <p:spPr>
          <a:xfrm>
            <a:off x="6187288" y="4160520"/>
            <a:ext cx="2682164" cy="1325880"/>
          </a:xfrm>
          <a:prstGeom prst="roundRect">
            <a:avLst>
              <a:gd name="adj" fmla="val 5517"/>
            </a:avLst>
          </a:prstGeom>
          <a:solidFill>
            <a:srgbClr val="F2F1EC"/>
          </a:solidFill>
          <a:ln w="12700">
            <a:solidFill>
              <a:srgbClr val="F2F1EC"/>
            </a:solidFill>
            <a:prstDash val="solid"/>
          </a:ln>
        </p:spPr>
      </p:sp>
      <p:sp>
        <p:nvSpPr>
          <p:cNvPr id="14" name="Text 11"/>
          <p:cNvSpPr txBox="1"/>
          <p:nvPr/>
        </p:nvSpPr>
        <p:spPr>
          <a:xfrm>
            <a:off x="6351880" y="4270248"/>
            <a:ext cx="2352980" cy="548640"/>
          </a:xfrm>
          <a:prstGeom prst="rect">
            <a:avLst/>
          </a:prstGeom>
          <a:noFill/>
          <a:ln/>
        </p:spPr>
        <p:txBody>
          <a:bodyPr wrap="square" lIns="0" tIns="0" rIns="0" bIns="0" rtlCol="0" anchor="ctr"/>
          <a:lstStyle/>
          <a:p>
            <a:pPr indent="0" marL="0">
              <a:buNone/>
            </a:pPr>
            <a:r>
              <a:rPr lang="en-US" sz="2200" b="1" dirty="0">
                <a:solidFill>
                  <a:srgbClr val="2E2A6B"/>
                </a:solidFill>
                <a:latin typeface="Cambria" pitchFamily="34" charset="0"/>
                <a:ea typeface="Cambria" pitchFamily="34" charset="-122"/>
                <a:cs typeface="Cambria" pitchFamily="34" charset="-120"/>
              </a:rPr>
              <a:t>6 kernels</a:t>
            </a:r>
            <a:endParaRPr lang="en-US" sz="2200" dirty="0"/>
          </a:p>
        </p:txBody>
      </p:sp>
      <p:sp>
        <p:nvSpPr>
          <p:cNvPr id="15" name="Text 12"/>
          <p:cNvSpPr txBox="1"/>
          <p:nvPr/>
        </p:nvSpPr>
        <p:spPr>
          <a:xfrm>
            <a:off x="6351880" y="4855464"/>
            <a:ext cx="2352980" cy="557784"/>
          </a:xfrm>
          <a:prstGeom prst="rect">
            <a:avLst/>
          </a:prstGeom>
          <a:noFill/>
          <a:ln/>
        </p:spPr>
        <p:txBody>
          <a:bodyPr wrap="square" lIns="0" tIns="0" rIns="0" bIns="0" rtlCol="0" anchor="t"/>
          <a:lstStyle/>
          <a:p>
            <a:pPr indent="0" marL="0">
              <a:buNone/>
            </a:pPr>
            <a:r>
              <a:rPr lang="en-US" sz="1300" dirty="0">
                <a:solidFill>
                  <a:srgbClr val="4A4A55"/>
                </a:solidFill>
                <a:latin typeface="Calibri" pitchFamily="34" charset="0"/>
                <a:ea typeface="Calibri" pitchFamily="34" charset="-122"/>
                <a:cs typeface="Calibri" pitchFamily="34" charset="-120"/>
              </a:rPr>
              <a:t>eager PyTorch (pow, mean, add, sqrt, div, mul) moves 3.5× the bytes: ≈7·M·N vs 2·M·N</a:t>
            </a:r>
            <a:endParaRPr lang="en-US" sz="1300" dirty="0"/>
          </a:p>
        </p:txBody>
      </p:sp>
      <p:sp>
        <p:nvSpPr>
          <p:cNvPr id="16" name="Shape 13"/>
          <p:cNvSpPr/>
          <p:nvPr/>
        </p:nvSpPr>
        <p:spPr>
          <a:xfrm>
            <a:off x="9052331" y="4160520"/>
            <a:ext cx="2682164" cy="1325880"/>
          </a:xfrm>
          <a:prstGeom prst="roundRect">
            <a:avLst>
              <a:gd name="adj" fmla="val 5517"/>
            </a:avLst>
          </a:prstGeom>
          <a:solidFill>
            <a:srgbClr val="F2F1EC"/>
          </a:solidFill>
          <a:ln w="12700">
            <a:solidFill>
              <a:srgbClr val="F2F1EC"/>
            </a:solidFill>
            <a:prstDash val="solid"/>
          </a:ln>
        </p:spPr>
      </p:sp>
      <p:sp>
        <p:nvSpPr>
          <p:cNvPr id="17" name="Text 14"/>
          <p:cNvSpPr txBox="1"/>
          <p:nvPr/>
        </p:nvSpPr>
        <p:spPr>
          <a:xfrm>
            <a:off x="9216923" y="4270248"/>
            <a:ext cx="2352980" cy="548640"/>
          </a:xfrm>
          <a:prstGeom prst="rect">
            <a:avLst/>
          </a:prstGeom>
          <a:noFill/>
          <a:ln/>
        </p:spPr>
        <p:txBody>
          <a:bodyPr wrap="square" lIns="0" tIns="0" rIns="0" bIns="0" rtlCol="0" anchor="ctr"/>
          <a:lstStyle/>
          <a:p>
            <a:pPr indent="0" marL="0">
              <a:buNone/>
            </a:pPr>
            <a:r>
              <a:rPr lang="en-US" sz="2200" b="1" dirty="0">
                <a:solidFill>
                  <a:srgbClr val="2E2A6B"/>
                </a:solidFill>
                <a:latin typeface="Cambria" pitchFamily="34" charset="0"/>
                <a:ea typeface="Cambria" pitchFamily="34" charset="-122"/>
                <a:cs typeface="Cambria" pitchFamily="34" charset="-120"/>
              </a:rPr>
              <a:t>≤ 1.28×</a:t>
            </a:r>
            <a:endParaRPr lang="en-US" sz="2200" dirty="0"/>
          </a:p>
        </p:txBody>
      </p:sp>
      <p:sp>
        <p:nvSpPr>
          <p:cNvPr id="18" name="Text 15"/>
          <p:cNvSpPr txBox="1"/>
          <p:nvPr/>
        </p:nvSpPr>
        <p:spPr>
          <a:xfrm>
            <a:off x="9216923" y="4855464"/>
            <a:ext cx="2352980" cy="557784"/>
          </a:xfrm>
          <a:prstGeom prst="rect">
            <a:avLst/>
          </a:prstGeom>
          <a:noFill/>
          <a:ln/>
        </p:spPr>
        <p:txBody>
          <a:bodyPr wrap="square" lIns="0" tIns="0" rIns="0" bIns="0" rtlCol="0" anchor="t"/>
          <a:lstStyle/>
          <a:p>
            <a:pPr indent="0" marL="0">
              <a:buNone/>
            </a:pPr>
            <a:r>
              <a:rPr lang="en-US" sz="1300" dirty="0">
                <a:solidFill>
                  <a:srgbClr val="4A4A55"/>
                </a:solidFill>
                <a:latin typeface="Calibri" pitchFamily="34" charset="0"/>
                <a:ea typeface="Calibri" pitchFamily="34" charset="-122"/>
                <a:cs typeface="Calibri" pitchFamily="34" charset="-120"/>
              </a:rPr>
              <a:t>headroom to the 224 µs bandwidth floor; torch.compile is 285.7 µs</a:t>
            </a:r>
            <a:endParaRPr lang="en-US" sz="1300" dirty="0"/>
          </a:p>
        </p:txBody>
      </p:sp>
      <p:sp>
        <p:nvSpPr>
          <p:cNvPr id="19" name="Shape 16"/>
          <p:cNvSpPr/>
          <p:nvPr/>
        </p:nvSpPr>
        <p:spPr>
          <a:xfrm>
            <a:off x="457200" y="5623560"/>
            <a:ext cx="11277295" cy="566928"/>
          </a:xfrm>
          <a:prstGeom prst="roundRect">
            <a:avLst>
              <a:gd name="adj" fmla="val 12903"/>
            </a:avLst>
          </a:prstGeom>
          <a:solidFill>
            <a:srgbClr val="EDECF5"/>
          </a:solidFill>
          <a:ln w="12700">
            <a:solidFill>
              <a:srgbClr val="EDECF5"/>
            </a:solidFill>
            <a:prstDash val="solid"/>
          </a:ln>
        </p:spPr>
      </p:sp>
      <p:sp>
        <p:nvSpPr>
          <p:cNvPr id="20" name="Text 17"/>
          <p:cNvSpPr txBox="1"/>
          <p:nvPr/>
        </p:nvSpPr>
        <p:spPr>
          <a:xfrm>
            <a:off x="640080" y="5650992"/>
            <a:ext cx="10911535" cy="512064"/>
          </a:xfrm>
          <a:prstGeom prst="rect">
            <a:avLst/>
          </a:prstGeom>
          <a:noFill/>
          <a:ln/>
        </p:spPr>
        <p:txBody>
          <a:bodyPr wrap="square" lIns="0" tIns="0" rIns="0" bIns="0" rtlCol="0" anchor="ctr"/>
          <a:lstStyle/>
          <a:p>
            <a:pPr indent="0" marL="0">
              <a:spcAft>
                <a:spcPts val="400"/>
              </a:spcAft>
              <a:buNone/>
            </a:pPr>
            <a:r>
              <a:rPr lang="en-US" sz="1300" b="1" dirty="0">
                <a:solidFill>
                  <a:srgbClr val="4A4A55"/>
                </a:solidFill>
                <a:latin typeface="Calibri" pitchFamily="34" charset="0"/>
                <a:ea typeface="Calibri" pitchFamily="34" charset="-122"/>
                <a:cs typeface="Calibri" pitchFamily="34" charset="-120"/>
              </a:rPr>
              <a:t>Where 2.9× comes from: </a:t>
            </a:r>
            <a:pPr indent="0" marL="0">
              <a:spcAft>
                <a:spcPts val="400"/>
              </a:spcAft>
              <a:buNone/>
            </a:pPr>
            <a:r>
              <a:rPr lang="en-US" sz="1300" dirty="0">
                <a:solidFill>
                  <a:srgbClr val="4A4A55"/>
                </a:solidFill>
                <a:latin typeface="Calibri" pitchFamily="34" charset="0"/>
                <a:ea typeface="Calibri" pitchFamily="34" charset="-122"/>
                <a:cs typeface="Calibri" pitchFamily="34" charset="-120"/>
              </a:rPr>
              <a:t>fusion. Eager runs each op as a separate kernel and re-reads the row; one fused pass moves the minimum bytes. The starter already had it; the casts added nothing.</a:t>
            </a:r>
            <a:endParaRPr lang="en-US" sz="1300" dirty="0"/>
          </a:p>
        </p:txBody>
      </p:sp>
      <p:sp>
        <p:nvSpPr>
          <p:cNvPr id="21" name="Text 18"/>
          <p:cNvSpPr txBox="1"/>
          <p:nvPr/>
        </p:nvSpPr>
        <p:spPr>
          <a:xfrm>
            <a:off x="4572000" y="6419088"/>
            <a:ext cx="7162495" cy="256032"/>
          </a:xfrm>
          <a:prstGeom prst="rect">
            <a:avLst/>
          </a:prstGeom>
          <a:noFill/>
          <a:ln/>
        </p:spPr>
        <p:txBody>
          <a:bodyPr wrap="square" lIns="0" tIns="0" rIns="0" bIns="0" rtlCol="0" anchor="ctr"/>
          <a:lstStyle/>
          <a:p>
            <a:pPr algn="r" indent="0" marL="0">
              <a:buNone/>
            </a:pPr>
            <a:r>
              <a:rPr lang="en-US" sz="1000" i="1" dirty="0">
                <a:solidFill>
                  <a:srgbClr val="85848F"/>
                </a:solidFill>
                <a:latin typeface="Calibri" pitchFamily="34" charset="0"/>
                <a:ea typeface="Calibri" pitchFamily="34" charset="-122"/>
                <a:cs typeface="Calibri" pitchFamily="34" charset="-120"/>
              </a:rPr>
              <a:t>results/v3/rmsnorm_remeasure.json (gpus.L4.table, primary_rows, eager_cuda_kernels) · bench.py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1B1A3A"/>
                </a:solidFill>
                <a:latin typeface="Cambria" pitchFamily="34" charset="0"/>
                <a:ea typeface="Cambria" pitchFamily="34" charset="-122"/>
                <a:cs typeface="Cambria" pitchFamily="34" charset="-120"/>
              </a:rPr>
              <a:t>How the 2.9× was measured</a:t>
            </a:r>
            <a:endParaRPr lang="en-US" sz="3000" dirty="0"/>
          </a:p>
        </p:txBody>
      </p:sp>
      <p:sp>
        <p:nvSpPr>
          <p:cNvPr id="3" name="Text 1"/>
          <p:cNvSpPr txBox="1"/>
          <p:nvPr/>
        </p:nvSpPr>
        <p:spPr>
          <a:xfrm>
            <a:off x="457200" y="896112"/>
            <a:ext cx="11277295" cy="329184"/>
          </a:xfrm>
          <a:prstGeom prst="rect">
            <a:avLst/>
          </a:prstGeom>
          <a:noFill/>
          <a:ln/>
        </p:spPr>
        <p:txBody>
          <a:bodyPr wrap="square" lIns="0" tIns="0" rIns="0" bIns="0" rtlCol="0" anchor="ctr"/>
          <a:lstStyle/>
          <a:p>
            <a:pPr indent="0" marL="0">
              <a:buNone/>
            </a:pPr>
            <a:r>
              <a:rPr lang="en-US" sz="1600" i="1" dirty="0">
                <a:solidFill>
                  <a:srgbClr val="9A5712"/>
                </a:solidFill>
                <a:latin typeface="Cambria" pitchFamily="34" charset="0"/>
                <a:ea typeface="Cambria" pitchFamily="34" charset="-122"/>
                <a:cs typeface="Cambria" pitchFamily="34" charset="-120"/>
              </a:rPr>
              <a:t>and what it looks like measured properly</a:t>
            </a:r>
            <a:endParaRPr lang="en-US" sz="1600" dirty="0"/>
          </a:p>
        </p:txBody>
      </p:sp>
      <p:sp>
        <p:nvSpPr>
          <p:cNvPr id="4" name="Text 2"/>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85848F"/>
                </a:solidFill>
                <a:latin typeface="Calibri" pitchFamily="34" charset="0"/>
                <a:ea typeface="Calibri" pitchFamily="34" charset="-122"/>
                <a:cs typeface="Calibri" pitchFamily="34" charset="-120"/>
              </a:rPr>
              <a:t>Modal re-run, Sept 2026 · 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7498080" cy="914400"/>
        </p:xfrm>
        <a:graphic>
          <a:graphicData uri="http://schemas.openxmlformats.org/drawingml/2006/table">
            <a:tbl>
              <a:tblPr/>
              <a:tblGrid>
                <a:gridCol w="1417320"/>
                <a:gridCol w="2011680"/>
                <a:gridCol w="1691640"/>
                <a:gridCol w="2377440"/>
              </a:tblGrid>
              <a:tr h="438912">
                <a:tc>
                  <a:txBody>
                    <a:bodyPr/>
                    <a:lstStyle/>
                    <a:p>
                      <a:pPr algn="l" indent="0" marL="0">
                        <a:buNone/>
                      </a:pP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logged: starter 2.904×</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logged: model 2.926×</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remeasure (both)</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r>
              <a:tr h="438912">
                <a:tc>
                  <a:txBody>
                    <a:bodyPr/>
                    <a:lstStyle/>
                    <a:p>
                      <a:pPr algn="l" indent="0" marL="0">
                        <a:buNone/>
                      </a:pPr>
                      <a:r>
                        <a:rPr lang="en-US" sz="1200" b="1" dirty="0">
                          <a:solidFill>
                            <a:srgbClr val="1F1F24"/>
                          </a:solidFill>
                          <a:latin typeface="Calibri" pitchFamily="34" charset="0"/>
                          <a:ea typeface="Calibri" pitchFamily="34" charset="-122"/>
                          <a:cs typeface="Calibri" pitchFamily="34" charset="-120"/>
                        </a:rPr>
                        <a:t>bench mode</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quick (stability skipped)</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full (5 stages)</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no gate; fp64 checked apart</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438912">
                <a:tc>
                  <a:txBody>
                    <a:bodyPr/>
                    <a:lstStyle/>
                    <a:p>
                      <a:pPr algn="l" indent="0" marL="0">
                        <a:buNone/>
                      </a:pPr>
                      <a:r>
                        <a:rPr lang="en-US" sz="1200" b="1" dirty="0">
                          <a:solidFill>
                            <a:srgbClr val="1F1F24"/>
                          </a:solidFill>
                          <a:latin typeface="Calibri" pitchFamily="34" charset="0"/>
                          <a:ea typeface="Calibri" pitchFamily="34" charset="-122"/>
                          <a:cs typeface="Calibri" pitchFamily="34" charset="-120"/>
                        </a:rPr>
                        <a:t>observations</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3 runs: 2.885–2.917×</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1 (this code hash)</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200 reps per kernel/shape</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438912">
                <a:tc>
                  <a:txBody>
                    <a:bodyPr/>
                    <a:lstStyle/>
                    <a:p>
                      <a:pPr algn="l" indent="0" marL="0">
                        <a:buNone/>
                      </a:pPr>
                      <a:r>
                        <a:rPr lang="en-US" sz="1200" b="1" dirty="0">
                          <a:solidFill>
                            <a:srgbClr val="1F1F24"/>
                          </a:solidFill>
                          <a:latin typeface="Calibri" pitchFamily="34" charset="0"/>
                          <a:ea typeface="Calibri" pitchFamily="34" charset="-122"/>
                          <a:cs typeface="Calibri" pitchFamily="34" charset="-120"/>
                        </a:rPr>
                        <a:t>cache</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fresh</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fresh</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438912">
                <a:tc>
                  <a:txBody>
                    <a:bodyPr/>
                    <a:lstStyle/>
                    <a:p>
                      <a:pPr algn="l" indent="0" marL="0">
                        <a:buNone/>
                      </a:pPr>
                      <a:r>
                        <a:rPr lang="en-US" sz="1200" b="1" dirty="0">
                          <a:solidFill>
                            <a:srgbClr val="1F1F24"/>
                          </a:solidFill>
                          <a:latin typeface="Calibri" pitchFamily="34" charset="0"/>
                          <a:ea typeface="Calibri" pitchFamily="34" charset="-122"/>
                          <a:cs typeface="Calibri" pitchFamily="34" charset="-120"/>
                        </a:rPr>
                        <a:t>L2</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flushed (do_bench)</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flushed (do_bench)</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warm and cold, reported apart</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438912">
                <a:tc>
                  <a:txBody>
                    <a:bodyPr/>
                    <a:lstStyle/>
                    <a:p>
                      <a:pPr algn="l" indent="0" marL="0">
                        <a:buNone/>
                      </a:pPr>
                      <a:r>
                        <a:rPr lang="en-US" sz="1200" b="1" dirty="0">
                          <a:solidFill>
                            <a:srgbClr val="1F1F24"/>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eager PyTorch</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eager PyTorch</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eager, torch.compile, starter</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438912">
                <a:tc>
                  <a:txBody>
                    <a:bodyPr/>
                    <a:lstStyle/>
                    <a:p>
                      <a:pPr algn="l" indent="0" marL="0">
                        <a:buNone/>
                      </a:pPr>
                      <a:r>
                        <a:rPr lang="en-US" sz="1200" b="1" dirty="0">
                          <a:solidFill>
                            <a:srgbClr val="1F1F24"/>
                          </a:solidFill>
                          <a:latin typeface="Calibri" pitchFamily="34" charset="0"/>
                          <a:ea typeface="Calibri" pitchFamily="34" charset="-122"/>
                          <a:cs typeface="Calibri" pitchFamily="34" charset="-120"/>
                        </a:rPr>
                        <a:t>model ÷ starter</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l" indent="0" marL="0">
                        <a:buNone/>
                      </a:pPr>
                      <a:r>
                        <a:rPr lang="en-US" sz="1200" b="1" dirty="0">
                          <a:solidFill>
                            <a:srgbClr val="1F1F24"/>
                          </a:solidFill>
                          <a:latin typeface="Calibri" pitchFamily="34" charset="0"/>
                          <a:ea typeface="Calibri" pitchFamily="34" charset="-122"/>
                          <a:cs typeface="Calibri" pitchFamily="34" charset="-120"/>
                        </a:rPr>
                        <a:t>1.004× cold · 1.004× warm</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bl>
          </a:graphicData>
        </a:graphic>
      </p:graphicFrame>
      <p:sp>
        <p:nvSpPr>
          <p:cNvPr id="6" name="Text 3"/>
          <p:cNvSpPr txBox="1"/>
          <p:nvPr/>
        </p:nvSpPr>
        <p:spPr>
          <a:xfrm>
            <a:off x="457200" y="4572000"/>
            <a:ext cx="7498080" cy="685800"/>
          </a:xfrm>
          <a:prstGeom prst="rect">
            <a:avLst/>
          </a:prstGeom>
          <a:noFill/>
          <a:ln/>
        </p:spPr>
        <p:txBody>
          <a:bodyPr wrap="square" lIns="0" tIns="0" rIns="0" bIns="0" rtlCol="0" anchor="t"/>
          <a:lstStyle/>
          <a:p>
            <a:pPr indent="0" marL="0">
              <a:spcAft>
                <a:spcPts val="400"/>
              </a:spcAft>
              <a:buNone/>
            </a:pPr>
            <a:r>
              <a:rPr lang="en-US" sz="1300" dirty="0">
                <a:solidFill>
                  <a:srgbClr val="4A4A55"/>
                </a:solidFill>
                <a:latin typeface="Calibri" pitchFamily="34" charset="0"/>
                <a:ea typeface="Calibri" pitchFamily="34" charset="-122"/>
                <a:cs typeface="Calibri" pitchFamily="34" charset="-120"/>
              </a:rPr>
              <a:t>Geomean over all 28 shape×dtype configs, model ÷ starter: 0.999× cold, 0.990× warm. On H100: 0.999× cold. Cold-L2 CV at 4096²: 0.8%.</a:t>
            </a:r>
            <a:endParaRPr lang="en-US" sz="1300" dirty="0"/>
          </a:p>
        </p:txBody>
      </p:sp>
      <p:sp>
        <p:nvSpPr>
          <p:cNvPr id="7" name="Text 4"/>
          <p:cNvSpPr txBox="1"/>
          <p:nvPr/>
        </p:nvSpPr>
        <p:spPr>
          <a:xfrm>
            <a:off x="457200" y="5303520"/>
            <a:ext cx="7498080" cy="822960"/>
          </a:xfrm>
          <a:prstGeom prst="rect">
            <a:avLst/>
          </a:prstGeom>
          <a:noFill/>
          <a:ln/>
        </p:spPr>
        <p:txBody>
          <a:bodyPr wrap="square" lIns="0" tIns="0" rIns="0" bIns="0" rtlCol="0" anchor="t"/>
          <a:lstStyle/>
          <a:p>
            <a:pPr indent="0" marL="0">
              <a:spcAft>
                <a:spcPts val="400"/>
              </a:spcAft>
              <a:buNone/>
            </a:pPr>
            <a:r>
              <a:rPr lang="en-US" sz="1300" dirty="0">
                <a:solidFill>
                  <a:srgbClr val="4A4A55"/>
                </a:solidFill>
                <a:latin typeface="Calibri" pitchFamily="34" charset="0"/>
                <a:ea typeface="Calibri" pitchFamily="34" charset="-122"/>
                <a:cs typeface="Calibri" pitchFamily="34" charset="-120"/>
              </a:rPr>
              <a:t>All 13 RMSNorm PASS turns in the project: 2.858–2.926×; the base model already had 2.900× before any training. Re-running bench.py full: model PASS at 2.967x, starter FAIL but prints 2.933x.</a:t>
            </a:r>
            <a:endParaRPr lang="en-US" sz="1300" dirty="0"/>
          </a:p>
        </p:txBody>
      </p:sp>
      <p:sp>
        <p:nvSpPr>
          <p:cNvPr id="8" name="Text 5"/>
          <p:cNvSpPr txBox="1"/>
          <p:nvPr/>
        </p:nvSpPr>
        <p:spPr>
          <a:xfrm>
            <a:off x="8229600" y="1371600"/>
            <a:ext cx="3504895" cy="347472"/>
          </a:xfrm>
          <a:prstGeom prst="rect">
            <a:avLst/>
          </a:prstGeom>
          <a:noFill/>
          <a:ln/>
        </p:spPr>
        <p:txBody>
          <a:bodyPr wrap="square" lIns="0" tIns="0" rIns="0" bIns="0" rtlCol="0" anchor="ctr"/>
          <a:lstStyle/>
          <a:p>
            <a:pPr indent="0" marL="0">
              <a:buNone/>
            </a:pPr>
            <a:r>
              <a:rPr lang="en-US" sz="1600" b="1" dirty="0">
                <a:solidFill>
                  <a:srgbClr val="1F1F24"/>
                </a:solidFill>
                <a:latin typeface="Cambria" pitchFamily="34" charset="0"/>
                <a:ea typeface="Cambria" pitchFamily="34" charset="-122"/>
                <a:cs typeface="Cambria" pitchFamily="34" charset="-120"/>
              </a:rPr>
              <a:t>What do_bench actually does</a:t>
            </a:r>
            <a:endParaRPr lang="en-US" sz="1600" dirty="0"/>
          </a:p>
        </p:txBody>
      </p:sp>
      <p:sp>
        <p:nvSpPr>
          <p:cNvPr id="9" name="Text 6"/>
          <p:cNvSpPr txBox="1"/>
          <p:nvPr/>
        </p:nvSpPr>
        <p:spPr>
          <a:xfrm>
            <a:off x="8229600" y="1737360"/>
            <a:ext cx="3504895" cy="44805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1F24"/>
                </a:solidFill>
                <a:latin typeface="Calibri" pitchFamily="34" charset="0"/>
                <a:ea typeface="Calibri" pitchFamily="34" charset="-122"/>
                <a:cs typeface="Calibri" pitchFamily="34" charset="-120"/>
              </a:rPr>
              <a:t>warmup=25, rep=100 are ms budgets, not counts (Triton 3.2.0)</a:t>
            </a:r>
            <a:endParaRPr lang="en-US" sz="1300" dirty="0"/>
          </a:p>
          <a:p>
            <a:pPr marL="177800" indent="-177800">
              <a:spcAft>
                <a:spcPts val="600"/>
              </a:spcAft>
              <a:buSzPct val="100000"/>
              <a:buChar char="•"/>
            </a:pPr>
            <a:r>
              <a:rPr lang="en-US" sz="1300" dirty="0">
                <a:solidFill>
                  <a:srgbClr val="1F1F24"/>
                </a:solidFill>
                <a:latin typeface="Calibri" pitchFamily="34" charset="0"/>
                <a:ea typeface="Calibri" pitchFamily="34" charset="-122"/>
                <a:cs typeface="Calibri" pitchFamily="34" charset="-120"/>
              </a:rPr>
              <a:t>returns the mean by default; bench.py's docstring says median</a:t>
            </a:r>
            <a:endParaRPr lang="en-US" sz="1300" dirty="0"/>
          </a:p>
          <a:p>
            <a:pPr marL="177800" indent="-177800">
              <a:spcAft>
                <a:spcPts val="600"/>
              </a:spcAft>
              <a:buSzPct val="100000"/>
              <a:buChar char="•"/>
            </a:pPr>
            <a:r>
              <a:rPr lang="en-US" sz="1300" dirty="0">
                <a:solidFill>
                  <a:srgbClr val="1F1F24"/>
                </a:solidFill>
                <a:latin typeface="Calibri" pitchFamily="34" charset="0"/>
                <a:ea typeface="Calibri" pitchFamily="34" charset="-122"/>
                <a:cs typeface="Calibri" pitchFamily="34" charset="-120"/>
              </a:rPr>
              <a:t>zeroes a 256 MB buffer before each call: cold L2 only</a:t>
            </a:r>
            <a:endParaRPr lang="en-US" sz="1300" dirty="0"/>
          </a:p>
          <a:p>
            <a:pPr marL="177800" indent="-177800">
              <a:spcAft>
                <a:spcPts val="600"/>
              </a:spcAft>
              <a:buSzPct val="100000"/>
              <a:buChar char="•"/>
            </a:pPr>
            <a:r>
              <a:rPr lang="en-US" sz="1300" dirty="0">
                <a:solidFill>
                  <a:srgbClr val="1F1F24"/>
                </a:solidFill>
                <a:latin typeface="Calibri" pitchFamily="34" charset="0"/>
                <a:ea typeface="Calibri" pitchFamily="34" charset="-122"/>
                <a:cs typeface="Calibri" pitchFamily="34" charset="-120"/>
              </a:rPr>
              <a:t>its ratio agrees with the cold median: model 2.951× vs starter 2.956×</a:t>
            </a:r>
            <a:endParaRPr lang="en-US" sz="1300" dirty="0"/>
          </a:p>
          <a:p>
            <a:pPr marL="177800" indent="-177800">
              <a:spcAft>
                <a:spcPts val="600"/>
              </a:spcAft>
              <a:buSzPct val="100000"/>
              <a:buChar char="•"/>
            </a:pPr>
            <a:r>
              <a:rPr lang="en-US" sz="1300" dirty="0">
                <a:solidFill>
                  <a:srgbClr val="1F1F24"/>
                </a:solidFill>
                <a:latin typeface="Calibri" pitchFamily="34" charset="0"/>
                <a:ea typeface="Calibri" pitchFamily="34" charset="-122"/>
                <a:cs typeface="Calibri" pitchFamily="34" charset="-120"/>
              </a:rPr>
              <a:t>quick and full time the same do_bench call on the same input; full only adds stages 3–5</a:t>
            </a:r>
            <a:endParaRPr lang="en-US" sz="1300" dirty="0"/>
          </a:p>
          <a:p>
            <a:pPr marL="177800" indent="-177800">
              <a:spcAft>
                <a:spcPts val="600"/>
              </a:spcAft>
              <a:buSzPct val="100000"/>
              <a:buChar char="•"/>
            </a:pPr>
            <a:r>
              <a:rPr lang="en-US" sz="1300" dirty="0">
                <a:solidFill>
                  <a:srgbClr val="1F1F24"/>
                </a:solidFill>
                <a:latin typeface="Calibri" pitchFamily="34" charset="0"/>
                <a:ea typeface="Calibri" pitchFamily="34" charset="-122"/>
                <a:cs typeface="Calibri" pitchFamily="34" charset="-120"/>
              </a:rPr>
              <a:t>the timer was fine; the attribution was not</a:t>
            </a:r>
            <a:endParaRPr lang="en-US" sz="1300" dirty="0"/>
          </a:p>
        </p:txBody>
      </p:sp>
      <p:sp>
        <p:nvSpPr>
          <p:cNvPr id="10" name="Text 7"/>
          <p:cNvSpPr txBox="1"/>
          <p:nvPr/>
        </p:nvSpPr>
        <p:spPr>
          <a:xfrm>
            <a:off x="4572000" y="6419088"/>
            <a:ext cx="7162495" cy="256032"/>
          </a:xfrm>
          <a:prstGeom prst="rect">
            <a:avLst/>
          </a:prstGeom>
          <a:noFill/>
          <a:ln/>
        </p:spPr>
        <p:txBody>
          <a:bodyPr wrap="square" lIns="0" tIns="0" rIns="0" bIns="0" rtlCol="0" anchor="ctr"/>
          <a:lstStyle/>
          <a:p>
            <a:pPr algn="r" indent="0" marL="0">
              <a:buNone/>
            </a:pPr>
            <a:r>
              <a:rPr lang="en-US" sz="1000" i="1" dirty="0">
                <a:solidFill>
                  <a:srgbClr val="85848F"/>
                </a:solidFill>
                <a:latin typeface="Calibri" pitchFamily="34" charset="0"/>
                <a:ea typeface="Calibri" pitchFamily="34" charset="-122"/>
                <a:cs typeface="Calibri" pitchFamily="34" charset="-120"/>
              </a:rPr>
              <a:t>bench.py _do_bench · Triton testing.do_bench (source-read) · rmsnorm_remeasure.json headline, harness_runs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1B1A3A"/>
                </a:solidFill>
                <a:latin typeface="Cambria" pitchFamily="34" charset="0"/>
                <a:ea typeface="Cambria" pitchFamily="34" charset="-122"/>
                <a:cs typeface="Cambria" pitchFamily="34" charset="-120"/>
              </a:rPr>
              <a:t>Harness findings I: AutoKernel bench.py</a:t>
            </a:r>
            <a:endParaRPr lang="en-US" sz="3000" dirty="0"/>
          </a:p>
        </p:txBody>
      </p:sp>
      <p:sp>
        <p:nvSpPr>
          <p:cNvPr id="3" name="Text 1"/>
          <p:cNvSpPr txBox="1"/>
          <p:nvPr/>
        </p:nvSpPr>
        <p:spPr>
          <a:xfrm>
            <a:off x="457200" y="896112"/>
            <a:ext cx="11277295" cy="329184"/>
          </a:xfrm>
          <a:prstGeom prst="rect">
            <a:avLst/>
          </a:prstGeom>
          <a:noFill/>
          <a:ln/>
        </p:spPr>
        <p:txBody>
          <a:bodyPr wrap="square" lIns="0" tIns="0" rIns="0" bIns="0" rtlCol="0" anchor="ctr"/>
          <a:lstStyle/>
          <a:p>
            <a:pPr indent="0" marL="0">
              <a:buNone/>
            </a:pPr>
            <a:r>
              <a:rPr lang="en-US" sz="1600" i="1" dirty="0">
                <a:solidFill>
                  <a:srgbClr val="9A5712"/>
                </a:solidFill>
                <a:latin typeface="Cambria" pitchFamily="34" charset="0"/>
                <a:ea typeface="Cambria" pitchFamily="34" charset="-122"/>
                <a:cs typeface="Cambria" pitchFamily="34" charset="-120"/>
              </a:rPr>
              <a:t>correctness and timing defects, each found by re-running end to end</a:t>
            </a:r>
            <a:endParaRPr lang="en-US" sz="1600" dirty="0"/>
          </a:p>
        </p:txBody>
      </p:sp>
      <p:sp>
        <p:nvSpPr>
          <p:cNvPr id="4" name="Text 2"/>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85848F"/>
                </a:solidFill>
                <a:latin typeface="Calibri" pitchFamily="34" charset="0"/>
                <a:ea typeface="Calibri" pitchFamily="34" charset="-122"/>
                <a:cs typeface="Calibri" pitchFamily="34" charset="-120"/>
              </a:rPr>
              <a:t>Modal re-run, Sept 2026 · 9</a:t>
            </a:r>
            <a:endParaRPr lang="en-US" sz="1000" dirty="0"/>
          </a:p>
        </p:txBody>
      </p:sp>
      <p:sp>
        <p:nvSpPr>
          <p:cNvPr id="5" name="Shape 3"/>
          <p:cNvSpPr/>
          <p:nvPr/>
        </p:nvSpPr>
        <p:spPr>
          <a:xfrm>
            <a:off x="457200" y="1371600"/>
            <a:ext cx="3200400" cy="676656"/>
          </a:xfrm>
          <a:prstGeom prst="roundRect">
            <a:avLst>
              <a:gd name="adj" fmla="val 10811"/>
            </a:avLst>
          </a:prstGeom>
          <a:solidFill>
            <a:srgbClr val="1B1A3A"/>
          </a:solidFill>
          <a:ln w="12700">
            <a:solidFill>
              <a:srgbClr val="1B1A3A"/>
            </a:solidFill>
            <a:prstDash val="solid"/>
          </a:ln>
        </p:spPr>
      </p:sp>
      <p:sp>
        <p:nvSpPr>
          <p:cNvPr id="6" name="Text 4"/>
          <p:cNvSpPr txBox="1"/>
          <p:nvPr/>
        </p:nvSpPr>
        <p:spPr>
          <a:xfrm>
            <a:off x="457200" y="1371600"/>
            <a:ext cx="3200400" cy="676656"/>
          </a:xfrm>
          <a:prstGeom prst="rect">
            <a:avLst/>
          </a:prstGeom>
          <a:noFill/>
          <a:ln/>
        </p:spPr>
        <p:txBody>
          <a:bodyPr wrap="square" lIns="0" tIns="0" rIns="0" bIns="0" rtlCol="0" anchor="ctr"/>
          <a:lstStyle/>
          <a:p>
            <a:pPr algn="ctr" indent="0" marL="0">
              <a:buNone/>
            </a:pPr>
            <a:r>
              <a:rPr lang="en-US" sz="1300" b="1" dirty="0">
                <a:solidFill>
                  <a:srgbClr val="E8A33D"/>
                </a:solidFill>
                <a:latin typeface="Courier New" pitchFamily="34" charset="0"/>
                <a:ea typeface="Courier New" pitchFamily="34" charset="-122"/>
                <a:cs typeface="Courier New" pitchFamily="34" charset="-120"/>
              </a:rPr>
              <a:t>--kernel-type / results.tsv</a:t>
            </a:r>
            <a:endParaRPr lang="en-US" sz="1300" dirty="0"/>
          </a:p>
        </p:txBody>
      </p:sp>
      <p:sp>
        <p:nvSpPr>
          <p:cNvPr id="7" name="Text 5"/>
          <p:cNvSpPr txBox="1"/>
          <p:nvPr/>
        </p:nvSpPr>
        <p:spPr>
          <a:xfrm>
            <a:off x="3794760" y="1371600"/>
            <a:ext cx="1234440" cy="676656"/>
          </a:xfrm>
          <a:prstGeom prst="rect">
            <a:avLst/>
          </a:prstGeom>
          <a:noFill/>
          <a:ln/>
        </p:spPr>
        <p:txBody>
          <a:bodyPr wrap="square" lIns="0" tIns="0" rIns="0" bIns="0" rtlCol="0" anchor="ctr"/>
          <a:lstStyle/>
          <a:p>
            <a:pPr indent="0" marL="0">
              <a:buNone/>
            </a:pPr>
            <a:r>
              <a:rPr lang="en-US" sz="1200" b="1" dirty="0">
                <a:solidFill>
                  <a:srgbClr val="1E7B34"/>
                </a:solidFill>
                <a:latin typeface="Calibri" pitchFamily="34" charset="0"/>
                <a:ea typeface="Calibri" pitchFamily="34" charset="-122"/>
                <a:cs typeface="Calibri" pitchFamily="34" charset="-120"/>
              </a:rPr>
              <a:t>FIXED</a:t>
            </a:r>
            <a:endParaRPr lang="en-US" sz="1200" dirty="0"/>
          </a:p>
        </p:txBody>
      </p:sp>
      <p:sp>
        <p:nvSpPr>
          <p:cNvPr id="8" name="Text 6"/>
          <p:cNvSpPr txBox="1"/>
          <p:nvPr/>
        </p:nvSpPr>
        <p:spPr>
          <a:xfrm>
            <a:off x="5074920" y="1371600"/>
            <a:ext cx="6659575" cy="676656"/>
          </a:xfrm>
          <a:prstGeom prst="rect">
            <a:avLst/>
          </a:prstGeom>
          <a:noFill/>
          <a:ln/>
        </p:spPr>
        <p:txBody>
          <a:bodyPr wrap="square" lIns="0" tIns="0" rIns="0" bIns="0" rtlCol="0" anchor="ctr"/>
          <a:lstStyle/>
          <a:p>
            <a:pPr indent="0" marL="0">
              <a:buNone/>
            </a:pPr>
            <a:r>
              <a:rPr lang="en-US" sz="1400" dirty="0">
                <a:solidFill>
                  <a:srgbClr val="1F1F24"/>
                </a:solidFill>
                <a:latin typeface="Calibri" pitchFamily="34" charset="0"/>
                <a:ea typeface="Calibri" pitchFamily="34" charset="-122"/>
                <a:cs typeface="Calibri" pitchFamily="34" charset="-120"/>
              </a:rPr>
              <a:t>worker passed a flag bench.py lacks (it is --kernel) and parsed a file it never writes; metrics are on stdout (bench_modal.parse_stdout)</a:t>
            </a:r>
            <a:endParaRPr lang="en-US" sz="1400" dirty="0"/>
          </a:p>
        </p:txBody>
      </p:sp>
      <p:sp>
        <p:nvSpPr>
          <p:cNvPr id="9" name="Shape 7"/>
          <p:cNvSpPr/>
          <p:nvPr/>
        </p:nvSpPr>
        <p:spPr>
          <a:xfrm>
            <a:off x="457200" y="2167128"/>
            <a:ext cx="3200400" cy="676656"/>
          </a:xfrm>
          <a:prstGeom prst="roundRect">
            <a:avLst>
              <a:gd name="adj" fmla="val 10811"/>
            </a:avLst>
          </a:prstGeom>
          <a:solidFill>
            <a:srgbClr val="1B1A3A"/>
          </a:solidFill>
          <a:ln w="12700">
            <a:solidFill>
              <a:srgbClr val="1B1A3A"/>
            </a:solidFill>
            <a:prstDash val="solid"/>
          </a:ln>
        </p:spPr>
      </p:sp>
      <p:sp>
        <p:nvSpPr>
          <p:cNvPr id="10" name="Text 8"/>
          <p:cNvSpPr txBox="1"/>
          <p:nvPr/>
        </p:nvSpPr>
        <p:spPr>
          <a:xfrm>
            <a:off x="457200" y="2167128"/>
            <a:ext cx="3200400" cy="676656"/>
          </a:xfrm>
          <a:prstGeom prst="rect">
            <a:avLst/>
          </a:prstGeom>
          <a:noFill/>
          <a:ln/>
        </p:spPr>
        <p:txBody>
          <a:bodyPr wrap="square" lIns="0" tIns="0" rIns="0" bIns="0" rtlCol="0" anchor="ctr"/>
          <a:lstStyle/>
          <a:p>
            <a:pPr algn="ctr" indent="0" marL="0">
              <a:buNone/>
            </a:pPr>
            <a:r>
              <a:rPr lang="en-US" sz="1300" b="1" dirty="0">
                <a:solidFill>
                  <a:srgbClr val="E8A33D"/>
                </a:solidFill>
                <a:latin typeface="Courier New" pitchFamily="34" charset="0"/>
                <a:ea typeface="Courier New" pitchFamily="34" charset="-122"/>
                <a:cs typeface="Courier New" pitchFamily="34" charset="-120"/>
              </a:rPr>
              <a:t>--quick</a:t>
            </a:r>
            <a:endParaRPr lang="en-US" sz="1300" dirty="0"/>
          </a:p>
        </p:txBody>
      </p:sp>
      <p:sp>
        <p:nvSpPr>
          <p:cNvPr id="11" name="Text 9"/>
          <p:cNvSpPr txBox="1"/>
          <p:nvPr/>
        </p:nvSpPr>
        <p:spPr>
          <a:xfrm>
            <a:off x="3794760" y="2167128"/>
            <a:ext cx="1234440" cy="676656"/>
          </a:xfrm>
          <a:prstGeom prst="rect">
            <a:avLst/>
          </a:prstGeom>
          <a:noFill/>
          <a:ln/>
        </p:spPr>
        <p:txBody>
          <a:bodyPr wrap="square" lIns="0" tIns="0" rIns="0" bIns="0" rtlCol="0" anchor="ctr"/>
          <a:lstStyle/>
          <a:p>
            <a:pPr indent="0" marL="0">
              <a:buNone/>
            </a:pPr>
            <a:r>
              <a:rPr lang="en-US" sz="1200" b="1" dirty="0">
                <a:solidFill>
                  <a:srgbClr val="2E5E9A"/>
                </a:solidFill>
                <a:latin typeface="Calibri" pitchFamily="34" charset="0"/>
                <a:ea typeface="Calibri" pitchFamily="34" charset="-122"/>
                <a:cs typeface="Calibri" pitchFamily="34" charset="-120"/>
              </a:rPr>
              <a:t>AVOIDED</a:t>
            </a:r>
            <a:endParaRPr lang="en-US" sz="1200" dirty="0"/>
          </a:p>
        </p:txBody>
      </p:sp>
      <p:sp>
        <p:nvSpPr>
          <p:cNvPr id="12" name="Text 10"/>
          <p:cNvSpPr txBox="1"/>
          <p:nvPr/>
        </p:nvSpPr>
        <p:spPr>
          <a:xfrm>
            <a:off x="5074920" y="2167128"/>
            <a:ext cx="6659575" cy="676656"/>
          </a:xfrm>
          <a:prstGeom prst="rect">
            <a:avLst/>
          </a:prstGeom>
          <a:noFill/>
          <a:ln/>
        </p:spPr>
        <p:txBody>
          <a:bodyPr wrap="square" lIns="0" tIns="0" rIns="0" bIns="0" rtlCol="0" anchor="ctr"/>
          <a:lstStyle/>
          <a:p>
            <a:pPr indent="0" marL="0">
              <a:buNone/>
            </a:pPr>
            <a:r>
              <a:rPr lang="en-US" sz="1400" dirty="0">
                <a:solidFill>
                  <a:srgbClr val="1F1F24"/>
                </a:solidFill>
                <a:latin typeface="Calibri" pitchFamily="34" charset="0"/>
                <a:ea typeface="Calibri" pitchFamily="34" charset="-122"/>
                <a:cs typeface="Calibri" pitchFamily="34" charset="-120"/>
              </a:rPr>
              <a:t>skips stability, determinism, edges: 5/9 starters pass quick vs 3/9 full on H100; flash_attention and rmsnorm pass quick, fail full</a:t>
            </a:r>
            <a:endParaRPr lang="en-US" sz="1400" dirty="0"/>
          </a:p>
        </p:txBody>
      </p:sp>
      <p:sp>
        <p:nvSpPr>
          <p:cNvPr id="13" name="Shape 11"/>
          <p:cNvSpPr/>
          <p:nvPr/>
        </p:nvSpPr>
        <p:spPr>
          <a:xfrm>
            <a:off x="457200" y="2962656"/>
            <a:ext cx="3200400" cy="676656"/>
          </a:xfrm>
          <a:prstGeom prst="roundRect">
            <a:avLst>
              <a:gd name="adj" fmla="val 10811"/>
            </a:avLst>
          </a:prstGeom>
          <a:solidFill>
            <a:srgbClr val="1B1A3A"/>
          </a:solidFill>
          <a:ln w="12700">
            <a:solidFill>
              <a:srgbClr val="1B1A3A"/>
            </a:solidFill>
            <a:prstDash val="solid"/>
          </a:ln>
        </p:spPr>
      </p:sp>
      <p:sp>
        <p:nvSpPr>
          <p:cNvPr id="14" name="Text 12"/>
          <p:cNvSpPr txBox="1"/>
          <p:nvPr/>
        </p:nvSpPr>
        <p:spPr>
          <a:xfrm>
            <a:off x="457200" y="2962656"/>
            <a:ext cx="3200400" cy="676656"/>
          </a:xfrm>
          <a:prstGeom prst="rect">
            <a:avLst/>
          </a:prstGeom>
          <a:noFill/>
          <a:ln/>
        </p:spPr>
        <p:txBody>
          <a:bodyPr wrap="square" lIns="0" tIns="0" rIns="0" bIns="0" rtlCol="0" anchor="ctr"/>
          <a:lstStyle/>
          <a:p>
            <a:pPr algn="ctr" indent="0" marL="0">
              <a:buNone/>
            </a:pPr>
            <a:r>
              <a:rPr lang="en-US" sz="1300" b="1" dirty="0">
                <a:solidFill>
                  <a:srgbClr val="E8A33D"/>
                </a:solidFill>
                <a:latin typeface="Courier New" pitchFamily="34" charset="0"/>
                <a:ea typeface="Courier New" pitchFamily="34" charset="-122"/>
                <a:cs typeface="Courier New" pitchFamily="34" charset="-120"/>
              </a:rPr>
              <a:t>both NaN/Inf → PASS</a:t>
            </a:r>
            <a:endParaRPr lang="en-US" sz="1300" dirty="0"/>
          </a:p>
        </p:txBody>
      </p:sp>
      <p:sp>
        <p:nvSpPr>
          <p:cNvPr id="15" name="Text 13"/>
          <p:cNvSpPr txBox="1"/>
          <p:nvPr/>
        </p:nvSpPr>
        <p:spPr>
          <a:xfrm>
            <a:off x="3794760" y="2962656"/>
            <a:ext cx="1234440" cy="676656"/>
          </a:xfrm>
          <a:prstGeom prst="rect">
            <a:avLst/>
          </a:prstGeom>
          <a:noFill/>
          <a:ln/>
        </p:spPr>
        <p:txBody>
          <a:bodyPr wrap="square" lIns="0" tIns="0" rIns="0" bIns="0" rtlCol="0" anchor="ctr"/>
          <a:lstStyle/>
          <a:p>
            <a:pPr indent="0" marL="0">
              <a:buNone/>
            </a:pPr>
            <a:r>
              <a:rPr lang="en-US" sz="1200" b="1" dirty="0">
                <a:solidFill>
                  <a:srgbClr val="B3261E"/>
                </a:solidFill>
                <a:latin typeface="Calibri" pitchFamily="34" charset="0"/>
                <a:ea typeface="Calibri" pitchFamily="34" charset="-122"/>
                <a:cs typeface="Calibri" pitchFamily="34" charset="-120"/>
              </a:rPr>
              <a:t>REMAINS</a:t>
            </a:r>
            <a:endParaRPr lang="en-US" sz="1200" dirty="0"/>
          </a:p>
        </p:txBody>
      </p:sp>
      <p:sp>
        <p:nvSpPr>
          <p:cNvPr id="16" name="Text 14"/>
          <p:cNvSpPr txBox="1"/>
          <p:nvPr/>
        </p:nvSpPr>
        <p:spPr>
          <a:xfrm>
            <a:off x="5074920" y="2962656"/>
            <a:ext cx="6659575" cy="676656"/>
          </a:xfrm>
          <a:prstGeom prst="rect">
            <a:avLst/>
          </a:prstGeom>
          <a:noFill/>
          <a:ln/>
        </p:spPr>
        <p:txBody>
          <a:bodyPr wrap="square" lIns="0" tIns="0" rIns="0" bIns="0" rtlCol="0" anchor="ctr"/>
          <a:lstStyle/>
          <a:p>
            <a:pPr indent="0" marL="0">
              <a:buNone/>
            </a:pPr>
            <a:r>
              <a:rPr lang="en-US" sz="1400" dirty="0">
                <a:solidFill>
                  <a:srgbClr val="1F1F24"/>
                </a:solidFill>
                <a:latin typeface="Calibri" pitchFamily="34" charset="0"/>
                <a:ea typeface="Calibri" pitchFamily="34" charset="-122"/>
                <a:cs typeface="Calibri" pitchFamily="34" charset="-120"/>
              </a:rPr>
              <a:t>stability accepts NaN/Inf output whenever the reference has any; masks never compared (bench.py:838)</a:t>
            </a:r>
            <a:endParaRPr lang="en-US" sz="1400" dirty="0"/>
          </a:p>
        </p:txBody>
      </p:sp>
      <p:sp>
        <p:nvSpPr>
          <p:cNvPr id="17" name="Shape 15"/>
          <p:cNvSpPr/>
          <p:nvPr/>
        </p:nvSpPr>
        <p:spPr>
          <a:xfrm>
            <a:off x="457200" y="3758184"/>
            <a:ext cx="3200400" cy="676656"/>
          </a:xfrm>
          <a:prstGeom prst="roundRect">
            <a:avLst>
              <a:gd name="adj" fmla="val 10811"/>
            </a:avLst>
          </a:prstGeom>
          <a:solidFill>
            <a:srgbClr val="1B1A3A"/>
          </a:solidFill>
          <a:ln w="12700">
            <a:solidFill>
              <a:srgbClr val="1B1A3A"/>
            </a:solidFill>
            <a:prstDash val="solid"/>
          </a:ln>
        </p:spPr>
      </p:sp>
      <p:sp>
        <p:nvSpPr>
          <p:cNvPr id="18" name="Text 16"/>
          <p:cNvSpPr txBox="1"/>
          <p:nvPr/>
        </p:nvSpPr>
        <p:spPr>
          <a:xfrm>
            <a:off x="457200" y="3758184"/>
            <a:ext cx="3200400" cy="676656"/>
          </a:xfrm>
          <a:prstGeom prst="rect">
            <a:avLst/>
          </a:prstGeom>
          <a:noFill/>
          <a:ln/>
        </p:spPr>
        <p:txBody>
          <a:bodyPr wrap="square" lIns="0" tIns="0" rIns="0" bIns="0" rtlCol="0" anchor="ctr"/>
          <a:lstStyle/>
          <a:p>
            <a:pPr algn="ctr" indent="0" marL="0">
              <a:buNone/>
            </a:pPr>
            <a:r>
              <a:rPr lang="en-US" sz="1300" b="1" dirty="0">
                <a:solidFill>
                  <a:srgbClr val="E8A33D"/>
                </a:solidFill>
                <a:latin typeface="Courier New" pitchFamily="34" charset="0"/>
                <a:ea typeface="Courier New" pitchFamily="34" charset="-122"/>
                <a:cs typeface="Courier New" pitchFamily="34" charset="-120"/>
              </a:rPr>
              <a:t>low-precision reference</a:t>
            </a:r>
            <a:endParaRPr lang="en-US" sz="1300" dirty="0"/>
          </a:p>
        </p:txBody>
      </p:sp>
      <p:sp>
        <p:nvSpPr>
          <p:cNvPr id="19" name="Text 17"/>
          <p:cNvSpPr txBox="1"/>
          <p:nvPr/>
        </p:nvSpPr>
        <p:spPr>
          <a:xfrm>
            <a:off x="3794760" y="3758184"/>
            <a:ext cx="1234440" cy="676656"/>
          </a:xfrm>
          <a:prstGeom prst="rect">
            <a:avLst/>
          </a:prstGeom>
          <a:noFill/>
          <a:ln/>
        </p:spPr>
        <p:txBody>
          <a:bodyPr wrap="square" lIns="0" tIns="0" rIns="0" bIns="0" rtlCol="0" anchor="ctr"/>
          <a:lstStyle/>
          <a:p>
            <a:pPr indent="0" marL="0">
              <a:buNone/>
            </a:pPr>
            <a:r>
              <a:rPr lang="en-US" sz="1200" b="1" dirty="0">
                <a:solidFill>
                  <a:srgbClr val="B3261E"/>
                </a:solidFill>
                <a:latin typeface="Calibri" pitchFamily="34" charset="0"/>
                <a:ea typeface="Calibri" pitchFamily="34" charset="-122"/>
                <a:cs typeface="Calibri" pitchFamily="34" charset="-120"/>
              </a:rPr>
              <a:t>REMAINS</a:t>
            </a:r>
            <a:endParaRPr lang="en-US" sz="1200" dirty="0"/>
          </a:p>
        </p:txBody>
      </p:sp>
      <p:sp>
        <p:nvSpPr>
          <p:cNvPr id="20" name="Text 18"/>
          <p:cNvSpPr txBox="1"/>
          <p:nvPr/>
        </p:nvSpPr>
        <p:spPr>
          <a:xfrm>
            <a:off x="5074920" y="3758184"/>
            <a:ext cx="6659575" cy="676656"/>
          </a:xfrm>
          <a:prstGeom prst="rect">
            <a:avLst/>
          </a:prstGeom>
          <a:noFill/>
          <a:ln/>
        </p:spPr>
        <p:txBody>
          <a:bodyPr wrap="square" lIns="0" tIns="0" rIns="0" bIns="0" rtlCol="0" anchor="ctr"/>
          <a:lstStyle/>
          <a:p>
            <a:pPr indent="0" marL="0">
              <a:buNone/>
            </a:pPr>
            <a:r>
              <a:rPr lang="en-US" sz="1400" dirty="0">
                <a:solidFill>
                  <a:srgbClr val="1F1F24"/>
                </a:solidFill>
                <a:latin typeface="Calibri" pitchFamily="34" charset="0"/>
                <a:ea typeface="Calibri" pitchFamily="34" charset="-122"/>
                <a:cs typeface="Calibri" pitchFamily="34" charset="-120"/>
              </a:rPr>
              <a:t>reference computes in the input dtype (x ** 2 in fp16); correct fp32 kernels FAIL, the overflowing one PASSes</a:t>
            </a:r>
            <a:endParaRPr lang="en-US" sz="1400" dirty="0"/>
          </a:p>
        </p:txBody>
      </p:sp>
      <p:sp>
        <p:nvSpPr>
          <p:cNvPr id="21" name="Shape 19"/>
          <p:cNvSpPr/>
          <p:nvPr/>
        </p:nvSpPr>
        <p:spPr>
          <a:xfrm>
            <a:off x="457200" y="4553712"/>
            <a:ext cx="3200400" cy="676656"/>
          </a:xfrm>
          <a:prstGeom prst="roundRect">
            <a:avLst>
              <a:gd name="adj" fmla="val 10811"/>
            </a:avLst>
          </a:prstGeom>
          <a:solidFill>
            <a:srgbClr val="1B1A3A"/>
          </a:solidFill>
          <a:ln w="12700">
            <a:solidFill>
              <a:srgbClr val="1B1A3A"/>
            </a:solidFill>
            <a:prstDash val="solid"/>
          </a:ln>
        </p:spPr>
      </p:sp>
      <p:sp>
        <p:nvSpPr>
          <p:cNvPr id="22" name="Text 20"/>
          <p:cNvSpPr txBox="1"/>
          <p:nvPr/>
        </p:nvSpPr>
        <p:spPr>
          <a:xfrm>
            <a:off x="457200" y="4553712"/>
            <a:ext cx="3200400" cy="676656"/>
          </a:xfrm>
          <a:prstGeom prst="rect">
            <a:avLst/>
          </a:prstGeom>
          <a:noFill/>
          <a:ln/>
        </p:spPr>
        <p:txBody>
          <a:bodyPr wrap="square" lIns="0" tIns="0" rIns="0" bIns="0" rtlCol="0" anchor="ctr"/>
          <a:lstStyle/>
          <a:p>
            <a:pPr algn="ctr" indent="0" marL="0">
              <a:buNone/>
            </a:pPr>
            <a:r>
              <a:rPr lang="en-US" sz="1300" b="1" dirty="0">
                <a:solidFill>
                  <a:srgbClr val="E8A33D"/>
                </a:solidFill>
                <a:latin typeface="Courier New" pitchFamily="34" charset="0"/>
                <a:ea typeface="Courier New" pitchFamily="34" charset="-122"/>
                <a:cs typeface="Courier New" pitchFamily="34" charset="-120"/>
              </a:rPr>
              <a:t>narrow stability coverage</a:t>
            </a:r>
            <a:endParaRPr lang="en-US" sz="1300" dirty="0"/>
          </a:p>
        </p:txBody>
      </p:sp>
      <p:sp>
        <p:nvSpPr>
          <p:cNvPr id="23" name="Text 21"/>
          <p:cNvSpPr txBox="1"/>
          <p:nvPr/>
        </p:nvSpPr>
        <p:spPr>
          <a:xfrm>
            <a:off x="3794760" y="4553712"/>
            <a:ext cx="1234440" cy="676656"/>
          </a:xfrm>
          <a:prstGeom prst="rect">
            <a:avLst/>
          </a:prstGeom>
          <a:noFill/>
          <a:ln/>
        </p:spPr>
        <p:txBody>
          <a:bodyPr wrap="square" lIns="0" tIns="0" rIns="0" bIns="0" rtlCol="0" anchor="ctr"/>
          <a:lstStyle/>
          <a:p>
            <a:pPr indent="0" marL="0">
              <a:buNone/>
            </a:pPr>
            <a:r>
              <a:rPr lang="en-US" sz="1200" b="1" dirty="0">
                <a:solidFill>
                  <a:srgbClr val="B3261E"/>
                </a:solidFill>
                <a:latin typeface="Calibri" pitchFamily="34" charset="0"/>
                <a:ea typeface="Calibri" pitchFamily="34" charset="-122"/>
                <a:cs typeface="Calibri" pitchFamily="34" charset="-120"/>
              </a:rPr>
              <a:t>REMAINS</a:t>
            </a:r>
            <a:endParaRPr lang="en-US" sz="1200" dirty="0"/>
          </a:p>
        </p:txBody>
      </p:sp>
      <p:sp>
        <p:nvSpPr>
          <p:cNvPr id="24" name="Text 22"/>
          <p:cNvSpPr txBox="1"/>
          <p:nvPr/>
        </p:nvSpPr>
        <p:spPr>
          <a:xfrm>
            <a:off x="5074920" y="4553712"/>
            <a:ext cx="6659575" cy="676656"/>
          </a:xfrm>
          <a:prstGeom prst="rect">
            <a:avLst/>
          </a:prstGeom>
          <a:noFill/>
          <a:ln/>
        </p:spPr>
        <p:txBody>
          <a:bodyPr wrap="square" lIns="0" tIns="0" rIns="0" bIns="0" rtlCol="0" anchor="ctr"/>
          <a:lstStyle/>
          <a:p>
            <a:pPr indent="0" marL="0">
              <a:buNone/>
            </a:pPr>
            <a:r>
              <a:rPr lang="en-US" sz="1400" dirty="0">
                <a:solidFill>
                  <a:srgbClr val="1F1F24"/>
                </a:solidFill>
                <a:latin typeface="Calibri" pitchFamily="34" charset="0"/>
                <a:ea typeface="Calibri" pitchFamily="34" charset="-122"/>
                <a:cs typeface="Calibri" pitchFamily="34" charset="-120"/>
              </a:rPr>
              <a:t>one size (small), one dtype (float16), tolerance × 10</a:t>
            </a:r>
            <a:endParaRPr lang="en-US" sz="1400" dirty="0"/>
          </a:p>
        </p:txBody>
      </p:sp>
      <p:sp>
        <p:nvSpPr>
          <p:cNvPr id="25" name="Shape 23"/>
          <p:cNvSpPr/>
          <p:nvPr/>
        </p:nvSpPr>
        <p:spPr>
          <a:xfrm>
            <a:off x="457200" y="5349240"/>
            <a:ext cx="3200400" cy="676656"/>
          </a:xfrm>
          <a:prstGeom prst="roundRect">
            <a:avLst>
              <a:gd name="adj" fmla="val 10811"/>
            </a:avLst>
          </a:prstGeom>
          <a:solidFill>
            <a:srgbClr val="1B1A3A"/>
          </a:solidFill>
          <a:ln w="12700">
            <a:solidFill>
              <a:srgbClr val="1B1A3A"/>
            </a:solidFill>
            <a:prstDash val="solid"/>
          </a:ln>
        </p:spPr>
      </p:sp>
      <p:sp>
        <p:nvSpPr>
          <p:cNvPr id="26" name="Text 24"/>
          <p:cNvSpPr txBox="1"/>
          <p:nvPr/>
        </p:nvSpPr>
        <p:spPr>
          <a:xfrm>
            <a:off x="457200" y="5349240"/>
            <a:ext cx="3200400" cy="676656"/>
          </a:xfrm>
          <a:prstGeom prst="rect">
            <a:avLst/>
          </a:prstGeom>
          <a:noFill/>
          <a:ln/>
        </p:spPr>
        <p:txBody>
          <a:bodyPr wrap="square" lIns="0" tIns="0" rIns="0" bIns="0" rtlCol="0" anchor="ctr"/>
          <a:lstStyle/>
          <a:p>
            <a:pPr algn="ctr" indent="0" marL="0">
              <a:buNone/>
            </a:pPr>
            <a:r>
              <a:rPr lang="en-US" sz="1300" b="1" dirty="0">
                <a:solidFill>
                  <a:srgbClr val="E8A33D"/>
                </a:solidFill>
                <a:latin typeface="Courier New" pitchFamily="34" charset="0"/>
                <a:ea typeface="Courier New" pitchFamily="34" charset="-122"/>
                <a:cs typeface="Courier New" pitchFamily="34" charset="-120"/>
              </a:rPr>
              <a:t>GPU spec lookup</a:t>
            </a:r>
            <a:endParaRPr lang="en-US" sz="1300" dirty="0"/>
          </a:p>
        </p:txBody>
      </p:sp>
      <p:sp>
        <p:nvSpPr>
          <p:cNvPr id="27" name="Text 25"/>
          <p:cNvSpPr txBox="1"/>
          <p:nvPr/>
        </p:nvSpPr>
        <p:spPr>
          <a:xfrm>
            <a:off x="3794760" y="5349240"/>
            <a:ext cx="1234440" cy="676656"/>
          </a:xfrm>
          <a:prstGeom prst="rect">
            <a:avLst/>
          </a:prstGeom>
          <a:noFill/>
          <a:ln/>
        </p:spPr>
        <p:txBody>
          <a:bodyPr wrap="square" lIns="0" tIns="0" rIns="0" bIns="0" rtlCol="0" anchor="ctr"/>
          <a:lstStyle/>
          <a:p>
            <a:pPr indent="0" marL="0">
              <a:buNone/>
            </a:pPr>
            <a:r>
              <a:rPr lang="en-US" sz="1200" b="1" dirty="0">
                <a:solidFill>
                  <a:srgbClr val="9A5712"/>
                </a:solidFill>
                <a:latin typeface="Calibri" pitchFamily="34" charset="0"/>
                <a:ea typeface="Calibri" pitchFamily="34" charset="-122"/>
                <a:cs typeface="Calibri" pitchFamily="34" charset="-120"/>
              </a:rPr>
              <a:t>IDENTIFIED</a:t>
            </a:r>
            <a:endParaRPr lang="en-US" sz="1200" dirty="0"/>
          </a:p>
        </p:txBody>
      </p:sp>
      <p:sp>
        <p:nvSpPr>
          <p:cNvPr id="28" name="Text 26"/>
          <p:cNvSpPr txBox="1"/>
          <p:nvPr/>
        </p:nvSpPr>
        <p:spPr>
          <a:xfrm>
            <a:off x="5074920" y="5349240"/>
            <a:ext cx="6659575" cy="676656"/>
          </a:xfrm>
          <a:prstGeom prst="rect">
            <a:avLst/>
          </a:prstGeom>
          <a:noFill/>
          <a:ln/>
        </p:spPr>
        <p:txBody>
          <a:bodyPr wrap="square" lIns="0" tIns="0" rIns="0" bIns="0" rtlCol="0" anchor="ctr"/>
          <a:lstStyle/>
          <a:p>
            <a:pPr indent="0" marL="0">
              <a:buNone/>
            </a:pPr>
            <a:r>
              <a:rPr lang="en-US" sz="1400" dirty="0">
                <a:solidFill>
                  <a:srgbClr val="1F1F24"/>
                </a:solidFill>
                <a:latin typeface="Calibri" pitchFamily="34" charset="0"/>
                <a:ea typeface="Calibri" pitchFamily="34" charset="-122"/>
                <a:cs typeface="Calibri" pitchFamily="34" charset="-120"/>
              </a:rPr>
              <a:t>"NVIDIA H100 80GB HBM3" misses "H100 SXM", falls back to 2039 GB/s: rmsnorm reports 113% of peak; vs 3352 GB/s it is 68%</a:t>
            </a:r>
            <a:endParaRPr lang="en-US" sz="1400" dirty="0"/>
          </a:p>
        </p:txBody>
      </p:sp>
      <p:sp>
        <p:nvSpPr>
          <p:cNvPr id="29" name="Text 27"/>
          <p:cNvSpPr txBox="1"/>
          <p:nvPr/>
        </p:nvSpPr>
        <p:spPr>
          <a:xfrm>
            <a:off x="4572000" y="6419088"/>
            <a:ext cx="7162495" cy="256032"/>
          </a:xfrm>
          <a:prstGeom prst="rect">
            <a:avLst/>
          </a:prstGeom>
          <a:noFill/>
          <a:ln/>
        </p:spPr>
        <p:txBody>
          <a:bodyPr wrap="square" lIns="0" tIns="0" rIns="0" bIns="0" rtlCol="0" anchor="ctr"/>
          <a:lstStyle/>
          <a:p>
            <a:pPr algn="r" indent="0" marL="0">
              <a:buNone/>
            </a:pPr>
            <a:r>
              <a:rPr lang="en-US" sz="1000" i="1" dirty="0">
                <a:solidFill>
                  <a:srgbClr val="85848F"/>
                </a:solidFill>
                <a:latin typeface="Calibri" pitchFamily="34" charset="0"/>
                <a:ea typeface="Calibri" pitchFamily="34" charset="-122"/>
                <a:cs typeface="Calibri" pitchFamily="34" charset="-120"/>
              </a:rPr>
              <a:t>results/autokernel_src/bench.py · stage1_baselines.jsonl · CLAUDE.md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1B1A3A"/>
                </a:solidFill>
                <a:latin typeface="Cambria" pitchFamily="34" charset="0"/>
                <a:ea typeface="Cambria" pitchFamily="34" charset="-122"/>
                <a:cs typeface="Cambria" pitchFamily="34" charset="-120"/>
              </a:rPr>
              <a:t>Harness findings II: the KernelBench bridge</a:t>
            </a:r>
            <a:endParaRPr lang="en-US" sz="3000" dirty="0"/>
          </a:p>
        </p:txBody>
      </p:sp>
      <p:sp>
        <p:nvSpPr>
          <p:cNvPr id="3" name="Text 1"/>
          <p:cNvSpPr txBox="1"/>
          <p:nvPr/>
        </p:nvSpPr>
        <p:spPr>
          <a:xfrm>
            <a:off x="457200" y="896112"/>
            <a:ext cx="11277295" cy="329184"/>
          </a:xfrm>
          <a:prstGeom prst="rect">
            <a:avLst/>
          </a:prstGeom>
          <a:noFill/>
          <a:ln/>
        </p:spPr>
        <p:txBody>
          <a:bodyPr wrap="square" lIns="0" tIns="0" rIns="0" bIns="0" rtlCol="0" anchor="ctr"/>
          <a:lstStyle/>
          <a:p>
            <a:pPr indent="0" marL="0">
              <a:buNone/>
            </a:pPr>
            <a:r>
              <a:rPr lang="en-US" sz="1600" i="1" dirty="0">
                <a:solidFill>
                  <a:srgbClr val="9A5712"/>
                </a:solidFill>
                <a:latin typeface="Cambria" pitchFamily="34" charset="0"/>
                <a:ea typeface="Cambria" pitchFamily="34" charset="-122"/>
                <a:cs typeface="Cambria" pitchFamily="34" charset="-120"/>
              </a:rPr>
              <a:t>an identity model must PASS at 1.0×; most problems could not</a:t>
            </a:r>
            <a:endParaRPr lang="en-US" sz="1600" dirty="0"/>
          </a:p>
        </p:txBody>
      </p:sp>
      <p:sp>
        <p:nvSpPr>
          <p:cNvPr id="4" name="Text 2"/>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85848F"/>
                </a:solidFill>
                <a:latin typeface="Calibri" pitchFamily="34" charset="0"/>
                <a:ea typeface="Calibri" pitchFamily="34" charset="-122"/>
                <a:cs typeface="Calibri" pitchFamily="34" charset="-120"/>
              </a:rPr>
              <a:t>Modal re-run, Sept 2026 · 10</a:t>
            </a:r>
            <a:endParaRPr lang="en-US" sz="1000" dirty="0"/>
          </a:p>
        </p:txBody>
      </p:sp>
      <p:pic>
        <p:nvPicPr>
          <p:cNvPr id="5" name="Image 0" descr="/Users/ram/kernel-finetuning/Kernel-Writer-RL-v2/presentation/figures/03_kb_identity_noise.png">    </p:cNvPr>
          <p:cNvPicPr>
            <a:picLocks noChangeAspect="1"/>
          </p:cNvPicPr>
          <p:nvPr/>
        </p:nvPicPr>
        <p:blipFill>
          <a:blip r:embed="rId1"/>
          <a:stretch>
            <a:fillRect/>
          </a:stretch>
        </p:blipFill>
        <p:spPr>
          <a:xfrm>
            <a:off x="457200" y="1371600"/>
            <a:ext cx="6583680" cy="3680505"/>
          </a:xfrm>
          <a:prstGeom prst="rect">
            <a:avLst/>
          </a:prstGeom>
        </p:spPr>
      </p:pic>
      <p:sp>
        <p:nvSpPr>
          <p:cNvPr id="6" name="Shape 3"/>
          <p:cNvSpPr/>
          <p:nvPr/>
        </p:nvSpPr>
        <p:spPr>
          <a:xfrm>
            <a:off x="7315200" y="1371600"/>
            <a:ext cx="2118208" cy="1234440"/>
          </a:xfrm>
          <a:prstGeom prst="roundRect">
            <a:avLst>
              <a:gd name="adj" fmla="val 5926"/>
            </a:avLst>
          </a:prstGeom>
          <a:solidFill>
            <a:srgbClr val="F2F1EC"/>
          </a:solidFill>
          <a:ln w="12700">
            <a:solidFill>
              <a:srgbClr val="F2F1EC"/>
            </a:solidFill>
            <a:prstDash val="solid"/>
          </a:ln>
        </p:spPr>
      </p:sp>
      <p:sp>
        <p:nvSpPr>
          <p:cNvPr id="7" name="Text 4"/>
          <p:cNvSpPr txBox="1"/>
          <p:nvPr/>
        </p:nvSpPr>
        <p:spPr>
          <a:xfrm>
            <a:off x="7479792" y="1481328"/>
            <a:ext cx="1789024" cy="548640"/>
          </a:xfrm>
          <a:prstGeom prst="rect">
            <a:avLst/>
          </a:prstGeom>
          <a:noFill/>
          <a:ln/>
        </p:spPr>
        <p:txBody>
          <a:bodyPr wrap="square" lIns="0" tIns="0" rIns="0" bIns="0" rtlCol="0" anchor="ctr"/>
          <a:lstStyle/>
          <a:p>
            <a:pPr indent="0" marL="0">
              <a:buNone/>
            </a:pPr>
            <a:r>
              <a:rPr lang="en-US" sz="2600" b="1" dirty="0">
                <a:solidFill>
                  <a:srgbClr val="2E2A6B"/>
                </a:solidFill>
                <a:latin typeface="Cambria" pitchFamily="34" charset="0"/>
                <a:ea typeface="Cambria" pitchFamily="34" charset="-122"/>
                <a:cs typeface="Cambria" pitchFamily="34" charset="-120"/>
              </a:rPr>
              <a:t>55/100</a:t>
            </a:r>
            <a:endParaRPr lang="en-US" sz="2600" dirty="0"/>
          </a:p>
        </p:txBody>
      </p:sp>
      <p:sp>
        <p:nvSpPr>
          <p:cNvPr id="8" name="Text 5"/>
          <p:cNvSpPr txBox="1"/>
          <p:nvPr/>
        </p:nvSpPr>
        <p:spPr>
          <a:xfrm>
            <a:off x="7479792" y="2066544"/>
            <a:ext cx="1789024" cy="466344"/>
          </a:xfrm>
          <a:prstGeom prst="rect">
            <a:avLst/>
          </a:prstGeom>
          <a:noFill/>
          <a:ln/>
        </p:spPr>
        <p:txBody>
          <a:bodyPr wrap="square" lIns="0" tIns="0" rIns="0" bIns="0" rtlCol="0" anchor="t"/>
          <a:lstStyle/>
          <a:p>
            <a:pPr indent="0" marL="0">
              <a:buNone/>
            </a:pPr>
            <a:r>
              <a:rPr lang="en-US" sz="1300" dirty="0">
                <a:solidFill>
                  <a:srgbClr val="4A4A55"/>
                </a:solidFill>
                <a:latin typeface="Calibri" pitchFamily="34" charset="0"/>
                <a:ea typeface="Calibri" pitchFamily="34" charset="-122"/>
                <a:cs typeface="Calibri" pitchFamily="34" charset="-120"/>
              </a:rPr>
              <a:t>Level 1 problems harness-valid</a:t>
            </a:r>
            <a:endParaRPr lang="en-US" sz="1300" dirty="0"/>
          </a:p>
        </p:txBody>
      </p:sp>
      <p:sp>
        <p:nvSpPr>
          <p:cNvPr id="9" name="Shape 6"/>
          <p:cNvSpPr/>
          <p:nvPr/>
        </p:nvSpPr>
        <p:spPr>
          <a:xfrm>
            <a:off x="9616288" y="1371600"/>
            <a:ext cx="2118208" cy="1234440"/>
          </a:xfrm>
          <a:prstGeom prst="roundRect">
            <a:avLst>
              <a:gd name="adj" fmla="val 5926"/>
            </a:avLst>
          </a:prstGeom>
          <a:solidFill>
            <a:srgbClr val="F2F1EC"/>
          </a:solidFill>
          <a:ln w="12700">
            <a:solidFill>
              <a:srgbClr val="F2F1EC"/>
            </a:solidFill>
            <a:prstDash val="solid"/>
          </a:ln>
        </p:spPr>
      </p:sp>
      <p:sp>
        <p:nvSpPr>
          <p:cNvPr id="10" name="Text 7"/>
          <p:cNvSpPr txBox="1"/>
          <p:nvPr/>
        </p:nvSpPr>
        <p:spPr>
          <a:xfrm>
            <a:off x="9780880" y="1481328"/>
            <a:ext cx="1789024" cy="548640"/>
          </a:xfrm>
          <a:prstGeom prst="rect">
            <a:avLst/>
          </a:prstGeom>
          <a:noFill/>
          <a:ln/>
        </p:spPr>
        <p:txBody>
          <a:bodyPr wrap="square" lIns="0" tIns="0" rIns="0" bIns="0" rtlCol="0" anchor="ctr"/>
          <a:lstStyle/>
          <a:p>
            <a:pPr indent="0" marL="0">
              <a:buNone/>
            </a:pPr>
            <a:r>
              <a:rPr lang="en-US" sz="2600" b="1" dirty="0">
                <a:solidFill>
                  <a:srgbClr val="2E2A6B"/>
                </a:solidFill>
                <a:latin typeface="Cambria" pitchFamily="34" charset="0"/>
                <a:ea typeface="Cambria" pitchFamily="34" charset="-122"/>
                <a:cs typeface="Cambria" pitchFamily="34" charset="-120"/>
              </a:rPr>
              <a:t>1.000×</a:t>
            </a:r>
            <a:endParaRPr lang="en-US" sz="2600" dirty="0"/>
          </a:p>
        </p:txBody>
      </p:sp>
      <p:sp>
        <p:nvSpPr>
          <p:cNvPr id="11" name="Text 8"/>
          <p:cNvSpPr txBox="1"/>
          <p:nvPr/>
        </p:nvSpPr>
        <p:spPr>
          <a:xfrm>
            <a:off x="9780880" y="2066544"/>
            <a:ext cx="1789024" cy="466344"/>
          </a:xfrm>
          <a:prstGeom prst="rect">
            <a:avLst/>
          </a:prstGeom>
          <a:noFill/>
          <a:ln/>
        </p:spPr>
        <p:txBody>
          <a:bodyPr wrap="square" lIns="0" tIns="0" rIns="0" bIns="0" rtlCol="0" anchor="t"/>
          <a:lstStyle/>
          <a:p>
            <a:pPr indent="0" marL="0">
              <a:buNone/>
            </a:pPr>
            <a:r>
              <a:rPr lang="en-US" sz="1300" dirty="0">
                <a:solidFill>
                  <a:srgbClr val="4A4A55"/>
                </a:solidFill>
                <a:latin typeface="Calibri" pitchFamily="34" charset="0"/>
                <a:ea typeface="Calibri" pitchFamily="34" charset="-122"/>
                <a:cs typeface="Calibri" pitchFamily="34" charset="-120"/>
              </a:rPr>
              <a:t>identity median (p5–p95 1.000–1.007)</a:t>
            </a:r>
            <a:endParaRPr lang="en-US" sz="1300" dirty="0"/>
          </a:p>
        </p:txBody>
      </p:sp>
      <p:sp>
        <p:nvSpPr>
          <p:cNvPr id="12" name="Text 9"/>
          <p:cNvSpPr txBox="1"/>
          <p:nvPr/>
        </p:nvSpPr>
        <p:spPr>
          <a:xfrm>
            <a:off x="7315200" y="2743200"/>
            <a:ext cx="4419295" cy="3474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1F24"/>
                </a:solidFill>
                <a:latin typeface="Calibri" pitchFamily="34" charset="0"/>
                <a:ea typeface="Calibri" pitchFamily="34" charset="-122"/>
                <a:cs typeface="Calibri" pitchFamily="34" charset="-120"/>
              </a:rPr>
              <a:t>super(Model, self): starter renamed to ModelNew keeps it → every starter crashes; identity test uses class ModelNew(Model): pass</a:t>
            </a:r>
            <a:endParaRPr lang="en-US" sz="1300" dirty="0"/>
          </a:p>
          <a:p>
            <a:pPr marL="177800" indent="-177800">
              <a:spcAft>
                <a:spcPts val="600"/>
              </a:spcAft>
              <a:buSzPct val="100000"/>
              <a:buChar char="•"/>
            </a:pPr>
            <a:r>
              <a:rPr lang="en-US" sz="1300" dirty="0">
                <a:solidFill>
                  <a:srgbClr val="1F1F24"/>
                </a:solidFill>
                <a:latin typeface="Calibri" pitchFamily="34" charset="0"/>
                <a:ea typeface="Calibri" pitchFamily="34" charset="-122"/>
                <a:cs typeface="Calibri" pitchFamily="34" charset="-120"/>
              </a:rPr>
              <a:t>unseeded init: reference and candidate get different weights → all 35 conv problems fail for an identical model</a:t>
            </a:r>
            <a:endParaRPr lang="en-US" sz="1300" dirty="0"/>
          </a:p>
          <a:p>
            <a:pPr marL="177800" indent="-177800">
              <a:spcAft>
                <a:spcPts val="600"/>
              </a:spcAft>
              <a:buSzPct val="100000"/>
              <a:buChar char="•"/>
            </a:pPr>
            <a:r>
              <a:rPr lang="en-US" sz="1300" dirty="0">
                <a:solidFill>
                  <a:srgbClr val="1F1F24"/>
                </a:solidFill>
                <a:latin typeface="Calibri" pitchFamily="34" charset="0"/>
                <a:ea typeface="Calibri" pitchFamily="34" charset="-122"/>
                <a:cs typeface="Calibri" pitchFamily="34" charset="-120"/>
              </a:rPr>
              <a:t>CPU get_inputs() in the 30 s trial: 9 huge-input problems time out intermittently, even at cpu=8, 32 GB</a:t>
            </a:r>
            <a:endParaRPr lang="en-US" sz="1300" dirty="0"/>
          </a:p>
          <a:p>
            <a:pPr marL="177800" indent="-177800">
              <a:spcAft>
                <a:spcPts val="600"/>
              </a:spcAft>
              <a:buSzPct val="100000"/>
              <a:buChar char="•"/>
            </a:pPr>
            <a:r>
              <a:rPr lang="en-US" sz="1300" dirty="0">
                <a:solidFill>
                  <a:srgbClr val="1F1F24"/>
                </a:solidFill>
                <a:latin typeface="Calibri" pitchFamily="34" charset="0"/>
                <a:ea typeface="Calibri" pitchFamily="34" charset="-122"/>
                <a:cs typeface="Calibri" pitchFamily="34" charset="-120"/>
              </a:rPr>
              <a:t>listing N.py and N.json: read 1–50 twice; kept as a repeat test: 41/50 same verdict</a:t>
            </a:r>
            <a:endParaRPr lang="en-US" sz="1300" dirty="0"/>
          </a:p>
        </p:txBody>
      </p:sp>
      <p:sp>
        <p:nvSpPr>
          <p:cNvPr id="13" name="Text 10"/>
          <p:cNvSpPr txBox="1"/>
          <p:nvPr/>
        </p:nvSpPr>
        <p:spPr>
          <a:xfrm>
            <a:off x="457200" y="5349240"/>
            <a:ext cx="6583680" cy="822960"/>
          </a:xfrm>
          <a:prstGeom prst="rect">
            <a:avLst/>
          </a:prstGeom>
          <a:noFill/>
          <a:ln/>
        </p:spPr>
        <p:txBody>
          <a:bodyPr wrap="square" lIns="0" tIns="0" rIns="0" bIns="0" rtlCol="0" anchor="t"/>
          <a:lstStyle/>
          <a:p>
            <a:pPr indent="0" marL="0">
              <a:spcAft>
                <a:spcPts val="400"/>
              </a:spcAft>
              <a:buNone/>
            </a:pPr>
            <a:r>
              <a:rPr lang="en-US" sz="1300" dirty="0">
                <a:solidFill>
                  <a:srgbClr val="4A4A55"/>
                </a:solidFill>
                <a:latin typeface="Calibri" pitchFamily="34" charset="0"/>
                <a:ea typeface="Calibri" pitchFamily="34" charset="-122"/>
                <a:cs typeface="Calibri" pitchFamily="34" charset="-120"/>
              </a:rPr>
              <a:t>Timing is trustworthy where the harness is valid (identity within 1%: 57/100); coverage is not. A KB bench costs 20.9 s p50 vs 6.0 s for AutoKernel on L4.</a:t>
            </a:r>
            <a:endParaRPr lang="en-US" sz="1300" dirty="0"/>
          </a:p>
        </p:txBody>
      </p:sp>
      <p:sp>
        <p:nvSpPr>
          <p:cNvPr id="14" name="Text 11"/>
          <p:cNvSpPr txBox="1"/>
          <p:nvPr/>
        </p:nvSpPr>
        <p:spPr>
          <a:xfrm>
            <a:off x="4572000" y="6419088"/>
            <a:ext cx="7162495" cy="256032"/>
          </a:xfrm>
          <a:prstGeom prst="rect">
            <a:avLst/>
          </a:prstGeom>
          <a:noFill/>
          <a:ln/>
        </p:spPr>
        <p:txBody>
          <a:bodyPr wrap="square" lIns="0" tIns="0" rIns="0" bIns="0" rtlCol="0" anchor="ctr"/>
          <a:lstStyle/>
          <a:p>
            <a:pPr algn="r" indent="0" marL="0">
              <a:buNone/>
            </a:pPr>
            <a:r>
              <a:rPr lang="en-US" sz="1000" i="1" dirty="0">
                <a:solidFill>
                  <a:srgbClr val="85848F"/>
                </a:solidFill>
                <a:latin typeface="Calibri" pitchFamily="34" charset="0"/>
                <a:ea typeface="Calibri" pitchFamily="34" charset="-122"/>
                <a:cs typeface="Calibri" pitchFamily="34" charset="-120"/>
              </a:rPr>
              <a:t>KernelBench, arXiv 2502.10517 · results/kb_valid_problems.json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1B1A3A"/>
                </a:solidFill>
                <a:latin typeface="Cambria" pitchFamily="34" charset="0"/>
                <a:ea typeface="Cambria" pitchFamily="34" charset="-122"/>
                <a:cs typeface="Cambria" pitchFamily="34" charset="-120"/>
              </a:rPr>
              <a:t>Timing: what is noise, what is cache</a:t>
            </a:r>
            <a:endParaRPr lang="en-US" sz="3000" dirty="0"/>
          </a:p>
        </p:txBody>
      </p:sp>
      <p:sp>
        <p:nvSpPr>
          <p:cNvPr id="3" name="Text 1"/>
          <p:cNvSpPr txBox="1"/>
          <p:nvPr/>
        </p:nvSpPr>
        <p:spPr>
          <a:xfrm>
            <a:off x="457200" y="896112"/>
            <a:ext cx="11277295" cy="329184"/>
          </a:xfrm>
          <a:prstGeom prst="rect">
            <a:avLst/>
          </a:prstGeom>
          <a:noFill/>
          <a:ln/>
        </p:spPr>
        <p:txBody>
          <a:bodyPr wrap="square" lIns="0" tIns="0" rIns="0" bIns="0" rtlCol="0" anchor="ctr"/>
          <a:lstStyle/>
          <a:p>
            <a:pPr indent="0" marL="0">
              <a:buNone/>
            </a:pPr>
            <a:r>
              <a:rPr lang="en-US" sz="1600" i="1" dirty="0">
                <a:solidFill>
                  <a:srgbClr val="9A5712"/>
                </a:solidFill>
                <a:latin typeface="Cambria" pitchFamily="34" charset="0"/>
                <a:ea typeface="Cambria" pitchFamily="34" charset="-122"/>
                <a:cs typeface="Cambria" pitchFamily="34" charset="-120"/>
              </a:rPr>
              <a:t>a reward difference inside a group is not automatically timing noise</a:t>
            </a:r>
            <a:endParaRPr lang="en-US" sz="1600" dirty="0"/>
          </a:p>
        </p:txBody>
      </p:sp>
      <p:sp>
        <p:nvSpPr>
          <p:cNvPr id="4" name="Text 2"/>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85848F"/>
                </a:solidFill>
                <a:latin typeface="Calibri" pitchFamily="34" charset="0"/>
                <a:ea typeface="Calibri" pitchFamily="34" charset="-122"/>
                <a:cs typeface="Calibri" pitchFamily="34" charset="-120"/>
              </a:rPr>
              <a:t>Modal re-run, Sept 2026 · 11</a:t>
            </a:r>
            <a:endParaRPr lang="en-US" sz="1000" dirty="0"/>
          </a:p>
        </p:txBody>
      </p:sp>
      <p:sp>
        <p:nvSpPr>
          <p:cNvPr id="5" name="Shape 3"/>
          <p:cNvSpPr/>
          <p:nvPr/>
        </p:nvSpPr>
        <p:spPr>
          <a:xfrm>
            <a:off x="457200" y="1371600"/>
            <a:ext cx="2682164" cy="1280160"/>
          </a:xfrm>
          <a:prstGeom prst="roundRect">
            <a:avLst>
              <a:gd name="adj" fmla="val 5714"/>
            </a:avLst>
          </a:prstGeom>
          <a:solidFill>
            <a:srgbClr val="F2F1EC"/>
          </a:solidFill>
          <a:ln w="12700">
            <a:solidFill>
              <a:srgbClr val="F2F1EC"/>
            </a:solidFill>
            <a:prstDash val="solid"/>
          </a:ln>
        </p:spPr>
      </p:sp>
      <p:sp>
        <p:nvSpPr>
          <p:cNvPr id="6" name="Text 4"/>
          <p:cNvSpPr txBox="1"/>
          <p:nvPr/>
        </p:nvSpPr>
        <p:spPr>
          <a:xfrm>
            <a:off x="621792" y="1481328"/>
            <a:ext cx="2352980" cy="548640"/>
          </a:xfrm>
          <a:prstGeom prst="rect">
            <a:avLst/>
          </a:prstGeom>
          <a:noFill/>
          <a:ln/>
        </p:spPr>
        <p:txBody>
          <a:bodyPr wrap="square" lIns="0" tIns="0" rIns="0" bIns="0" rtlCol="0" anchor="ctr"/>
          <a:lstStyle/>
          <a:p>
            <a:pPr indent="0" marL="0">
              <a:buNone/>
            </a:pPr>
            <a:r>
              <a:rPr lang="en-US" sz="2400" b="1" dirty="0">
                <a:solidFill>
                  <a:srgbClr val="2E2A6B"/>
                </a:solidFill>
                <a:latin typeface="Cambria" pitchFamily="34" charset="0"/>
                <a:ea typeface="Cambria" pitchFamily="34" charset="-122"/>
                <a:cs typeface="Cambria" pitchFamily="34" charset="-120"/>
              </a:rPr>
              <a:t>≤ 1.89%</a:t>
            </a:r>
            <a:endParaRPr lang="en-US" sz="2400" dirty="0"/>
          </a:p>
        </p:txBody>
      </p:sp>
      <p:sp>
        <p:nvSpPr>
          <p:cNvPr id="7" name="Text 5"/>
          <p:cNvSpPr txBox="1"/>
          <p:nvPr/>
        </p:nvSpPr>
        <p:spPr>
          <a:xfrm>
            <a:off x="621792" y="2066544"/>
            <a:ext cx="2352980" cy="512064"/>
          </a:xfrm>
          <a:prstGeom prst="rect">
            <a:avLst/>
          </a:prstGeom>
          <a:noFill/>
          <a:ln/>
        </p:spPr>
        <p:txBody>
          <a:bodyPr wrap="square" lIns="0" tIns="0" rIns="0" bIns="0" rtlCol="0" anchor="t"/>
          <a:lstStyle/>
          <a:p>
            <a:pPr indent="0" marL="0">
              <a:buNone/>
            </a:pPr>
            <a:r>
              <a:rPr lang="en-US" sz="1300" dirty="0">
                <a:solidFill>
                  <a:srgbClr val="4A4A55"/>
                </a:solidFill>
                <a:latin typeface="Calibri" pitchFamily="34" charset="0"/>
                <a:ea typeface="Calibri" pitchFamily="34" charset="-122"/>
                <a:cs typeface="Calibri" pitchFamily="34" charset="-120"/>
              </a:rPr>
              <a:t>speedup CV, quick mode, 72 stage1 runs (3 repeats)</a:t>
            </a:r>
            <a:endParaRPr lang="en-US" sz="1300" dirty="0"/>
          </a:p>
        </p:txBody>
      </p:sp>
      <p:sp>
        <p:nvSpPr>
          <p:cNvPr id="8" name="Shape 6"/>
          <p:cNvSpPr/>
          <p:nvPr/>
        </p:nvSpPr>
        <p:spPr>
          <a:xfrm>
            <a:off x="3322244" y="1371600"/>
            <a:ext cx="2682164" cy="1280160"/>
          </a:xfrm>
          <a:prstGeom prst="roundRect">
            <a:avLst>
              <a:gd name="adj" fmla="val 5714"/>
            </a:avLst>
          </a:prstGeom>
          <a:solidFill>
            <a:srgbClr val="F2F1EC"/>
          </a:solidFill>
          <a:ln w="12700">
            <a:solidFill>
              <a:srgbClr val="F2F1EC"/>
            </a:solidFill>
            <a:prstDash val="solid"/>
          </a:ln>
        </p:spPr>
      </p:sp>
      <p:sp>
        <p:nvSpPr>
          <p:cNvPr id="9" name="Text 7"/>
          <p:cNvSpPr txBox="1"/>
          <p:nvPr/>
        </p:nvSpPr>
        <p:spPr>
          <a:xfrm>
            <a:off x="3486836" y="1481328"/>
            <a:ext cx="2352980" cy="548640"/>
          </a:xfrm>
          <a:prstGeom prst="rect">
            <a:avLst/>
          </a:prstGeom>
          <a:noFill/>
          <a:ln/>
        </p:spPr>
        <p:txBody>
          <a:bodyPr wrap="square" lIns="0" tIns="0" rIns="0" bIns="0" rtlCol="0" anchor="ctr"/>
          <a:lstStyle/>
          <a:p>
            <a:pPr indent="0" marL="0">
              <a:buNone/>
            </a:pPr>
            <a:r>
              <a:rPr lang="en-US" sz="2400" b="1" dirty="0">
                <a:solidFill>
                  <a:srgbClr val="2E2A6B"/>
                </a:solidFill>
                <a:latin typeface="Cambria" pitchFamily="34" charset="0"/>
                <a:ea typeface="Cambria" pitchFamily="34" charset="-122"/>
                <a:cs typeface="Cambria" pitchFamily="34" charset="-120"/>
              </a:rPr>
              <a:t>42/162</a:t>
            </a:r>
            <a:endParaRPr lang="en-US" sz="2400" dirty="0"/>
          </a:p>
        </p:txBody>
      </p:sp>
      <p:sp>
        <p:nvSpPr>
          <p:cNvPr id="10" name="Text 8"/>
          <p:cNvSpPr txBox="1"/>
          <p:nvPr/>
        </p:nvSpPr>
        <p:spPr>
          <a:xfrm>
            <a:off x="3486836" y="2066544"/>
            <a:ext cx="2352980" cy="512064"/>
          </a:xfrm>
          <a:prstGeom prst="rect">
            <a:avLst/>
          </a:prstGeom>
          <a:noFill/>
          <a:ln/>
        </p:spPr>
        <p:txBody>
          <a:bodyPr wrap="square" lIns="0" tIns="0" rIns="0" bIns="0" rtlCol="0" anchor="t"/>
          <a:lstStyle/>
          <a:p>
            <a:pPr indent="0" marL="0">
              <a:buNone/>
            </a:pPr>
            <a:r>
              <a:rPr lang="en-US" sz="1300" dirty="0">
                <a:solidFill>
                  <a:srgbClr val="4A4A55"/>
                </a:solidFill>
                <a:latin typeface="Calibri" pitchFamily="34" charset="0"/>
                <a:ea typeface="Calibri" pitchFamily="34" charset="-122"/>
                <a:cs typeface="Calibri" pitchFamily="34" charset="-120"/>
              </a:rPr>
              <a:t>GRPO v1 groups with 0 &lt; σ(reward) &lt; 0.02</a:t>
            </a:r>
            <a:endParaRPr lang="en-US" sz="1300" dirty="0"/>
          </a:p>
        </p:txBody>
      </p:sp>
      <p:sp>
        <p:nvSpPr>
          <p:cNvPr id="11" name="Shape 9"/>
          <p:cNvSpPr/>
          <p:nvPr/>
        </p:nvSpPr>
        <p:spPr>
          <a:xfrm>
            <a:off x="6187288" y="1371600"/>
            <a:ext cx="2682164" cy="1280160"/>
          </a:xfrm>
          <a:prstGeom prst="roundRect">
            <a:avLst>
              <a:gd name="adj" fmla="val 5714"/>
            </a:avLst>
          </a:prstGeom>
          <a:solidFill>
            <a:srgbClr val="F2F1EC"/>
          </a:solidFill>
          <a:ln w="12700">
            <a:solidFill>
              <a:srgbClr val="F2F1EC"/>
            </a:solidFill>
            <a:prstDash val="solid"/>
          </a:ln>
        </p:spPr>
      </p:sp>
      <p:sp>
        <p:nvSpPr>
          <p:cNvPr id="12" name="Text 10"/>
          <p:cNvSpPr txBox="1"/>
          <p:nvPr/>
        </p:nvSpPr>
        <p:spPr>
          <a:xfrm>
            <a:off x="6351880" y="1481328"/>
            <a:ext cx="2352980" cy="548640"/>
          </a:xfrm>
          <a:prstGeom prst="rect">
            <a:avLst/>
          </a:prstGeom>
          <a:noFill/>
          <a:ln/>
        </p:spPr>
        <p:txBody>
          <a:bodyPr wrap="square" lIns="0" tIns="0" rIns="0" bIns="0" rtlCol="0" anchor="ctr"/>
          <a:lstStyle/>
          <a:p>
            <a:pPr indent="0" marL="0">
              <a:buNone/>
            </a:pPr>
            <a:r>
              <a:rPr lang="en-US" sz="2400" b="1" dirty="0">
                <a:solidFill>
                  <a:srgbClr val="B3261E"/>
                </a:solidFill>
                <a:latin typeface="Cambria" pitchFamily="34" charset="0"/>
                <a:ea typeface="Cambria" pitchFamily="34" charset="-122"/>
                <a:cs typeface="Cambria" pitchFamily="34" charset="-120"/>
              </a:rPr>
              <a:t>27/42</a:t>
            </a:r>
            <a:endParaRPr lang="en-US" sz="2400" dirty="0"/>
          </a:p>
        </p:txBody>
      </p:sp>
      <p:sp>
        <p:nvSpPr>
          <p:cNvPr id="13" name="Text 11"/>
          <p:cNvSpPr txBox="1"/>
          <p:nvPr/>
        </p:nvSpPr>
        <p:spPr>
          <a:xfrm>
            <a:off x="6351880" y="2066544"/>
            <a:ext cx="2352980" cy="512064"/>
          </a:xfrm>
          <a:prstGeom prst="rect">
            <a:avLst/>
          </a:prstGeom>
          <a:noFill/>
          <a:ln/>
        </p:spPr>
        <p:txBody>
          <a:bodyPr wrap="square" lIns="0" tIns="0" rIns="0" bIns="0" rtlCol="0" anchor="t"/>
          <a:lstStyle/>
          <a:p>
            <a:pPr indent="0" marL="0">
              <a:buNone/>
            </a:pPr>
            <a:r>
              <a:rPr lang="en-US" sz="1300" dirty="0">
                <a:solidFill>
                  <a:srgbClr val="4A4A55"/>
                </a:solidFill>
                <a:latin typeface="Calibri" pitchFamily="34" charset="0"/>
                <a:ea typeface="Calibri" pitchFamily="34" charset="-122"/>
                <a:cs typeface="Calibri" pitchFamily="34" charset="-120"/>
              </a:rPr>
              <a:t>of those mix PASS and FAIL (not noise)</a:t>
            </a:r>
            <a:endParaRPr lang="en-US" sz="1300" dirty="0"/>
          </a:p>
        </p:txBody>
      </p:sp>
      <p:sp>
        <p:nvSpPr>
          <p:cNvPr id="14" name="Shape 12"/>
          <p:cNvSpPr/>
          <p:nvPr/>
        </p:nvSpPr>
        <p:spPr>
          <a:xfrm>
            <a:off x="9052331" y="1371600"/>
            <a:ext cx="2682164" cy="1280160"/>
          </a:xfrm>
          <a:prstGeom prst="roundRect">
            <a:avLst>
              <a:gd name="adj" fmla="val 5714"/>
            </a:avLst>
          </a:prstGeom>
          <a:solidFill>
            <a:srgbClr val="F2F1EC"/>
          </a:solidFill>
          <a:ln w="12700">
            <a:solidFill>
              <a:srgbClr val="F2F1EC"/>
            </a:solidFill>
            <a:prstDash val="solid"/>
          </a:ln>
        </p:spPr>
      </p:sp>
      <p:sp>
        <p:nvSpPr>
          <p:cNvPr id="15" name="Text 13"/>
          <p:cNvSpPr txBox="1"/>
          <p:nvPr/>
        </p:nvSpPr>
        <p:spPr>
          <a:xfrm>
            <a:off x="9216923" y="1481328"/>
            <a:ext cx="2352980" cy="548640"/>
          </a:xfrm>
          <a:prstGeom prst="rect">
            <a:avLst/>
          </a:prstGeom>
          <a:noFill/>
          <a:ln/>
        </p:spPr>
        <p:txBody>
          <a:bodyPr wrap="square" lIns="0" tIns="0" rIns="0" bIns="0" rtlCol="0" anchor="ctr"/>
          <a:lstStyle/>
          <a:p>
            <a:pPr indent="0" marL="0">
              <a:buNone/>
            </a:pPr>
            <a:r>
              <a:rPr lang="en-US" sz="2400" b="1" dirty="0">
                <a:solidFill>
                  <a:srgbClr val="2E2A6B"/>
                </a:solidFill>
                <a:latin typeface="Cambria" pitchFamily="34" charset="0"/>
                <a:ea typeface="Cambria" pitchFamily="34" charset="-122"/>
                <a:cs typeface="Cambria" pitchFamily="34" charset="-120"/>
              </a:rPr>
              <a:t>201/271</a:t>
            </a:r>
            <a:endParaRPr lang="en-US" sz="2400" dirty="0"/>
          </a:p>
        </p:txBody>
      </p:sp>
      <p:sp>
        <p:nvSpPr>
          <p:cNvPr id="16" name="Text 14"/>
          <p:cNvSpPr txBox="1"/>
          <p:nvPr/>
        </p:nvSpPr>
        <p:spPr>
          <a:xfrm>
            <a:off x="9216923" y="2066544"/>
            <a:ext cx="2352980" cy="512064"/>
          </a:xfrm>
          <a:prstGeom prst="rect">
            <a:avLst/>
          </a:prstGeom>
          <a:noFill/>
          <a:ln/>
        </p:spPr>
        <p:txBody>
          <a:bodyPr wrap="square" lIns="0" tIns="0" rIns="0" bIns="0" rtlCol="0" anchor="t"/>
          <a:lstStyle/>
          <a:p>
            <a:pPr indent="0" marL="0">
              <a:buNone/>
            </a:pPr>
            <a:r>
              <a:rPr lang="en-US" sz="1300" dirty="0">
                <a:solidFill>
                  <a:srgbClr val="4A4A55"/>
                </a:solidFill>
                <a:latin typeface="Calibri" pitchFamily="34" charset="0"/>
                <a:ea typeface="Calibri" pitchFamily="34" charset="-122"/>
                <a:cs typeface="Calibri" pitchFamily="34" charset="-120"/>
              </a:rPr>
              <a:t>best-PASS timings replayed from cache</a:t>
            </a:r>
            <a:endParaRPr lang="en-US" sz="1300" dirty="0"/>
          </a:p>
        </p:txBody>
      </p:sp>
      <p:sp>
        <p:nvSpPr>
          <p:cNvPr id="17" name="Text 15"/>
          <p:cNvSpPr txBox="1"/>
          <p:nvPr/>
        </p:nvSpPr>
        <p:spPr>
          <a:xfrm>
            <a:off x="457200" y="2880360"/>
            <a:ext cx="6583680" cy="365760"/>
          </a:xfrm>
          <a:prstGeom prst="rect">
            <a:avLst/>
          </a:prstGeom>
          <a:noFill/>
          <a:ln/>
        </p:spPr>
        <p:txBody>
          <a:bodyPr wrap="square" lIns="0" tIns="0" rIns="0" bIns="0" rtlCol="0" anchor="ctr"/>
          <a:lstStyle/>
          <a:p>
            <a:pPr indent="0" marL="0">
              <a:buNone/>
            </a:pPr>
            <a:r>
              <a:rPr lang="en-US" sz="1700" b="1" dirty="0">
                <a:solidFill>
                  <a:srgbClr val="1F1F24"/>
                </a:solidFill>
                <a:latin typeface="Cambria" pitchFamily="34" charset="0"/>
                <a:ea typeface="Cambria" pitchFamily="34" charset="-122"/>
                <a:cs typeface="Cambria" pitchFamily="34" charset="-120"/>
              </a:rPr>
              <a:t>What the low-variance groups really contain</a:t>
            </a:r>
            <a:endParaRPr lang="en-US" sz="1700" dirty="0"/>
          </a:p>
        </p:txBody>
      </p:sp>
      <p:sp>
        <p:nvSpPr>
          <p:cNvPr id="18" name="Text 16"/>
          <p:cNvSpPr txBox="1"/>
          <p:nvPr/>
        </p:nvSpPr>
        <p:spPr>
          <a:xfrm>
            <a:off x="457200" y="3291840"/>
            <a:ext cx="6583680" cy="28346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F1F24"/>
                </a:solidFill>
                <a:latin typeface="Calibri" pitchFamily="34" charset="0"/>
                <a:ea typeface="Calibri" pitchFamily="34" charset="-122"/>
                <a:cs typeface="Calibri" pitchFamily="34" charset="-120"/>
              </a:rPr>
              <a:t>27 mix PASS and FAIL: the floor bug put slow PASSes (log2 s &lt; 0) next to failures at 0</a:t>
            </a:r>
            <a:endParaRPr lang="en-US" sz="1400" dirty="0"/>
          </a:p>
          <a:p>
            <a:pPr marL="177800" indent="-177800">
              <a:spcAft>
                <a:spcPts val="600"/>
              </a:spcAft>
              <a:buSzPct val="100000"/>
              <a:buChar char="•"/>
            </a:pPr>
            <a:r>
              <a:rPr lang="en-US" sz="1400" dirty="0">
                <a:solidFill>
                  <a:srgbClr val="1F1F24"/>
                </a:solidFill>
                <a:latin typeface="Calibri" pitchFamily="34" charset="0"/>
                <a:ea typeface="Calibri" pitchFamily="34" charset="-122"/>
                <a:cs typeface="Calibri" pitchFamily="34" charset="-120"/>
              </a:rPr>
              <a:t>15 are all-PASS; 40/42 contain several distinct best-PASS code hashes, so "same kernel, re-timed" is rarely true</a:t>
            </a:r>
            <a:endParaRPr lang="en-US" sz="1400" dirty="0"/>
          </a:p>
          <a:p>
            <a:pPr marL="177800" indent="-177800">
              <a:spcAft>
                <a:spcPts val="600"/>
              </a:spcAft>
              <a:buSzPct val="100000"/>
              <a:buChar char="•"/>
            </a:pPr>
            <a:r>
              <a:rPr lang="en-US" sz="1400" dirty="0">
                <a:solidFill>
                  <a:srgbClr val="1F1F24"/>
                </a:solidFill>
                <a:latin typeface="Calibri" pitchFamily="34" charset="0"/>
                <a:ea typeface="Calibri" pitchFamily="34" charset="-122"/>
                <a:cs typeface="Calibri" pitchFamily="34" charset="-120"/>
              </a:rPr>
              <a:t>a cached result replays one earlier timing: identical code gets identical reward, new code gets a fresh sample</a:t>
            </a:r>
            <a:endParaRPr lang="en-US" sz="1400" dirty="0"/>
          </a:p>
          <a:p>
            <a:pPr marL="177800" indent="-177800">
              <a:spcAft>
                <a:spcPts val="600"/>
              </a:spcAft>
              <a:buSzPct val="100000"/>
              <a:buChar char="•"/>
            </a:pPr>
            <a:r>
              <a:rPr lang="en-US" sz="1400" dirty="0">
                <a:solidFill>
                  <a:srgbClr val="1F1F24"/>
                </a:solidFill>
                <a:latin typeface="Calibri" pitchFamily="34" charset="0"/>
                <a:ea typeface="Calibri" pitchFamily="34" charset="-122"/>
                <a:cs typeface="Calibri" pitchFamily="34" charset="-120"/>
              </a:rPr>
              <a:t>cache hit rate averaged 43.6% (v1) and 45.8% (v2) of benchmarks</a:t>
            </a:r>
            <a:endParaRPr lang="en-US" sz="1400" dirty="0"/>
          </a:p>
        </p:txBody>
      </p:sp>
      <p:sp>
        <p:nvSpPr>
          <p:cNvPr id="19" name="Shape 17"/>
          <p:cNvSpPr/>
          <p:nvPr/>
        </p:nvSpPr>
        <p:spPr>
          <a:xfrm>
            <a:off x="7315200" y="2880360"/>
            <a:ext cx="4419295" cy="3246120"/>
          </a:xfrm>
          <a:prstGeom prst="roundRect">
            <a:avLst>
              <a:gd name="adj" fmla="val 2254"/>
            </a:avLst>
          </a:prstGeom>
          <a:solidFill>
            <a:srgbClr val="EDECF5"/>
          </a:solidFill>
          <a:ln w="12700">
            <a:solidFill>
              <a:srgbClr val="EDECF5"/>
            </a:solidFill>
            <a:prstDash val="solid"/>
          </a:ln>
        </p:spPr>
      </p:sp>
      <p:sp>
        <p:nvSpPr>
          <p:cNvPr id="20" name="Text 18"/>
          <p:cNvSpPr txBox="1"/>
          <p:nvPr/>
        </p:nvSpPr>
        <p:spPr>
          <a:xfrm>
            <a:off x="7543800" y="3017520"/>
            <a:ext cx="3962095" cy="3017520"/>
          </a:xfrm>
          <a:prstGeom prst="rect">
            <a:avLst/>
          </a:prstGeom>
          <a:noFill/>
          <a:ln/>
        </p:spPr>
        <p:txBody>
          <a:bodyPr wrap="square" lIns="0" tIns="0" rIns="0" bIns="0" rtlCol="0" anchor="t"/>
          <a:lstStyle/>
          <a:p>
            <a:pPr indent="0" marL="0">
              <a:spcAft>
                <a:spcPts val="400"/>
              </a:spcAft>
              <a:buNone/>
            </a:pPr>
            <a:r>
              <a:rPr lang="en-US" sz="1400" b="1" dirty="0">
                <a:solidFill>
                  <a:srgbClr val="4A4A55"/>
                </a:solidFill>
                <a:latin typeface="Calibri" pitchFamily="34" charset="0"/>
                <a:ea typeface="Calibri" pitchFamily="34" charset="-122"/>
                <a:cs typeface="Calibri" pitchFamily="34" charset="-120"/>
              </a:rPr>
              <a:t>Noise floor, derived: </a:t>
            </a:r>
            <a:pPr indent="0" marL="0">
              <a:spcAft>
                <a:spcPts val="400"/>
              </a:spcAft>
              <a:buNone/>
            </a:pPr>
            <a:r>
              <a:rPr lang="en-US" sz="1400" dirty="0">
                <a:solidFill>
                  <a:srgbClr val="4A4A55"/>
                </a:solidFill>
                <a:latin typeface="Calibri" pitchFamily="34" charset="0"/>
                <a:ea typeface="Calibri" pitchFamily="34" charset="-122"/>
                <a:cs typeface="Calibri" pitchFamily="34" charset="-120"/>
              </a:rPr>
              <a:t>max CV 1.89% ≈ log2(1 + 0.0189) = 0.027 reward units, so the v2 cutoff σ ≤ 0.02 sits just below it. The remeasure's cold-L2 CV at 4096² is 0.8% over 200 reps.</a:t>
            </a:r>
            <a:endParaRPr lang="en-US" sz="1400" dirty="0"/>
          </a:p>
          <a:p>
            <a:pPr indent="0" marL="0">
              <a:spcAft>
                <a:spcPts val="400"/>
              </a:spcAft>
              <a:buNone/>
            </a:pPr>
            <a:r>
              <a:rPr lang="en-US" sz="600" dirty="0">
                <a:solidFill>
                  <a:srgbClr val="4A4A55"/>
                </a:solidFill>
                <a:latin typeface="Calibri" pitchFamily="34" charset="0"/>
                <a:ea typeface="Calibri" pitchFamily="34" charset="-122"/>
                <a:cs typeface="Calibri" pitchFamily="34" charset="-120"/>
              </a:rPr>
              <a:t> </a:t>
            </a:r>
            <a:endParaRPr lang="en-US" sz="1400" dirty="0"/>
          </a:p>
          <a:p>
            <a:pPr indent="0" marL="0">
              <a:spcAft>
                <a:spcPts val="400"/>
              </a:spcAft>
              <a:buNone/>
            </a:pPr>
            <a:r>
              <a:rPr lang="en-US" sz="1400" b="1" dirty="0">
                <a:solidFill>
                  <a:srgbClr val="4A4A55"/>
                </a:solidFill>
                <a:latin typeface="Calibri" pitchFamily="34" charset="0"/>
                <a:ea typeface="Calibri" pitchFamily="34" charset="-122"/>
                <a:cs typeface="Calibri" pitchFamily="34" charset="-120"/>
              </a:rPr>
              <a:t>Consequence: </a:t>
            </a:r>
            <a:pPr indent="0" marL="0">
              <a:spcAft>
                <a:spcPts val="400"/>
              </a:spcAft>
              <a:buNone/>
            </a:pPr>
            <a:r>
              <a:rPr lang="en-US" sz="1400" dirty="0">
                <a:solidFill>
                  <a:srgbClr val="4A4A55"/>
                </a:solidFill>
                <a:latin typeface="Calibri" pitchFamily="34" charset="0"/>
                <a:ea typeface="Calibri" pitchFamily="34" charset="-122"/>
                <a:cs typeface="Calibri" pitchFamily="34" charset="-120"/>
              </a:rPr>
              <a:t>std-normalised advantages amplify whatever differs inside a group: ordering bugs and cache/fresh mixes as well as timing. Remeasure fixed code uncached before calling anything noise.</a:t>
            </a:r>
            <a:endParaRPr lang="en-US" sz="1400" dirty="0"/>
          </a:p>
        </p:txBody>
      </p:sp>
      <p:sp>
        <p:nvSpPr>
          <p:cNvPr id="21" name="Text 19"/>
          <p:cNvSpPr txBox="1"/>
          <p:nvPr/>
        </p:nvSpPr>
        <p:spPr>
          <a:xfrm>
            <a:off x="4572000" y="6419088"/>
            <a:ext cx="7162495" cy="256032"/>
          </a:xfrm>
          <a:prstGeom prst="rect">
            <a:avLst/>
          </a:prstGeom>
          <a:noFill/>
          <a:ln/>
        </p:spPr>
        <p:txBody>
          <a:bodyPr wrap="square" lIns="0" tIns="0" rIns="0" bIns="0" rtlCol="0" anchor="ctr"/>
          <a:lstStyle/>
          <a:p>
            <a:pPr algn="r" indent="0" marL="0">
              <a:buNone/>
            </a:pPr>
            <a:r>
              <a:rPr lang="en-US" sz="1000" i="1" dirty="0">
                <a:solidFill>
                  <a:srgbClr val="85848F"/>
                </a:solidFill>
                <a:latin typeface="Calibri" pitchFamily="34" charset="0"/>
                <a:ea typeface="Calibri" pitchFamily="34" charset="-122"/>
                <a:cs typeface="Calibri" pitchFamily="34" charset="-120"/>
              </a:rPr>
              <a:t>results/v3/v3_numbers.json (lowvar audit of grpo_v1 rollouts) · bench_modal.cache_key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1B1A3A"/>
                </a:solidFill>
                <a:latin typeface="Cambria" pitchFamily="34" charset="0"/>
                <a:ea typeface="Cambria" pitchFamily="34" charset="-122"/>
                <a:cs typeface="Cambria" pitchFamily="34" charset="-120"/>
              </a:rPr>
              <a:t>The use case: an RL kernel agent</a:t>
            </a:r>
            <a:endParaRPr lang="en-US" sz="3000" dirty="0"/>
          </a:p>
        </p:txBody>
      </p:sp>
      <p:sp>
        <p:nvSpPr>
          <p:cNvPr id="3" name="Text 1"/>
          <p:cNvSpPr txBox="1"/>
          <p:nvPr/>
        </p:nvSpPr>
        <p:spPr>
          <a:xfrm>
            <a:off x="457200" y="896112"/>
            <a:ext cx="11277295" cy="329184"/>
          </a:xfrm>
          <a:prstGeom prst="rect">
            <a:avLst/>
          </a:prstGeom>
          <a:noFill/>
          <a:ln/>
        </p:spPr>
        <p:txBody>
          <a:bodyPr wrap="square" lIns="0" tIns="0" rIns="0" bIns="0" rtlCol="0" anchor="ctr"/>
          <a:lstStyle/>
          <a:p>
            <a:pPr indent="0" marL="0">
              <a:buNone/>
            </a:pPr>
            <a:r>
              <a:rPr lang="en-US" sz="1600" i="1" dirty="0">
                <a:solidFill>
                  <a:srgbClr val="9A5712"/>
                </a:solidFill>
                <a:latin typeface="Cambria" pitchFamily="34" charset="0"/>
                <a:ea typeface="Cambria" pitchFamily="34" charset="-122"/>
                <a:cs typeface="Cambria" pitchFamily="34" charset="-120"/>
              </a:rPr>
              <a:t>the harness is the reward, so its defects become the gradient</a:t>
            </a:r>
            <a:endParaRPr lang="en-US" sz="1600" dirty="0"/>
          </a:p>
        </p:txBody>
      </p:sp>
      <p:sp>
        <p:nvSpPr>
          <p:cNvPr id="4" name="Text 2"/>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85848F"/>
                </a:solidFill>
                <a:latin typeface="Calibri" pitchFamily="34" charset="0"/>
                <a:ea typeface="Calibri" pitchFamily="34" charset="-122"/>
                <a:cs typeface="Calibri" pitchFamily="34" charset="-120"/>
              </a:rPr>
              <a:t>Modal re-run, Sept 2026 · 12</a:t>
            </a:r>
            <a:endParaRPr lang="en-US" sz="1000" dirty="0"/>
          </a:p>
        </p:txBody>
      </p:sp>
      <p:pic>
        <p:nvPicPr>
          <p:cNvPr id="5" name="Image 0" descr="/Users/ram/kernel-finetuning/Kernel-Writer-RL-v2/presentation/figures/01_architecture.png">    </p:cNvPr>
          <p:cNvPicPr>
            <a:picLocks noChangeAspect="1"/>
          </p:cNvPicPr>
          <p:nvPr/>
        </p:nvPicPr>
        <p:blipFill>
          <a:blip r:embed="rId1"/>
          <a:stretch>
            <a:fillRect/>
          </a:stretch>
        </p:blipFill>
        <p:spPr>
          <a:xfrm>
            <a:off x="457200" y="1325880"/>
            <a:ext cx="6949440" cy="2790472"/>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680960" y="1371600"/>
          <a:ext cx="4053535" cy="914400"/>
        </p:xfrm>
        <a:graphic>
          <a:graphicData uri="http://schemas.openxmlformats.org/drawingml/2006/table">
            <a:tbl>
              <a:tblPr/>
              <a:tblGrid>
                <a:gridCol w="1234440"/>
                <a:gridCol w="2819095"/>
              </a:tblGrid>
              <a:tr h="420624">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policy</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Qwen2.5-Coder-7B-Instruct + LoRA r=64</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r>
              <a:tr h="420624">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tasks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l" indent="0" marL="0">
                        <a:buNone/>
                      </a:pPr>
                      <a:r>
                        <a:rPr lang="en-US" sz="1300" dirty="0">
                          <a:solidFill>
                            <a:srgbClr val="1F1F24"/>
                          </a:solidFill>
                          <a:latin typeface="Calibri" pitchFamily="34" charset="0"/>
                          <a:ea typeface="Calibri" pitchFamily="34" charset="-122"/>
                          <a:cs typeface="Calibri" pitchFamily="34" charset="-120"/>
                        </a:rPr>
                        <a:t>9 AutoKernel kernel types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420624">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episode</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l" indent="0" marL="0">
                        <a:buNone/>
                      </a:pPr>
                      <a:r>
                        <a:rPr lang="en-US" sz="1300" dirty="0">
                          <a:solidFill>
                            <a:srgbClr val="1F1F24"/>
                          </a:solidFill>
                          <a:latin typeface="Calibri" pitchFamily="34" charset="0"/>
                          <a:ea typeface="Calibri" pitchFamily="34" charset="-122"/>
                          <a:cs typeface="Calibri" pitchFamily="34" charset="-120"/>
                        </a:rPr>
                        <a:t>≤ 4 turns: write kernel, get bench feedback</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420624">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group</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l" indent="0" marL="0">
                        <a:buNone/>
                      </a:pPr>
                      <a:r>
                        <a:rPr lang="en-US" sz="1300" dirty="0">
                          <a:solidFill>
                            <a:srgbClr val="1F1F24"/>
                          </a:solidFill>
                          <a:latin typeface="Calibri" pitchFamily="34" charset="0"/>
                          <a:ea typeface="Calibri" pitchFamily="34" charset="-122"/>
                          <a:cs typeface="Calibri" pitchFamily="34" charset="-120"/>
                        </a:rPr>
                        <a:t>8 episodes/task, 72/step</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420624">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benchmarks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l" indent="0" marL="0">
                        <a:buNone/>
                      </a:pPr>
                      <a:r>
                        <a:rPr lang="en-US" sz="1300" dirty="0">
                          <a:solidFill>
                            <a:srgbClr val="1F1F24"/>
                          </a:solidFill>
                          <a:latin typeface="Calibri" pitchFamily="34" charset="0"/>
                          <a:ea typeface="Calibri" pitchFamily="34" charset="-122"/>
                          <a:cs typeface="Calibri" pitchFamily="34" charset="-120"/>
                        </a:rPr>
                        <a:t>≤ 288 per step, ≤ 8 L4 containers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420624">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runs</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l" indent="0" marL="0">
                        <a:buNone/>
                      </a:pPr>
                      <a:r>
                        <a:rPr lang="en-US" sz="1300" dirty="0">
                          <a:solidFill>
                            <a:srgbClr val="1F1F24"/>
                          </a:solidFill>
                          <a:latin typeface="Calibri" pitchFamily="34" charset="0"/>
                          <a:ea typeface="Calibri" pitchFamily="34" charset="-122"/>
                          <a:cs typeface="Calibri" pitchFamily="34" charset="-120"/>
                        </a:rPr>
                        <a:t>v1 18 steps, v2 10 steps; one each</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bl>
          </a:graphicData>
        </a:graphic>
      </p:graphicFrame>
      <p:sp>
        <p:nvSpPr>
          <p:cNvPr id="7" name="Shape 3"/>
          <p:cNvSpPr/>
          <p:nvPr/>
        </p:nvSpPr>
        <p:spPr>
          <a:xfrm>
            <a:off x="7680960" y="4069080"/>
            <a:ext cx="4053535" cy="1188720"/>
          </a:xfrm>
          <a:prstGeom prst="roundRect">
            <a:avLst>
              <a:gd name="adj" fmla="val 6154"/>
            </a:avLst>
          </a:prstGeom>
          <a:solidFill>
            <a:srgbClr val="F2F1EC"/>
          </a:solidFill>
          <a:ln w="12700">
            <a:solidFill>
              <a:srgbClr val="F2F1EC"/>
            </a:solidFill>
            <a:prstDash val="solid"/>
          </a:ln>
        </p:spPr>
      </p:sp>
      <p:sp>
        <p:nvSpPr>
          <p:cNvPr id="8" name="Text 4"/>
          <p:cNvSpPr txBox="1"/>
          <p:nvPr/>
        </p:nvSpPr>
        <p:spPr>
          <a:xfrm>
            <a:off x="7845552" y="4178808"/>
            <a:ext cx="3724351" cy="548640"/>
          </a:xfrm>
          <a:prstGeom prst="rect">
            <a:avLst/>
          </a:prstGeom>
          <a:noFill/>
          <a:ln/>
        </p:spPr>
        <p:txBody>
          <a:bodyPr wrap="square" lIns="0" tIns="0" rIns="0" bIns="0" rtlCol="0" anchor="ctr"/>
          <a:lstStyle/>
          <a:p>
            <a:pPr indent="0" marL="0">
              <a:buNone/>
            </a:pPr>
            <a:r>
              <a:rPr lang="en-US" sz="2600" b="1" dirty="0">
                <a:solidFill>
                  <a:srgbClr val="2E2A6B"/>
                </a:solidFill>
                <a:latin typeface="Cambria" pitchFamily="34" charset="0"/>
                <a:ea typeface="Cambria" pitchFamily="34" charset="-122"/>
                <a:cs typeface="Cambria" pitchFamily="34" charset="-120"/>
              </a:rPr>
              <a:t>60.5%</a:t>
            </a:r>
            <a:endParaRPr lang="en-US" sz="2600" dirty="0"/>
          </a:p>
        </p:txBody>
      </p:sp>
      <p:sp>
        <p:nvSpPr>
          <p:cNvPr id="9" name="Text 5"/>
          <p:cNvSpPr txBox="1"/>
          <p:nvPr/>
        </p:nvSpPr>
        <p:spPr>
          <a:xfrm>
            <a:off x="7845552" y="4764024"/>
            <a:ext cx="3724351" cy="420624"/>
          </a:xfrm>
          <a:prstGeom prst="rect">
            <a:avLst/>
          </a:prstGeom>
          <a:noFill/>
          <a:ln/>
        </p:spPr>
        <p:txBody>
          <a:bodyPr wrap="square" lIns="0" tIns="0" rIns="0" bIns="0" rtlCol="0" anchor="t"/>
          <a:lstStyle/>
          <a:p>
            <a:pPr indent="0" marL="0">
              <a:buNone/>
            </a:pPr>
            <a:r>
              <a:rPr lang="en-US" sz="1300" dirty="0">
                <a:solidFill>
                  <a:srgbClr val="4A4A55"/>
                </a:solidFill>
                <a:latin typeface="Calibri" pitchFamily="34" charset="0"/>
                <a:ea typeface="Calibri" pitchFamily="34" charset="-122"/>
                <a:cs typeface="Calibri" pitchFamily="34" charset="-120"/>
              </a:rPr>
              <a:t>of a v1 step's wall time is benchmarking (generation 32.8%)</a:t>
            </a:r>
            <a:endParaRPr lang="en-US" sz="1300" dirty="0"/>
          </a:p>
        </p:txBody>
      </p:sp>
      <p:sp>
        <p:nvSpPr>
          <p:cNvPr id="10" name="Text 6"/>
          <p:cNvSpPr txBox="1"/>
          <p:nvPr/>
        </p:nvSpPr>
        <p:spPr>
          <a:xfrm>
            <a:off x="457200" y="5440680"/>
            <a:ext cx="11277295" cy="640080"/>
          </a:xfrm>
          <a:prstGeom prst="rect">
            <a:avLst/>
          </a:prstGeom>
          <a:noFill/>
          <a:ln/>
        </p:spPr>
        <p:txBody>
          <a:bodyPr wrap="square" lIns="0" tIns="0" rIns="0" bIns="0" rtlCol="0" anchor="t"/>
          <a:lstStyle/>
          <a:p>
            <a:pPr indent="0" marL="0">
              <a:spcAft>
                <a:spcPts val="400"/>
              </a:spcAft>
              <a:buNone/>
            </a:pPr>
            <a:r>
              <a:rPr lang="en-US" sz="1500" i="1" dirty="0">
                <a:solidFill>
                  <a:srgbClr val="4A4A55"/>
                </a:solidFill>
                <a:latin typeface="Calibri" pitchFamily="34" charset="0"/>
                <a:ea typeface="Calibri" pitchFamily="34" charset="-122"/>
                <a:cs typeface="Calibri" pitchFamily="34" charset="-120"/>
              </a:rPr>
              <a:t>The verifier is both the bottleneck and the signal: every defect on the last slides was paid for in wall time and in reward.</a:t>
            </a:r>
            <a:endParaRPr lang="en-US" sz="1500" dirty="0"/>
          </a:p>
        </p:txBody>
      </p:sp>
      <p:sp>
        <p:nvSpPr>
          <p:cNvPr id="11" name="Text 7"/>
          <p:cNvSpPr txBox="1"/>
          <p:nvPr/>
        </p:nvSpPr>
        <p:spPr>
          <a:xfrm>
            <a:off x="4572000" y="6419088"/>
            <a:ext cx="7162495" cy="256032"/>
          </a:xfrm>
          <a:prstGeom prst="rect">
            <a:avLst/>
          </a:prstGeom>
          <a:noFill/>
          <a:ln/>
        </p:spPr>
        <p:txBody>
          <a:bodyPr wrap="square" lIns="0" tIns="0" rIns="0" bIns="0" rtlCol="0" anchor="ctr"/>
          <a:lstStyle/>
          <a:p>
            <a:pPr algn="r" indent="0" marL="0">
              <a:buNone/>
            </a:pPr>
            <a:r>
              <a:rPr lang="en-US" sz="1000" i="1" dirty="0">
                <a:solidFill>
                  <a:srgbClr val="85848F"/>
                </a:solidFill>
                <a:latin typeface="Calibri" pitchFamily="34" charset="0"/>
                <a:ea typeface="Calibri" pitchFamily="34" charset="-122"/>
                <a:cs typeface="Calibri" pitchFamily="34" charset="-120"/>
              </a:rPr>
              <a:t>modal_app/train_grpo.py, policy.py, bench_modal.py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1B1A3A"/>
                </a:solidFill>
                <a:latin typeface="Cambria" pitchFamily="34" charset="0"/>
                <a:ea typeface="Cambria" pitchFamily="34" charset="-122"/>
                <a:cs typeface="Cambria" pitchFamily="34" charset="-120"/>
              </a:rPr>
              <a:t>Verification quality set training-signal quality</a:t>
            </a:r>
            <a:endParaRPr lang="en-US" sz="3000" dirty="0"/>
          </a:p>
        </p:txBody>
      </p:sp>
      <p:sp>
        <p:nvSpPr>
          <p:cNvPr id="3" name="Text 1"/>
          <p:cNvSpPr txBox="1"/>
          <p:nvPr/>
        </p:nvSpPr>
        <p:spPr>
          <a:xfrm>
            <a:off x="457200" y="896112"/>
            <a:ext cx="11277295" cy="329184"/>
          </a:xfrm>
          <a:prstGeom prst="rect">
            <a:avLst/>
          </a:prstGeom>
          <a:noFill/>
          <a:ln/>
        </p:spPr>
        <p:txBody>
          <a:bodyPr wrap="square" lIns="0" tIns="0" rIns="0" bIns="0" rtlCol="0" anchor="ctr"/>
          <a:lstStyle/>
          <a:p>
            <a:pPr indent="0" marL="0">
              <a:buNone/>
            </a:pPr>
            <a:r>
              <a:rPr lang="en-US" sz="1600" i="1" dirty="0">
                <a:solidFill>
                  <a:srgbClr val="9A5712"/>
                </a:solidFill>
                <a:latin typeface="Cambria" pitchFamily="34" charset="0"/>
                <a:ea typeface="Cambria" pitchFamily="34" charset="-122"/>
                <a:cs typeface="Cambria" pitchFamily="34" charset="-120"/>
              </a:rPr>
              <a:t>65% of GRPO groups had zero advantage under the naive reward</a:t>
            </a:r>
            <a:endParaRPr lang="en-US" sz="1600" dirty="0"/>
          </a:p>
        </p:txBody>
      </p:sp>
      <p:sp>
        <p:nvSpPr>
          <p:cNvPr id="4" name="Text 2"/>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85848F"/>
                </a:solidFill>
                <a:latin typeface="Calibri" pitchFamily="34" charset="0"/>
                <a:ea typeface="Calibri" pitchFamily="34" charset="-122"/>
                <a:cs typeface="Calibri" pitchFamily="34" charset="-120"/>
              </a:rPr>
              <a:t>Modal re-run, Sept 2026 · 13</a:t>
            </a:r>
            <a:endParaRPr lang="en-US" sz="1000" dirty="0"/>
          </a:p>
        </p:txBody>
      </p:sp>
      <p:pic>
        <p:nvPicPr>
          <p:cNvPr id="5" name="Image 0" descr="/Users/ram/kernel-finetuning/Kernel-Writer-RL-v2/presentation/figures/09_grpo_curves.png">    </p:cNvPr>
          <p:cNvPicPr>
            <a:picLocks noChangeAspect="1"/>
          </p:cNvPicPr>
          <p:nvPr/>
        </p:nvPicPr>
        <p:blipFill>
          <a:blip r:embed="rId1"/>
          <a:stretch>
            <a:fillRect/>
          </a:stretch>
        </p:blipFill>
        <p:spPr>
          <a:xfrm>
            <a:off x="457200" y="1371600"/>
            <a:ext cx="6675120" cy="1948219"/>
          </a:xfrm>
          <a:prstGeom prst="rect">
            <a:avLst/>
          </a:prstGeom>
        </p:spPr>
      </p:pic>
      <p:sp>
        <p:nvSpPr>
          <p:cNvPr id="6" name="Shape 3"/>
          <p:cNvSpPr/>
          <p:nvPr/>
        </p:nvSpPr>
        <p:spPr>
          <a:xfrm>
            <a:off x="7406640" y="1371600"/>
            <a:ext cx="2072488" cy="1463040"/>
          </a:xfrm>
          <a:prstGeom prst="roundRect">
            <a:avLst>
              <a:gd name="adj" fmla="val 5000"/>
            </a:avLst>
          </a:prstGeom>
          <a:solidFill>
            <a:srgbClr val="F2F1EC"/>
          </a:solidFill>
          <a:ln w="12700">
            <a:solidFill>
              <a:srgbClr val="F2F1EC"/>
            </a:solidFill>
            <a:prstDash val="solid"/>
          </a:ln>
        </p:spPr>
      </p:sp>
      <p:sp>
        <p:nvSpPr>
          <p:cNvPr id="7" name="Text 4"/>
          <p:cNvSpPr txBox="1"/>
          <p:nvPr/>
        </p:nvSpPr>
        <p:spPr>
          <a:xfrm>
            <a:off x="7571232" y="1481328"/>
            <a:ext cx="1743304" cy="548640"/>
          </a:xfrm>
          <a:prstGeom prst="rect">
            <a:avLst/>
          </a:prstGeom>
          <a:noFill/>
          <a:ln/>
        </p:spPr>
        <p:txBody>
          <a:bodyPr wrap="square" lIns="0" tIns="0" rIns="0" bIns="0" rtlCol="0" anchor="ctr"/>
          <a:lstStyle/>
          <a:p>
            <a:pPr indent="0" marL="0">
              <a:buNone/>
            </a:pPr>
            <a:r>
              <a:rPr lang="en-US" sz="2400" b="1" dirty="0">
                <a:solidFill>
                  <a:srgbClr val="2E2A6B"/>
                </a:solidFill>
                <a:latin typeface="Cambria" pitchFamily="34" charset="0"/>
                <a:ea typeface="Cambria" pitchFamily="34" charset="-122"/>
                <a:cs typeface="Cambria" pitchFamily="34" charset="-120"/>
              </a:rPr>
              <a:t>65% → 38%</a:t>
            </a:r>
            <a:endParaRPr lang="en-US" sz="2400" dirty="0"/>
          </a:p>
        </p:txBody>
      </p:sp>
      <p:sp>
        <p:nvSpPr>
          <p:cNvPr id="8" name="Text 5"/>
          <p:cNvSpPr txBox="1"/>
          <p:nvPr/>
        </p:nvSpPr>
        <p:spPr>
          <a:xfrm>
            <a:off x="7571232" y="2066544"/>
            <a:ext cx="1743304" cy="694944"/>
          </a:xfrm>
          <a:prstGeom prst="rect">
            <a:avLst/>
          </a:prstGeom>
          <a:noFill/>
          <a:ln/>
        </p:spPr>
        <p:txBody>
          <a:bodyPr wrap="square" lIns="0" tIns="0" rIns="0" bIns="0" rtlCol="0" anchor="t"/>
          <a:lstStyle/>
          <a:p>
            <a:pPr indent="0" marL="0">
              <a:buNone/>
            </a:pPr>
            <a:r>
              <a:rPr lang="en-US" sz="1300" dirty="0">
                <a:solidFill>
                  <a:srgbClr val="4A4A55"/>
                </a:solidFill>
                <a:latin typeface="Calibri" pitchFamily="34" charset="0"/>
                <a:ea typeface="Calibri" pitchFamily="34" charset="-122"/>
                <a:cs typeface="Calibri" pitchFamily="34" charset="-120"/>
              </a:rPr>
              <a:t>zero-advantage groups, v1 → v2 reward</a:t>
            </a:r>
            <a:endParaRPr lang="en-US" sz="1300" dirty="0"/>
          </a:p>
        </p:txBody>
      </p:sp>
      <p:sp>
        <p:nvSpPr>
          <p:cNvPr id="9" name="Shape 6"/>
          <p:cNvSpPr/>
          <p:nvPr/>
        </p:nvSpPr>
        <p:spPr>
          <a:xfrm>
            <a:off x="9662008" y="1371600"/>
            <a:ext cx="2072488" cy="1463040"/>
          </a:xfrm>
          <a:prstGeom prst="roundRect">
            <a:avLst>
              <a:gd name="adj" fmla="val 5000"/>
            </a:avLst>
          </a:prstGeom>
          <a:solidFill>
            <a:srgbClr val="F2F1EC"/>
          </a:solidFill>
          <a:ln w="12700">
            <a:solidFill>
              <a:srgbClr val="F2F1EC"/>
            </a:solidFill>
            <a:prstDash val="solid"/>
          </a:ln>
        </p:spPr>
      </p:sp>
      <p:sp>
        <p:nvSpPr>
          <p:cNvPr id="10" name="Text 7"/>
          <p:cNvSpPr txBox="1"/>
          <p:nvPr/>
        </p:nvSpPr>
        <p:spPr>
          <a:xfrm>
            <a:off x="9826600" y="1481328"/>
            <a:ext cx="1743304" cy="548640"/>
          </a:xfrm>
          <a:prstGeom prst="rect">
            <a:avLst/>
          </a:prstGeom>
          <a:noFill/>
          <a:ln/>
        </p:spPr>
        <p:txBody>
          <a:bodyPr wrap="square" lIns="0" tIns="0" rIns="0" bIns="0" rtlCol="0" anchor="ctr"/>
          <a:lstStyle/>
          <a:p>
            <a:pPr indent="0" marL="0">
              <a:buNone/>
            </a:pPr>
            <a:r>
              <a:rPr lang="en-US" sz="2400" b="1" dirty="0">
                <a:solidFill>
                  <a:srgbClr val="B3261E"/>
                </a:solidFill>
                <a:latin typeface="Cambria" pitchFamily="34" charset="0"/>
                <a:ea typeface="Cambria" pitchFamily="34" charset="-122"/>
                <a:cs typeface="Cambria" pitchFamily="34" charset="-120"/>
              </a:rPr>
              <a:t>−0.020</a:t>
            </a:r>
            <a:endParaRPr lang="en-US" sz="2400" dirty="0"/>
          </a:p>
        </p:txBody>
      </p:sp>
      <p:sp>
        <p:nvSpPr>
          <p:cNvPr id="11" name="Text 8"/>
          <p:cNvSpPr txBox="1"/>
          <p:nvPr/>
        </p:nvSpPr>
        <p:spPr>
          <a:xfrm>
            <a:off x="9826600" y="2066544"/>
            <a:ext cx="1743304" cy="694944"/>
          </a:xfrm>
          <a:prstGeom prst="rect">
            <a:avLst/>
          </a:prstGeom>
          <a:noFill/>
          <a:ln/>
        </p:spPr>
        <p:txBody>
          <a:bodyPr wrap="square" lIns="0" tIns="0" rIns="0" bIns="0" rtlCol="0" anchor="t"/>
          <a:lstStyle/>
          <a:p>
            <a:pPr indent="0" marL="0">
              <a:buNone/>
            </a:pPr>
            <a:r>
              <a:rPr lang="en-US" sz="1300" dirty="0">
                <a:solidFill>
                  <a:srgbClr val="4A4A55"/>
                </a:solidFill>
                <a:latin typeface="Calibri" pitchFamily="34" charset="0"/>
                <a:ea typeface="Calibri" pitchFamily="34" charset="-122"/>
                <a:cs typeface="Calibri" pitchFamily="34" charset="-120"/>
              </a:rPr>
              <a:t>v1 reward for a correct reduce at 0.986× (crash = 0)</a:t>
            </a:r>
            <a:endParaRPr lang="en-US" sz="1300" dirty="0"/>
          </a:p>
        </p:txBody>
      </p:sp>
      <p:sp>
        <p:nvSpPr>
          <p:cNvPr id="12" name="Shape 9"/>
          <p:cNvSpPr/>
          <p:nvPr/>
        </p:nvSpPr>
        <p:spPr>
          <a:xfrm>
            <a:off x="7406640" y="3017520"/>
            <a:ext cx="2072488" cy="1463040"/>
          </a:xfrm>
          <a:prstGeom prst="roundRect">
            <a:avLst>
              <a:gd name="adj" fmla="val 5000"/>
            </a:avLst>
          </a:prstGeom>
          <a:solidFill>
            <a:srgbClr val="F2F1EC"/>
          </a:solidFill>
          <a:ln w="12700">
            <a:solidFill>
              <a:srgbClr val="F2F1EC"/>
            </a:solidFill>
            <a:prstDash val="solid"/>
          </a:ln>
        </p:spPr>
      </p:sp>
      <p:sp>
        <p:nvSpPr>
          <p:cNvPr id="13" name="Text 10"/>
          <p:cNvSpPr txBox="1"/>
          <p:nvPr/>
        </p:nvSpPr>
        <p:spPr>
          <a:xfrm>
            <a:off x="7571232" y="3127248"/>
            <a:ext cx="1743304" cy="548640"/>
          </a:xfrm>
          <a:prstGeom prst="rect">
            <a:avLst/>
          </a:prstGeom>
          <a:noFill/>
          <a:ln/>
        </p:spPr>
        <p:txBody>
          <a:bodyPr wrap="square" lIns="0" tIns="0" rIns="0" bIns="0" rtlCol="0" anchor="ctr"/>
          <a:lstStyle/>
          <a:p>
            <a:pPr indent="0" marL="0">
              <a:buNone/>
            </a:pPr>
            <a:r>
              <a:rPr lang="en-US" sz="2400" b="1" dirty="0">
                <a:solidFill>
                  <a:srgbClr val="2E2A6B"/>
                </a:solidFill>
                <a:latin typeface="Cambria" pitchFamily="34" charset="0"/>
                <a:ea typeface="Cambria" pitchFamily="34" charset="-122"/>
                <a:cs typeface="Cambria" pitchFamily="34" charset="-120"/>
              </a:rPr>
              <a:t>78.9%</a:t>
            </a:r>
            <a:endParaRPr lang="en-US" sz="2400" dirty="0"/>
          </a:p>
        </p:txBody>
      </p:sp>
      <p:sp>
        <p:nvSpPr>
          <p:cNvPr id="14" name="Text 11"/>
          <p:cNvSpPr txBox="1"/>
          <p:nvPr/>
        </p:nvSpPr>
        <p:spPr>
          <a:xfrm>
            <a:off x="7571232" y="3712464"/>
            <a:ext cx="1743304" cy="694944"/>
          </a:xfrm>
          <a:prstGeom prst="rect">
            <a:avLst/>
          </a:prstGeom>
          <a:noFill/>
          <a:ln/>
        </p:spPr>
        <p:txBody>
          <a:bodyPr wrap="square" lIns="0" tIns="0" rIns="0" bIns="0" rtlCol="0" anchor="t"/>
          <a:lstStyle/>
          <a:p>
            <a:pPr indent="0" marL="0">
              <a:buNone/>
            </a:pPr>
            <a:r>
              <a:rPr lang="en-US" sz="1300" dirty="0">
                <a:solidFill>
                  <a:srgbClr val="4A4A55"/>
                </a:solidFill>
                <a:latin typeface="Calibri" pitchFamily="34" charset="0"/>
                <a:ea typeface="Calibri" pitchFamily="34" charset="-122"/>
                <a:cs typeface="Calibri" pitchFamily="34" charset="-120"/>
              </a:rPr>
              <a:t>of v1 |A| from σ &lt; 0.02 groups; 27/42 mix PASS/FAIL</a:t>
            </a:r>
            <a:endParaRPr lang="en-US" sz="1300" dirty="0"/>
          </a:p>
        </p:txBody>
      </p:sp>
      <p:sp>
        <p:nvSpPr>
          <p:cNvPr id="15" name="Shape 12"/>
          <p:cNvSpPr/>
          <p:nvPr/>
        </p:nvSpPr>
        <p:spPr>
          <a:xfrm>
            <a:off x="9662008" y="3017520"/>
            <a:ext cx="2072488" cy="1463040"/>
          </a:xfrm>
          <a:prstGeom prst="roundRect">
            <a:avLst>
              <a:gd name="adj" fmla="val 5000"/>
            </a:avLst>
          </a:prstGeom>
          <a:solidFill>
            <a:srgbClr val="F2F1EC"/>
          </a:solidFill>
          <a:ln w="12700">
            <a:solidFill>
              <a:srgbClr val="F2F1EC"/>
            </a:solidFill>
            <a:prstDash val="solid"/>
          </a:ln>
        </p:spPr>
      </p:sp>
      <p:sp>
        <p:nvSpPr>
          <p:cNvPr id="16" name="Text 13"/>
          <p:cNvSpPr txBox="1"/>
          <p:nvPr/>
        </p:nvSpPr>
        <p:spPr>
          <a:xfrm>
            <a:off x="9826600" y="3127248"/>
            <a:ext cx="1743304" cy="548640"/>
          </a:xfrm>
          <a:prstGeom prst="rect">
            <a:avLst/>
          </a:prstGeom>
          <a:noFill/>
          <a:ln/>
        </p:spPr>
        <p:txBody>
          <a:bodyPr wrap="square" lIns="0" tIns="0" rIns="0" bIns="0" rtlCol="0" anchor="ctr"/>
          <a:lstStyle/>
          <a:p>
            <a:pPr indent="0" marL="0">
              <a:buNone/>
            </a:pPr>
            <a:r>
              <a:rPr lang="en-US" sz="2400" b="1" dirty="0">
                <a:solidFill>
                  <a:srgbClr val="2E2A6B"/>
                </a:solidFill>
                <a:latin typeface="Cambria" pitchFamily="34" charset="0"/>
                <a:ea typeface="Cambria" pitchFamily="34" charset="-122"/>
                <a:cs typeface="Cambria" pitchFamily="34" charset="-120"/>
              </a:rPr>
              <a:t>0/28 → 0/28</a:t>
            </a:r>
            <a:endParaRPr lang="en-US" sz="2400" dirty="0"/>
          </a:p>
        </p:txBody>
      </p:sp>
      <p:sp>
        <p:nvSpPr>
          <p:cNvPr id="17" name="Text 14"/>
          <p:cNvSpPr txBox="1"/>
          <p:nvPr/>
        </p:nvSpPr>
        <p:spPr>
          <a:xfrm>
            <a:off x="9826600" y="3712464"/>
            <a:ext cx="1743304" cy="694944"/>
          </a:xfrm>
          <a:prstGeom prst="rect">
            <a:avLst/>
          </a:prstGeom>
          <a:noFill/>
          <a:ln/>
        </p:spPr>
        <p:txBody>
          <a:bodyPr wrap="square" lIns="0" tIns="0" rIns="0" bIns="0" rtlCol="0" anchor="t"/>
          <a:lstStyle/>
          <a:p>
            <a:pPr indent="0" marL="0">
              <a:buNone/>
            </a:pPr>
            <a:r>
              <a:rPr lang="en-US" sz="1300" dirty="0">
                <a:solidFill>
                  <a:srgbClr val="4A4A55"/>
                </a:solidFill>
                <a:latin typeface="Calibri" pitchFamily="34" charset="0"/>
                <a:ea typeface="Calibri" pitchFamily="34" charset="-122"/>
                <a:cs typeface="Calibri" pitchFamily="34" charset="-120"/>
              </a:rPr>
              <a:t>KernelBench L1 transfer, base → GRPO v2</a:t>
            </a:r>
            <a:endParaRPr lang="en-US" sz="1300" dirty="0"/>
          </a:p>
        </p:txBody>
      </p:sp>
      <p:sp>
        <p:nvSpPr>
          <p:cNvPr id="18" name="Text 15"/>
          <p:cNvSpPr txBox="1"/>
          <p:nvPr/>
        </p:nvSpPr>
        <p:spPr>
          <a:xfrm>
            <a:off x="457200" y="3657600"/>
            <a:ext cx="6675120" cy="25603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4A4A55"/>
                </a:solidFill>
                <a:latin typeface="Calibri" pitchFamily="34" charset="0"/>
                <a:ea typeface="Calibri" pitchFamily="34" charset="-122"/>
                <a:cs typeface="Calibri" pitchFamily="34" charset="-120"/>
              </a:rPr>
              <a:t>v1 (log2 speedup, 0 on fail): all-fail groups tie; slow PASS &lt; crash (14/22 passing episodes scored &lt; 0)</a:t>
            </a:r>
            <a:endParaRPr lang="en-US" sz="1400" dirty="0"/>
          </a:p>
          <a:p>
            <a:pPr marL="177800" indent="-177800">
              <a:spcAft>
                <a:spcPts val="600"/>
              </a:spcAft>
              <a:buSzPct val="100000"/>
              <a:buChar char="•"/>
            </a:pPr>
            <a:r>
              <a:rPr lang="en-US" sz="1400" dirty="0">
                <a:solidFill>
                  <a:srgbClr val="4A4A55"/>
                </a:solidFill>
                <a:latin typeface="Calibri" pitchFamily="34" charset="0"/>
                <a:ea typeface="Calibri" pitchFamily="34" charset="-122"/>
                <a:cs typeface="Calibri" pitchFamily="34" charset="-120"/>
              </a:rPr>
              <a:t>v2 (PASS floor 0.5 + partial credit from bench stages + σ ≤ 0.02 cutoff) adds signal, bundled: effects not isolated</a:t>
            </a:r>
            <a:endParaRPr lang="en-US" sz="1400" dirty="0"/>
          </a:p>
          <a:p>
            <a:pPr marL="177800" indent="-177800">
              <a:spcAft>
                <a:spcPts val="600"/>
              </a:spcAft>
              <a:buSzPct val="100000"/>
              <a:buChar char="•"/>
            </a:pPr>
            <a:r>
              <a:rPr lang="en-US" sz="1400" dirty="0">
                <a:solidFill>
                  <a:srgbClr val="4A4A55"/>
                </a:solidFill>
                <a:latin typeface="Calibri" pitchFamily="34" charset="0"/>
                <a:ea typeface="Calibri" pitchFamily="34" charset="-122"/>
                <a:cs typeface="Calibri" pitchFamily="34" charset="-120"/>
              </a:rPr>
              <a:t>outcome: both runs pass the same 4 kernel types; pass rate 29.2% → 25.0% (v1), 31.5% → 31.9% (v2); one run each</a:t>
            </a:r>
            <a:endParaRPr lang="en-US" sz="1400" dirty="0"/>
          </a:p>
        </p:txBody>
      </p:sp>
      <p:sp>
        <p:nvSpPr>
          <p:cNvPr id="19" name="Shape 16"/>
          <p:cNvSpPr/>
          <p:nvPr/>
        </p:nvSpPr>
        <p:spPr>
          <a:xfrm>
            <a:off x="7406640" y="4663440"/>
            <a:ext cx="4327855" cy="1463040"/>
          </a:xfrm>
          <a:prstGeom prst="roundRect">
            <a:avLst>
              <a:gd name="adj" fmla="val 5000"/>
            </a:avLst>
          </a:prstGeom>
          <a:solidFill>
            <a:srgbClr val="1B1A3A"/>
          </a:solidFill>
          <a:ln w="12700">
            <a:solidFill>
              <a:srgbClr val="1B1A3A"/>
            </a:solidFill>
            <a:prstDash val="solid"/>
          </a:ln>
        </p:spPr>
      </p:sp>
      <p:sp>
        <p:nvSpPr>
          <p:cNvPr id="20" name="Text 17"/>
          <p:cNvSpPr txBox="1"/>
          <p:nvPr/>
        </p:nvSpPr>
        <p:spPr>
          <a:xfrm>
            <a:off x="7589520" y="4709160"/>
            <a:ext cx="3962095" cy="1371600"/>
          </a:xfrm>
          <a:prstGeom prst="rect">
            <a:avLst/>
          </a:prstGeom>
          <a:noFill/>
          <a:ln/>
        </p:spPr>
        <p:txBody>
          <a:bodyPr wrap="square" lIns="0" tIns="0" rIns="0" bIns="0" rtlCol="0" anchor="ctr"/>
          <a:lstStyle/>
          <a:p>
            <a:pPr indent="0" marL="0">
              <a:spcAft>
                <a:spcPts val="400"/>
              </a:spcAft>
              <a:buNone/>
            </a:pPr>
            <a:r>
              <a:rPr lang="en-US" sz="1400" dirty="0">
                <a:solidFill>
                  <a:srgbClr val="E6E4F0"/>
                </a:solidFill>
                <a:latin typeface="Calibri" pitchFamily="34" charset="0"/>
                <a:ea typeface="Calibri" pitchFamily="34" charset="-122"/>
                <a:cs typeface="Calibri" pitchFamily="34" charset="-120"/>
              </a:rPr>
              <a:t>The reward could only be as good as the PASS it was gated on, and the speedup it was measured against.</a:t>
            </a:r>
            <a:endParaRPr lang="en-US" sz="1400" dirty="0"/>
          </a:p>
        </p:txBody>
      </p:sp>
      <p:sp>
        <p:nvSpPr>
          <p:cNvPr id="21" name="Text 18"/>
          <p:cNvSpPr txBox="1"/>
          <p:nvPr/>
        </p:nvSpPr>
        <p:spPr>
          <a:xfrm>
            <a:off x="4572000" y="6419088"/>
            <a:ext cx="7162495" cy="256032"/>
          </a:xfrm>
          <a:prstGeom prst="rect">
            <a:avLst/>
          </a:prstGeom>
          <a:noFill/>
          <a:ln/>
        </p:spPr>
        <p:txBody>
          <a:bodyPr wrap="square" lIns="0" tIns="0" rIns="0" bIns="0" rtlCol="0" anchor="ctr"/>
          <a:lstStyle/>
          <a:p>
            <a:pPr algn="r" indent="0" marL="0">
              <a:buNone/>
            </a:pPr>
            <a:r>
              <a:rPr lang="en-US" sz="1000" i="1" dirty="0">
                <a:solidFill>
                  <a:srgbClr val="85848F"/>
                </a:solidFill>
                <a:latin typeface="Calibri" pitchFamily="34" charset="0"/>
                <a:ea typeface="Calibri" pitchFamily="34" charset="-122"/>
                <a:cs typeface="Calibri" pitchFamily="34" charset="-120"/>
              </a:rPr>
              <a:t>numbers.json grpo · extra_numbers.json dr_grpo_whatif · details in appendix</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1B1A3A"/>
                </a:solidFill>
                <a:latin typeface="Cambria" pitchFamily="34" charset="0"/>
                <a:ea typeface="Cambria" pitchFamily="34" charset="-122"/>
                <a:cs typeface="Cambria" pitchFamily="34" charset="-120"/>
              </a:rPr>
              <a:t>Roadmap: verification before scale</a:t>
            </a:r>
            <a:endParaRPr lang="en-US" sz="3000" dirty="0"/>
          </a:p>
        </p:txBody>
      </p:sp>
      <p:sp>
        <p:nvSpPr>
          <p:cNvPr id="3" name="Text 1"/>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85848F"/>
                </a:solidFill>
                <a:latin typeface="Calibri" pitchFamily="34" charset="0"/>
                <a:ea typeface="Calibri" pitchFamily="34" charset="-122"/>
                <a:cs typeface="Calibri" pitchFamily="34" charset="-120"/>
              </a:rPr>
              <a:t>Modal re-run, Sept 2026 · 14</a:t>
            </a:r>
            <a:endParaRPr lang="en-US" sz="1000" dirty="0"/>
          </a:p>
        </p:txBody>
      </p:sp>
      <p:sp>
        <p:nvSpPr>
          <p:cNvPr id="4" name="Shape 2"/>
          <p:cNvSpPr/>
          <p:nvPr/>
        </p:nvSpPr>
        <p:spPr>
          <a:xfrm>
            <a:off x="457200" y="1188720"/>
            <a:ext cx="3606698" cy="3794760"/>
          </a:xfrm>
          <a:prstGeom prst="roundRect">
            <a:avLst>
              <a:gd name="adj" fmla="val 2028"/>
            </a:avLst>
          </a:prstGeom>
          <a:solidFill>
            <a:srgbClr val="F2F1EC"/>
          </a:solidFill>
          <a:ln w="12700">
            <a:solidFill>
              <a:srgbClr val="F2F1EC"/>
            </a:solidFill>
            <a:prstDash val="solid"/>
          </a:ln>
        </p:spPr>
      </p:sp>
      <p:sp>
        <p:nvSpPr>
          <p:cNvPr id="5" name="Text 3"/>
          <p:cNvSpPr txBox="1"/>
          <p:nvPr/>
        </p:nvSpPr>
        <p:spPr>
          <a:xfrm>
            <a:off x="685800" y="1298448"/>
            <a:ext cx="3149498" cy="457200"/>
          </a:xfrm>
          <a:prstGeom prst="rect">
            <a:avLst/>
          </a:prstGeom>
          <a:noFill/>
          <a:ln/>
        </p:spPr>
        <p:txBody>
          <a:bodyPr wrap="square" lIns="0" tIns="0" rIns="0" bIns="0" rtlCol="0" anchor="ctr"/>
          <a:lstStyle/>
          <a:p>
            <a:pPr indent="0" marL="0">
              <a:buNone/>
            </a:pPr>
            <a:r>
              <a:rPr lang="en-US" sz="1800" b="1" dirty="0">
                <a:solidFill>
                  <a:srgbClr val="2E2A6B"/>
                </a:solidFill>
                <a:latin typeface="Cambria" pitchFamily="34" charset="0"/>
                <a:ea typeface="Cambria" pitchFamily="34" charset="-122"/>
                <a:cs typeface="Cambria" pitchFamily="34" charset="-120"/>
              </a:rPr>
              <a:t>1  Hidden-test verification</a:t>
            </a:r>
            <a:endParaRPr lang="en-US" sz="1800" dirty="0"/>
          </a:p>
        </p:txBody>
      </p:sp>
      <p:sp>
        <p:nvSpPr>
          <p:cNvPr id="6" name="Text 4"/>
          <p:cNvSpPr txBox="1"/>
          <p:nvPr/>
        </p:nvSpPr>
        <p:spPr>
          <a:xfrm>
            <a:off x="685800" y="1828800"/>
            <a:ext cx="3149498" cy="3063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4A4A55"/>
                </a:solidFill>
                <a:latin typeface="Calibri" pitchFamily="34" charset="0"/>
                <a:ea typeface="Calibri" pitchFamily="34" charset="-122"/>
                <a:cs typeface="Calibri" pitchFamily="34" charset="-120"/>
              </a:rPr>
              <a:t>fp32 / fp64 golden reference; accept if error ≤ k × PyTorch-same-dtype error</a:t>
            </a:r>
            <a:endParaRPr lang="en-US" sz="1400" dirty="0"/>
          </a:p>
          <a:p>
            <a:pPr marL="177800" indent="-177800">
              <a:spcAft>
                <a:spcPts val="600"/>
              </a:spcAft>
              <a:buSzPct val="100000"/>
              <a:buChar char="•"/>
            </a:pPr>
            <a:r>
              <a:rPr lang="en-US" sz="1400" dirty="0">
                <a:solidFill>
                  <a:srgbClr val="4A4A55"/>
                </a:solidFill>
                <a:latin typeface="Calibri" pitchFamily="34" charset="0"/>
                <a:ea typeface="Calibri" pitchFamily="34" charset="-122"/>
                <a:cs typeface="Calibri" pitchFamily="34" charset="-120"/>
              </a:rPr>
              <a:t>compare NaN/Inf masks exactly; drop the both-NaN pass</a:t>
            </a:r>
            <a:endParaRPr lang="en-US" sz="1400" dirty="0"/>
          </a:p>
          <a:p>
            <a:pPr marL="177800" indent="-177800">
              <a:spcAft>
                <a:spcPts val="600"/>
              </a:spcAft>
              <a:buSzPct val="100000"/>
              <a:buChar char="•"/>
            </a:pPr>
            <a:r>
              <a:rPr lang="en-US" sz="1400" dirty="0">
                <a:solidFill>
                  <a:srgbClr val="4A4A55"/>
                </a:solidFill>
                <a:latin typeface="Calibri" pitchFamily="34" charset="0"/>
                <a:ea typeface="Calibri" pitchFamily="34" charset="-122"/>
                <a:cs typeface="Calibri" pitchFamily="34" charset="-120"/>
              </a:rPr>
              <a:t>adversarial magnitude sweep (scale × randn up to the overflow thresholds), every dtype, hidden shapes and strides</a:t>
            </a:r>
            <a:endParaRPr lang="en-US" sz="1400" dirty="0"/>
          </a:p>
          <a:p>
            <a:pPr marL="177800" indent="-177800">
              <a:spcAft>
                <a:spcPts val="600"/>
              </a:spcAft>
              <a:buSzPct val="100000"/>
              <a:buChar char="•"/>
            </a:pPr>
            <a:r>
              <a:rPr lang="en-US" sz="1400" dirty="0">
                <a:solidFill>
                  <a:srgbClr val="4A4A55"/>
                </a:solidFill>
                <a:latin typeface="Calibri" pitchFamily="34" charset="0"/>
                <a:ea typeface="Calibri" pitchFamily="34" charset="-122"/>
                <a:cs typeface="Calibri" pitchFamily="34" charset="-120"/>
              </a:rPr>
              <a:t>mutation tests (no eps, wrong axis, tail mask, fp16 sum) to measure false-accept rate</a:t>
            </a:r>
            <a:endParaRPr lang="en-US" sz="1400" dirty="0"/>
          </a:p>
        </p:txBody>
      </p:sp>
      <p:sp>
        <p:nvSpPr>
          <p:cNvPr id="7" name="Shape 5"/>
          <p:cNvSpPr/>
          <p:nvPr/>
        </p:nvSpPr>
        <p:spPr>
          <a:xfrm>
            <a:off x="4292498" y="1188720"/>
            <a:ext cx="3606698" cy="3794760"/>
          </a:xfrm>
          <a:prstGeom prst="roundRect">
            <a:avLst>
              <a:gd name="adj" fmla="val 2028"/>
            </a:avLst>
          </a:prstGeom>
          <a:solidFill>
            <a:srgbClr val="F2F1EC"/>
          </a:solidFill>
          <a:ln w="12700">
            <a:solidFill>
              <a:srgbClr val="F2F1EC"/>
            </a:solidFill>
            <a:prstDash val="solid"/>
          </a:ln>
        </p:spPr>
      </p:sp>
      <p:sp>
        <p:nvSpPr>
          <p:cNvPr id="8" name="Text 6"/>
          <p:cNvSpPr txBox="1"/>
          <p:nvPr/>
        </p:nvSpPr>
        <p:spPr>
          <a:xfrm>
            <a:off x="4521098" y="1298448"/>
            <a:ext cx="3149498" cy="457200"/>
          </a:xfrm>
          <a:prstGeom prst="rect">
            <a:avLst/>
          </a:prstGeom>
          <a:noFill/>
          <a:ln/>
        </p:spPr>
        <p:txBody>
          <a:bodyPr wrap="square" lIns="0" tIns="0" rIns="0" bIns="0" rtlCol="0" anchor="ctr"/>
          <a:lstStyle/>
          <a:p>
            <a:pPr indent="0" marL="0">
              <a:buNone/>
            </a:pPr>
            <a:r>
              <a:rPr lang="en-US" sz="1800" b="1" dirty="0">
                <a:solidFill>
                  <a:srgbClr val="2E2A6B"/>
                </a:solidFill>
                <a:latin typeface="Cambria" pitchFamily="34" charset="0"/>
                <a:ea typeface="Cambria" pitchFamily="34" charset="-122"/>
                <a:cs typeface="Cambria" pitchFamily="34" charset="-120"/>
              </a:rPr>
              <a:t>2  Deterministic timing</a:t>
            </a:r>
            <a:endParaRPr lang="en-US" sz="1800" dirty="0"/>
          </a:p>
        </p:txBody>
      </p:sp>
      <p:sp>
        <p:nvSpPr>
          <p:cNvPr id="9" name="Text 7"/>
          <p:cNvSpPr txBox="1"/>
          <p:nvPr/>
        </p:nvSpPr>
        <p:spPr>
          <a:xfrm>
            <a:off x="4521098" y="1828800"/>
            <a:ext cx="3149498" cy="3063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4A4A55"/>
                </a:solidFill>
                <a:latin typeface="Calibri" pitchFamily="34" charset="0"/>
                <a:ea typeface="Calibri" pitchFamily="34" charset="-122"/>
                <a:cs typeface="Calibri" pitchFamily="34" charset="-120"/>
              </a:rPr>
              <a:t>explicit L2 policy: report warm and cold</a:t>
            </a:r>
            <a:endParaRPr lang="en-US" sz="1400" dirty="0"/>
          </a:p>
          <a:p>
            <a:pPr marL="177800" indent="-177800">
              <a:spcAft>
                <a:spcPts val="600"/>
              </a:spcAft>
              <a:buSzPct val="100000"/>
              <a:buChar char="•"/>
            </a:pPr>
            <a:r>
              <a:rPr lang="en-US" sz="1400" dirty="0">
                <a:solidFill>
                  <a:srgbClr val="4A4A55"/>
                </a:solidFill>
                <a:latin typeface="Calibri" pitchFamily="34" charset="0"/>
                <a:ea typeface="Calibri" pitchFamily="34" charset="-122"/>
                <a:cs typeface="Calibri" pitchFamily="34" charset="-120"/>
              </a:rPr>
              <a:t>fixed clocks, interleaved candidate / baseline, randomized order</a:t>
            </a:r>
            <a:endParaRPr lang="en-US" sz="1400" dirty="0"/>
          </a:p>
          <a:p>
            <a:pPr marL="177800" indent="-177800">
              <a:spcAft>
                <a:spcPts val="600"/>
              </a:spcAft>
              <a:buSzPct val="100000"/>
              <a:buChar char="•"/>
            </a:pPr>
            <a:r>
              <a:rPr lang="en-US" sz="1400" dirty="0">
                <a:solidFill>
                  <a:srgbClr val="4A4A55"/>
                </a:solidFill>
                <a:latin typeface="Calibri" pitchFamily="34" charset="0"/>
                <a:ea typeface="Calibri" pitchFamily="34" charset="-122"/>
                <a:cs typeface="Calibri" pitchFamily="34" charset="-120"/>
              </a:rPr>
              <a:t>n repeats → median + CI, absolute µs and GB/s vs roofline</a:t>
            </a:r>
            <a:endParaRPr lang="en-US" sz="1400" dirty="0"/>
          </a:p>
          <a:p>
            <a:pPr marL="177800" indent="-177800">
              <a:spcAft>
                <a:spcPts val="600"/>
              </a:spcAft>
              <a:buSzPct val="100000"/>
              <a:buChar char="•"/>
            </a:pPr>
            <a:r>
              <a:rPr lang="en-US" sz="1400" dirty="0">
                <a:solidFill>
                  <a:srgbClr val="4A4A55"/>
                </a:solidFill>
                <a:latin typeface="Calibri" pitchFamily="34" charset="0"/>
                <a:ea typeface="Calibri" pitchFamily="34" charset="-122"/>
                <a:cs typeface="Calibri" pitchFamily="34" charset="-120"/>
              </a:rPr>
              <a:t>per-shape table, not one ratio; correct GPU spec lookup</a:t>
            </a:r>
            <a:endParaRPr lang="en-US" sz="1400" dirty="0"/>
          </a:p>
        </p:txBody>
      </p:sp>
      <p:sp>
        <p:nvSpPr>
          <p:cNvPr id="10" name="Shape 8"/>
          <p:cNvSpPr/>
          <p:nvPr/>
        </p:nvSpPr>
        <p:spPr>
          <a:xfrm>
            <a:off x="8127797" y="1188720"/>
            <a:ext cx="3606698" cy="3794760"/>
          </a:xfrm>
          <a:prstGeom prst="roundRect">
            <a:avLst>
              <a:gd name="adj" fmla="val 2028"/>
            </a:avLst>
          </a:prstGeom>
          <a:solidFill>
            <a:srgbClr val="F2F1EC"/>
          </a:solidFill>
          <a:ln w="12700">
            <a:solidFill>
              <a:srgbClr val="F2F1EC"/>
            </a:solidFill>
            <a:prstDash val="solid"/>
          </a:ln>
        </p:spPr>
      </p:sp>
      <p:sp>
        <p:nvSpPr>
          <p:cNvPr id="11" name="Text 9"/>
          <p:cNvSpPr txBox="1"/>
          <p:nvPr/>
        </p:nvSpPr>
        <p:spPr>
          <a:xfrm>
            <a:off x="8356397" y="1298448"/>
            <a:ext cx="3149498" cy="457200"/>
          </a:xfrm>
          <a:prstGeom prst="rect">
            <a:avLst/>
          </a:prstGeom>
          <a:noFill/>
          <a:ln/>
        </p:spPr>
        <p:txBody>
          <a:bodyPr wrap="square" lIns="0" tIns="0" rIns="0" bIns="0" rtlCol="0" anchor="ctr"/>
          <a:lstStyle/>
          <a:p>
            <a:pPr indent="0" marL="0">
              <a:buNone/>
            </a:pPr>
            <a:r>
              <a:rPr lang="en-US" sz="1800" b="1" dirty="0">
                <a:solidFill>
                  <a:srgbClr val="2E2A6B"/>
                </a:solidFill>
                <a:latin typeface="Cambria" pitchFamily="34" charset="0"/>
                <a:ea typeface="Cambria" pitchFamily="34" charset="-122"/>
                <a:cs typeface="Cambria" pitchFamily="34" charset="-120"/>
              </a:rPr>
              <a:t>3  Uncached, attributed timing</a:t>
            </a:r>
            <a:endParaRPr lang="en-US" sz="1800" dirty="0"/>
          </a:p>
        </p:txBody>
      </p:sp>
      <p:sp>
        <p:nvSpPr>
          <p:cNvPr id="12" name="Text 10"/>
          <p:cNvSpPr txBox="1"/>
          <p:nvPr/>
        </p:nvSpPr>
        <p:spPr>
          <a:xfrm>
            <a:off x="8356397" y="1828800"/>
            <a:ext cx="3149498" cy="3063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4A4A55"/>
                </a:solidFill>
                <a:latin typeface="Calibri" pitchFamily="34" charset="0"/>
                <a:ea typeface="Calibri" pitchFamily="34" charset="-122"/>
                <a:cs typeface="Calibri" pitchFamily="34" charset="-120"/>
              </a:rPr>
              <a:t>baselines: starter / previous turn and torch.compile, not only eager; reward the Δ an edit made</a:t>
            </a:r>
            <a:endParaRPr lang="en-US" sz="1400" dirty="0"/>
          </a:p>
          <a:p>
            <a:pPr marL="177800" indent="-177800">
              <a:spcAft>
                <a:spcPts val="600"/>
              </a:spcAft>
              <a:buSzPct val="100000"/>
              <a:buChar char="•"/>
            </a:pPr>
            <a:r>
              <a:rPr lang="en-US" sz="1400" dirty="0">
                <a:solidFill>
                  <a:srgbClr val="4A4A55"/>
                </a:solidFill>
                <a:latin typeface="Calibri" pitchFamily="34" charset="0"/>
                <a:ea typeface="Calibri" pitchFamily="34" charset="-122"/>
                <a:cs typeface="Calibri" pitchFamily="34" charset="-120"/>
              </a:rPr>
              <a:t>cache verdicts, never final timings; re-time winners fresh; calibrate noise before any σ cutoff</a:t>
            </a:r>
            <a:endParaRPr lang="en-US" sz="1400" dirty="0"/>
          </a:p>
          <a:p>
            <a:pPr marL="177800" indent="-177800">
              <a:spcAft>
                <a:spcPts val="600"/>
              </a:spcAft>
              <a:buSzPct val="100000"/>
              <a:buChar char="•"/>
            </a:pPr>
            <a:r>
              <a:rPr lang="en-US" sz="1400" dirty="0">
                <a:solidFill>
                  <a:srgbClr val="4A4A55"/>
                </a:solidFill>
                <a:latin typeface="Calibri" pitchFamily="34" charset="0"/>
                <a:ea typeface="Calibri" pitchFamily="34" charset="-122"/>
                <a:cs typeface="Calibri" pitchFamily="34" charset="-120"/>
              </a:rPr>
              <a:t>RMSNorm remeasure done (slides 6–8): the casts were worth +0.4%</a:t>
            </a:r>
            <a:endParaRPr lang="en-US" sz="1400" dirty="0"/>
          </a:p>
        </p:txBody>
      </p:sp>
      <p:sp>
        <p:nvSpPr>
          <p:cNvPr id="13" name="Shape 11"/>
          <p:cNvSpPr/>
          <p:nvPr/>
        </p:nvSpPr>
        <p:spPr>
          <a:xfrm>
            <a:off x="457200" y="5120640"/>
            <a:ext cx="11277295" cy="1051560"/>
          </a:xfrm>
          <a:prstGeom prst="roundRect">
            <a:avLst>
              <a:gd name="adj" fmla="val 6957"/>
            </a:avLst>
          </a:prstGeom>
          <a:solidFill>
            <a:srgbClr val="1B1A3A"/>
          </a:solidFill>
          <a:ln w="12700">
            <a:solidFill>
              <a:srgbClr val="1B1A3A"/>
            </a:solidFill>
            <a:prstDash val="solid"/>
          </a:ln>
        </p:spPr>
      </p:sp>
      <p:sp>
        <p:nvSpPr>
          <p:cNvPr id="14" name="Text 12"/>
          <p:cNvSpPr txBox="1"/>
          <p:nvPr/>
        </p:nvSpPr>
        <p:spPr>
          <a:xfrm>
            <a:off x="731520" y="5166360"/>
            <a:ext cx="10728655" cy="960120"/>
          </a:xfrm>
          <a:prstGeom prst="rect">
            <a:avLst/>
          </a:prstGeom>
          <a:noFill/>
          <a:ln/>
        </p:spPr>
        <p:txBody>
          <a:bodyPr wrap="square" lIns="0" tIns="0" rIns="0" bIns="0" rtlCol="0" anchor="ctr"/>
          <a:lstStyle/>
          <a:p>
            <a:pPr indent="0" marL="0">
              <a:buNone/>
            </a:pPr>
            <a:r>
              <a:rPr lang="en-US" sz="1500" b="1" dirty="0">
                <a:solidFill>
                  <a:srgbClr val="E8A33D"/>
                </a:solidFill>
                <a:latin typeface="Calibri" pitchFamily="34" charset="0"/>
                <a:ea typeface="Calibri" pitchFamily="34" charset="-122"/>
                <a:cs typeface="Calibri" pitchFamily="34" charset="-120"/>
              </a:rPr>
              <a:t>Decision rule: </a:t>
            </a:r>
            <a:pPr indent="0" marL="0">
              <a:buNone/>
            </a:pPr>
            <a:r>
              <a:rPr lang="en-US" sz="1500" dirty="0">
                <a:solidFill>
                  <a:srgbClr val="E6E4F0"/>
                </a:solidFill>
                <a:latin typeface="Calibri" pitchFamily="34" charset="0"/>
                <a:ea typeface="Calibri" pitchFamily="34" charset="-122"/>
                <a:cs typeface="Calibri" pitchFamily="34" charset="-120"/>
              </a:rPr>
              <a:t>scale training only after independent evaluation shows a reproducible gain. Then, on a validated verifier: frozen checkpoints vs a best-of-N search control, and PASS floor, partial credit and normalisation ablated one at a time.</a:t>
            </a:r>
            <a:endParaRPr lang="en-US" sz="1500" dirty="0"/>
          </a:p>
        </p:txBody>
      </p:sp>
      <p:sp>
        <p:nvSpPr>
          <p:cNvPr id="15" name="Text 13"/>
          <p:cNvSpPr txBox="1"/>
          <p:nvPr/>
        </p:nvSpPr>
        <p:spPr>
          <a:xfrm>
            <a:off x="4572000" y="6419088"/>
            <a:ext cx="7162495" cy="256032"/>
          </a:xfrm>
          <a:prstGeom prst="rect">
            <a:avLst/>
          </a:prstGeom>
          <a:noFill/>
          <a:ln/>
        </p:spPr>
        <p:txBody>
          <a:bodyPr wrap="square" lIns="0" tIns="0" rIns="0" bIns="0" rtlCol="0" anchor="ctr"/>
          <a:lstStyle/>
          <a:p>
            <a:pPr algn="r" indent="0" marL="0">
              <a:buNone/>
            </a:pPr>
            <a:r>
              <a:rPr lang="en-US" sz="1000" i="1" dirty="0">
                <a:solidFill>
                  <a:srgbClr val="85848F"/>
                </a:solidFill>
                <a:latin typeface="Calibri" pitchFamily="34" charset="0"/>
                <a:ea typeface="Calibri" pitchFamily="34" charset="-122"/>
                <a:cs typeface="Calibri" pitchFamily="34" charset="-120"/>
              </a:rPr>
              <a:t>Planned, not measured · Measuring the Checker 2609.22220 · KernelBench-Verified 2607.16241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A3A"/>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Takeaways</a:t>
            </a:r>
            <a:endParaRPr lang="en-US" sz="3000" dirty="0"/>
          </a:p>
        </p:txBody>
      </p:sp>
      <p:sp>
        <p:nvSpPr>
          <p:cNvPr id="3" name="Text 1"/>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A9A6C4"/>
                </a:solidFill>
                <a:latin typeface="Calibri" pitchFamily="34" charset="0"/>
                <a:ea typeface="Calibri" pitchFamily="34" charset="-122"/>
                <a:cs typeface="Calibri" pitchFamily="34" charset="-120"/>
              </a:rPr>
              <a:t>Modal re-run, Sept 2026 · 15</a:t>
            </a:r>
            <a:endParaRPr lang="en-US" sz="1000" dirty="0"/>
          </a:p>
        </p:txBody>
      </p:sp>
      <p:sp>
        <p:nvSpPr>
          <p:cNvPr id="4" name="Shape 2"/>
          <p:cNvSpPr/>
          <p:nvPr/>
        </p:nvSpPr>
        <p:spPr>
          <a:xfrm>
            <a:off x="457200" y="1097280"/>
            <a:ext cx="11277295" cy="1005840"/>
          </a:xfrm>
          <a:prstGeom prst="roundRect">
            <a:avLst>
              <a:gd name="adj" fmla="val 7273"/>
            </a:avLst>
          </a:prstGeom>
          <a:solidFill>
            <a:srgbClr val="2A2858"/>
          </a:solidFill>
          <a:ln w="12700">
            <a:solidFill>
              <a:srgbClr val="2A2858"/>
            </a:solidFill>
            <a:prstDash val="solid"/>
          </a:ln>
        </p:spPr>
      </p:sp>
      <p:sp>
        <p:nvSpPr>
          <p:cNvPr id="5" name="Text 3"/>
          <p:cNvSpPr txBox="1"/>
          <p:nvPr/>
        </p:nvSpPr>
        <p:spPr>
          <a:xfrm>
            <a:off x="731520" y="1097280"/>
            <a:ext cx="2651760" cy="1005840"/>
          </a:xfrm>
          <a:prstGeom prst="rect">
            <a:avLst/>
          </a:prstGeom>
          <a:noFill/>
          <a:ln/>
        </p:spPr>
        <p:txBody>
          <a:bodyPr wrap="square" lIns="0" tIns="0" rIns="0" bIns="0" rtlCol="0" anchor="ctr"/>
          <a:lstStyle/>
          <a:p>
            <a:pPr indent="0" marL="0">
              <a:buNone/>
            </a:pPr>
            <a:r>
              <a:rPr lang="en-US" sz="3000" b="1" dirty="0">
                <a:solidFill>
                  <a:srgbClr val="E8A33D"/>
                </a:solidFill>
                <a:latin typeface="Cambria" pitchFamily="34" charset="0"/>
                <a:ea typeface="Cambria" pitchFamily="34" charset="-122"/>
                <a:cs typeface="Cambria" pitchFamily="34" charset="-120"/>
              </a:rPr>
              <a:t>2 casts</a:t>
            </a:r>
            <a:endParaRPr lang="en-US" sz="3000" dirty="0"/>
          </a:p>
        </p:txBody>
      </p:sp>
      <p:sp>
        <p:nvSpPr>
          <p:cNvPr id="6" name="Text 4"/>
          <p:cNvSpPr txBox="1"/>
          <p:nvPr/>
        </p:nvSpPr>
        <p:spPr>
          <a:xfrm>
            <a:off x="3474720" y="1097280"/>
            <a:ext cx="7985455" cy="10058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FAIL → PASS and a 2.9× reward for +0.4% speed: the reference shared the kernel's overflow, and speed was measured against PyTorch, not the starter.</a:t>
            </a:r>
            <a:endParaRPr lang="en-US" sz="1700" dirty="0"/>
          </a:p>
        </p:txBody>
      </p:sp>
      <p:sp>
        <p:nvSpPr>
          <p:cNvPr id="7" name="Shape 5"/>
          <p:cNvSpPr/>
          <p:nvPr/>
        </p:nvSpPr>
        <p:spPr>
          <a:xfrm>
            <a:off x="457200" y="2286000"/>
            <a:ext cx="11277295" cy="1005840"/>
          </a:xfrm>
          <a:prstGeom prst="roundRect">
            <a:avLst>
              <a:gd name="adj" fmla="val 7273"/>
            </a:avLst>
          </a:prstGeom>
          <a:solidFill>
            <a:srgbClr val="2A2858"/>
          </a:solidFill>
          <a:ln w="12700">
            <a:solidFill>
              <a:srgbClr val="2A2858"/>
            </a:solidFill>
            <a:prstDash val="solid"/>
          </a:ln>
        </p:spPr>
      </p:sp>
      <p:sp>
        <p:nvSpPr>
          <p:cNvPr id="8" name="Text 6"/>
          <p:cNvSpPr txBox="1"/>
          <p:nvPr/>
        </p:nvSpPr>
        <p:spPr>
          <a:xfrm>
            <a:off x="731520" y="2286000"/>
            <a:ext cx="2651760" cy="1005840"/>
          </a:xfrm>
          <a:prstGeom prst="rect">
            <a:avLst/>
          </a:prstGeom>
          <a:noFill/>
          <a:ln/>
        </p:spPr>
        <p:txBody>
          <a:bodyPr wrap="square" lIns="0" tIns="0" rIns="0" bIns="0" rtlCol="0" anchor="ctr"/>
          <a:lstStyle/>
          <a:p>
            <a:pPr indent="0" marL="0">
              <a:buNone/>
            </a:pPr>
            <a:r>
              <a:rPr lang="en-US" sz="3000" b="1" dirty="0">
                <a:solidFill>
                  <a:srgbClr val="E8A33D"/>
                </a:solidFill>
                <a:latin typeface="Cambria" pitchFamily="34" charset="0"/>
                <a:ea typeface="Cambria" pitchFamily="34" charset="-122"/>
                <a:cs typeface="Cambria" pitchFamily="34" charset="-120"/>
              </a:rPr>
              <a:t>55/100</a:t>
            </a:r>
            <a:endParaRPr lang="en-US" sz="3000" dirty="0"/>
          </a:p>
        </p:txBody>
      </p:sp>
      <p:sp>
        <p:nvSpPr>
          <p:cNvPr id="9" name="Text 7"/>
          <p:cNvSpPr txBox="1"/>
          <p:nvPr/>
        </p:nvSpPr>
        <p:spPr>
          <a:xfrm>
            <a:off x="3474720" y="2286000"/>
            <a:ext cx="7985455" cy="10058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An identity model is the cheapest harness test; about half of KernelBench L1 failed it locally. Test the verifier before trusting it.</a:t>
            </a:r>
            <a:endParaRPr lang="en-US" sz="1700" dirty="0"/>
          </a:p>
        </p:txBody>
      </p:sp>
      <p:sp>
        <p:nvSpPr>
          <p:cNvPr id="10" name="Shape 8"/>
          <p:cNvSpPr/>
          <p:nvPr/>
        </p:nvSpPr>
        <p:spPr>
          <a:xfrm>
            <a:off x="457200" y="3474720"/>
            <a:ext cx="11277295" cy="1005840"/>
          </a:xfrm>
          <a:prstGeom prst="roundRect">
            <a:avLst>
              <a:gd name="adj" fmla="val 7273"/>
            </a:avLst>
          </a:prstGeom>
          <a:solidFill>
            <a:srgbClr val="2A2858"/>
          </a:solidFill>
          <a:ln w="12700">
            <a:solidFill>
              <a:srgbClr val="2A2858"/>
            </a:solidFill>
            <a:prstDash val="solid"/>
          </a:ln>
        </p:spPr>
      </p:sp>
      <p:sp>
        <p:nvSpPr>
          <p:cNvPr id="11" name="Text 9"/>
          <p:cNvSpPr txBox="1"/>
          <p:nvPr/>
        </p:nvSpPr>
        <p:spPr>
          <a:xfrm>
            <a:off x="731520" y="3474720"/>
            <a:ext cx="2651760" cy="1005840"/>
          </a:xfrm>
          <a:prstGeom prst="rect">
            <a:avLst/>
          </a:prstGeom>
          <a:noFill/>
          <a:ln/>
        </p:spPr>
        <p:txBody>
          <a:bodyPr wrap="square" lIns="0" tIns="0" rIns="0" bIns="0" rtlCol="0" anchor="ctr"/>
          <a:lstStyle/>
          <a:p>
            <a:pPr indent="0" marL="0">
              <a:buNone/>
            </a:pPr>
            <a:r>
              <a:rPr lang="en-US" sz="3000" b="1" dirty="0">
                <a:solidFill>
                  <a:srgbClr val="E8A33D"/>
                </a:solidFill>
                <a:latin typeface="Cambria" pitchFamily="34" charset="0"/>
                <a:ea typeface="Cambria" pitchFamily="34" charset="-122"/>
                <a:cs typeface="Cambria" pitchFamily="34" charset="-120"/>
              </a:rPr>
              <a:t>201/271</a:t>
            </a:r>
            <a:endParaRPr lang="en-US" sz="3000" dirty="0"/>
          </a:p>
        </p:txBody>
      </p:sp>
      <p:sp>
        <p:nvSpPr>
          <p:cNvPr id="12" name="Text 10"/>
          <p:cNvSpPr txBox="1"/>
          <p:nvPr/>
        </p:nvSpPr>
        <p:spPr>
          <a:xfrm>
            <a:off x="3474720" y="3474720"/>
            <a:ext cx="7985455" cy="10058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best-PASS timings were cache replays. Timing claims need uncached, repeated, per-shape measurement with an explicit L2 policy.</a:t>
            </a:r>
            <a:endParaRPr lang="en-US" sz="1700" dirty="0"/>
          </a:p>
        </p:txBody>
      </p:sp>
      <p:sp>
        <p:nvSpPr>
          <p:cNvPr id="13" name="Shape 11"/>
          <p:cNvSpPr/>
          <p:nvPr/>
        </p:nvSpPr>
        <p:spPr>
          <a:xfrm>
            <a:off x="457200" y="4663440"/>
            <a:ext cx="11277295" cy="1005840"/>
          </a:xfrm>
          <a:prstGeom prst="roundRect">
            <a:avLst>
              <a:gd name="adj" fmla="val 7273"/>
            </a:avLst>
          </a:prstGeom>
          <a:solidFill>
            <a:srgbClr val="2A2858"/>
          </a:solidFill>
          <a:ln w="12700">
            <a:solidFill>
              <a:srgbClr val="2A2858"/>
            </a:solidFill>
            <a:prstDash val="solid"/>
          </a:ln>
        </p:spPr>
      </p:sp>
      <p:sp>
        <p:nvSpPr>
          <p:cNvPr id="14" name="Text 12"/>
          <p:cNvSpPr txBox="1"/>
          <p:nvPr/>
        </p:nvSpPr>
        <p:spPr>
          <a:xfrm>
            <a:off x="731520" y="4663440"/>
            <a:ext cx="2651760" cy="1005840"/>
          </a:xfrm>
          <a:prstGeom prst="rect">
            <a:avLst/>
          </a:prstGeom>
          <a:noFill/>
          <a:ln/>
        </p:spPr>
        <p:txBody>
          <a:bodyPr wrap="square" lIns="0" tIns="0" rIns="0" bIns="0" rtlCol="0" anchor="ctr"/>
          <a:lstStyle/>
          <a:p>
            <a:pPr indent="0" marL="0">
              <a:buNone/>
            </a:pPr>
            <a:r>
              <a:rPr lang="en-US" sz="3000" b="1" dirty="0">
                <a:solidFill>
                  <a:srgbClr val="E8A33D"/>
                </a:solidFill>
                <a:latin typeface="Cambria" pitchFamily="34" charset="0"/>
                <a:ea typeface="Cambria" pitchFamily="34" charset="-122"/>
                <a:cs typeface="Cambria" pitchFamily="34" charset="-120"/>
              </a:rPr>
              <a:t>65%</a:t>
            </a:r>
            <a:endParaRPr lang="en-US" sz="3000" dirty="0"/>
          </a:p>
        </p:txBody>
      </p:sp>
      <p:sp>
        <p:nvSpPr>
          <p:cNvPr id="15" name="Text 13"/>
          <p:cNvSpPr txBox="1"/>
          <p:nvPr/>
        </p:nvSpPr>
        <p:spPr>
          <a:xfrm>
            <a:off x="3474720" y="4663440"/>
            <a:ext cx="7985455" cy="10058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zero-advantage groups under the naive reward: verification quality bounded training-signal quality.</a:t>
            </a:r>
            <a:endParaRPr lang="en-US" sz="1700" dirty="0"/>
          </a:p>
        </p:txBody>
      </p:sp>
      <p:sp>
        <p:nvSpPr>
          <p:cNvPr id="16" name="Text 14"/>
          <p:cNvSpPr txBox="1"/>
          <p:nvPr/>
        </p:nvSpPr>
        <p:spPr>
          <a:xfrm>
            <a:off x="457200" y="5897880"/>
            <a:ext cx="11277295" cy="411480"/>
          </a:xfrm>
          <a:prstGeom prst="rect">
            <a:avLst/>
          </a:prstGeom>
          <a:noFill/>
          <a:ln/>
        </p:spPr>
        <p:txBody>
          <a:bodyPr wrap="square" lIns="0" tIns="0" rIns="0" bIns="0" rtlCol="0" anchor="ctr"/>
          <a:lstStyle/>
          <a:p>
            <a:pPr indent="0" marL="0">
              <a:buNone/>
            </a:pPr>
            <a:r>
              <a:rPr lang="en-US" sz="1400" dirty="0">
                <a:solidFill>
                  <a:srgbClr val="A9A6C4"/>
                </a:solidFill>
                <a:latin typeface="Calibri" pitchFamily="34" charset="0"/>
                <a:ea typeface="Calibri" pitchFamily="34" charset="-122"/>
                <a:cs typeface="Calibri" pitchFamily="34" charset="-120"/>
              </a:rPr>
              <a:t>All artifacts open: results/ (rollouts, numbers.json, v3/), modal_app/, presentation/v3/.</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1B1A3A"/>
                </a:solidFill>
                <a:latin typeface="Cambria" pitchFamily="34" charset="0"/>
                <a:ea typeface="Cambria" pitchFamily="34" charset="-122"/>
                <a:cs typeface="Cambria" pitchFamily="34" charset="-120"/>
              </a:rPr>
              <a:t>Appendix: reward v1 vs v2</a:t>
            </a:r>
            <a:endParaRPr lang="en-US" sz="3000" dirty="0"/>
          </a:p>
        </p:txBody>
      </p:sp>
      <p:sp>
        <p:nvSpPr>
          <p:cNvPr id="3" name="Text 1"/>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85848F"/>
                </a:solidFill>
                <a:latin typeface="Calibri" pitchFamily="34" charset="0"/>
                <a:ea typeface="Calibri" pitchFamily="34" charset="-122"/>
                <a:cs typeface="Calibri" pitchFamily="34" charset="-120"/>
              </a:rPr>
              <a:t>Appendix · Modal re-run, Sept 2026 · 16</a:t>
            </a:r>
            <a:endParaRPr lang="en-US" sz="1000" dirty="0"/>
          </a:p>
        </p:txBody>
      </p:sp>
      <p:sp>
        <p:nvSpPr>
          <p:cNvPr id="4" name="Text 2"/>
          <p:cNvSpPr txBox="1"/>
          <p:nvPr/>
        </p:nvSpPr>
        <p:spPr>
          <a:xfrm>
            <a:off x="457200" y="1234440"/>
            <a:ext cx="6400800" cy="411480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1F24"/>
                </a:solidFill>
                <a:latin typeface="Calibri" pitchFamily="34" charset="0"/>
                <a:ea typeface="Calibri" pitchFamily="34" charset="-122"/>
                <a:cs typeface="Calibri" pitchFamily="34" charset="-120"/>
              </a:rPr>
              <a:t>r_v1: clip(log2 s, −1, 3) if any turn PASSes, else 0</a:t>
            </a:r>
            <a:endParaRPr lang="en-US" sz="1500" dirty="0"/>
          </a:p>
          <a:p>
            <a:pPr marL="177800" indent="-177800">
              <a:spcAft>
                <a:spcPts val="600"/>
              </a:spcAft>
              <a:buSzPct val="100000"/>
              <a:buChar char="•"/>
            </a:pPr>
            <a:r>
              <a:rPr lang="en-US" sz="1500" dirty="0">
                <a:solidFill>
                  <a:srgbClr val="1F1F24"/>
                </a:solidFill>
                <a:latin typeface="Calibri" pitchFamily="34" charset="0"/>
                <a:ea typeface="Calibri" pitchFamily="34" charset="-122"/>
                <a:cs typeface="Calibri" pitchFamily="34" charset="-120"/>
              </a:rPr>
              <a:t>floor bug: reduce PASS at 0.986× → log2 = −0.020, below a failure at 0; 14/22 passing episodes negative</a:t>
            </a:r>
            <a:endParaRPr lang="en-US" sz="1500" dirty="0"/>
          </a:p>
          <a:p>
            <a:pPr marL="177800" indent="-177800">
              <a:spcAft>
                <a:spcPts val="600"/>
              </a:spcAft>
              <a:buSzPct val="100000"/>
              <a:buChar char="•"/>
            </a:pPr>
            <a:r>
              <a:rPr lang="en-US" sz="1500" dirty="0">
                <a:solidFill>
                  <a:srgbClr val="1F1F24"/>
                </a:solidFill>
                <a:latin typeface="Calibri" pitchFamily="34" charset="0"/>
                <a:ea typeface="Calibri" pitchFamily="34" charset="-122"/>
                <a:cs typeface="Calibri" pitchFamily="34" charset="-120"/>
              </a:rPr>
              <a:t>r_v2: PASS: 0.5 + clip(log2 s, 0, 3); else 0.3 · max-turn progress</a:t>
            </a:r>
            <a:endParaRPr lang="en-US" sz="1500" dirty="0"/>
          </a:p>
          <a:p>
            <a:pPr marL="177800" indent="-177800">
              <a:spcAft>
                <a:spcPts val="600"/>
              </a:spcAft>
              <a:buSzPct val="100000"/>
              <a:buChar char="•"/>
            </a:pPr>
            <a:r>
              <a:rPr lang="en-US" sz="1500" dirty="0">
                <a:solidFill>
                  <a:srgbClr val="1F1F24"/>
                </a:solidFill>
                <a:latin typeface="Calibri" pitchFamily="34" charset="0"/>
                <a:ea typeface="Calibri" pitchFamily="34" charset="-122"/>
                <a:cs typeface="Calibri" pitchFamily="34" charset="-120"/>
              </a:rPr>
              <a:t>progress: 0 if smoke fails, else 0.25 + 0.5 · sweep fraction + 0.25 · [stability]</a:t>
            </a:r>
            <a:endParaRPr lang="en-US" sz="1500" dirty="0"/>
          </a:p>
          <a:p>
            <a:pPr marL="177800" indent="-177800">
              <a:spcAft>
                <a:spcPts val="600"/>
              </a:spcAft>
              <a:buSzPct val="100000"/>
              <a:buChar char="•"/>
            </a:pPr>
            <a:r>
              <a:rPr lang="en-US" sz="1500" dirty="0">
                <a:solidFill>
                  <a:srgbClr val="1F1F24"/>
                </a:solidFill>
                <a:latin typeface="Calibri" pitchFamily="34" charset="0"/>
                <a:ea typeface="Calibri" pitchFamily="34" charset="-122"/>
                <a:cs typeface="Calibri" pitchFamily="34" charset="-120"/>
              </a:rPr>
              <a:t>limits: all PASSes ≤ 1× tie at 0.5; weights heuristic; determinism and edges get no credit; cutoff σ ≤ 0.02 added at the same time</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223760" y="1234440"/>
          <a:ext cx="4510735" cy="914400"/>
        </p:xfrm>
        <a:graphic>
          <a:graphicData uri="http://schemas.openxmlformats.org/drawingml/2006/table">
            <a:tbl>
              <a:tblPr/>
              <a:tblGrid>
                <a:gridCol w="2651760"/>
                <a:gridCol w="868680"/>
                <a:gridCol w="990295"/>
              </a:tblGrid>
              <a:tr h="54864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episode</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r_v1</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r_v2</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r>
              <a:tr h="548640">
                <a:tc>
                  <a:txBody>
                    <a:bodyPr/>
                    <a:lstStyle/>
                    <a:p>
                      <a:pPr algn="l" indent="0" marL="0">
                        <a:buNone/>
                      </a:pPr>
                      <a:r>
                        <a:rPr lang="en-US" sz="1300" dirty="0">
                          <a:solidFill>
                            <a:srgbClr val="1F1F24"/>
                          </a:solidFill>
                          <a:latin typeface="Calibri" pitchFamily="34" charset="0"/>
                          <a:ea typeface="Calibri" pitchFamily="34" charset="-122"/>
                          <a:cs typeface="Calibri" pitchFamily="34" charset="-120"/>
                        </a:rPr>
                        <a:t>crash / no code block</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548640">
                <a:tc>
                  <a:txBody>
                    <a:bodyPr/>
                    <a:lstStyle/>
                    <a:p>
                      <a:pPr algn="l" indent="0" marL="0">
                        <a:buNone/>
                      </a:pPr>
                      <a:r>
                        <a:rPr lang="en-US" sz="1300" dirty="0">
                          <a:solidFill>
                            <a:srgbClr val="1F1F24"/>
                          </a:solidFill>
                          <a:latin typeface="Calibri" pitchFamily="34" charset="0"/>
                          <a:ea typeface="Calibri" pitchFamily="34" charset="-122"/>
                          <a:cs typeface="Calibri" pitchFamily="34" charset="-120"/>
                        </a:rPr>
                        <a:t>layernorm: smoke ok, sweep 18/24, stab ok</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0.263</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548640">
                <a:tc>
                  <a:txBody>
                    <a:bodyPr/>
                    <a:lstStyle/>
                    <a:p>
                      <a:pPr algn="l" indent="0" marL="0">
                        <a:buNone/>
                      </a:pPr>
                      <a:r>
                        <a:rPr lang="en-US" sz="1300" dirty="0">
                          <a:solidFill>
                            <a:srgbClr val="1F1F24"/>
                          </a:solidFill>
                          <a:latin typeface="Calibri" pitchFamily="34" charset="0"/>
                          <a:ea typeface="Calibri" pitchFamily="34" charset="-122"/>
                          <a:cs typeface="Calibri" pitchFamily="34" charset="-120"/>
                        </a:rPr>
                        <a:t>reduce PASS at 0.986×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b="1" dirty="0">
                          <a:solidFill>
                            <a:srgbClr val="B3261E"/>
                          </a:solidFill>
                          <a:latin typeface="Calibri" pitchFamily="34" charset="0"/>
                          <a:ea typeface="Calibri" pitchFamily="34" charset="-122"/>
                          <a:cs typeface="Calibri" pitchFamily="34" charset="-120"/>
                        </a:rPr>
                        <a:t>−0.020</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548640">
                <a:tc>
                  <a:txBody>
                    <a:bodyPr/>
                    <a:lstStyle/>
                    <a:p>
                      <a:pPr algn="l" indent="0" marL="0">
                        <a:buNone/>
                      </a:pPr>
                      <a:r>
                        <a:rPr lang="en-US" sz="1300" dirty="0">
                          <a:solidFill>
                            <a:srgbClr val="1F1F24"/>
                          </a:solidFill>
                          <a:latin typeface="Calibri" pitchFamily="34" charset="0"/>
                          <a:ea typeface="Calibri" pitchFamily="34" charset="-122"/>
                          <a:cs typeface="Calibri" pitchFamily="34" charset="-120"/>
                        </a:rPr>
                        <a:t>cross_entropy PASS at 2.035×</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1.025</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1.525</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bl>
          </a:graphicData>
        </a:graphic>
      </p:graphicFrame>
      <p:sp>
        <p:nvSpPr>
          <p:cNvPr id="6" name="Text 3"/>
          <p:cNvSpPr txBox="1"/>
          <p:nvPr/>
        </p:nvSpPr>
        <p:spPr>
          <a:xfrm>
            <a:off x="4572000" y="6419088"/>
            <a:ext cx="7162495" cy="256032"/>
          </a:xfrm>
          <a:prstGeom prst="rect">
            <a:avLst/>
          </a:prstGeom>
          <a:noFill/>
          <a:ln/>
        </p:spPr>
        <p:txBody>
          <a:bodyPr wrap="square" lIns="0" tIns="0" rIns="0" bIns="0" rtlCol="0" anchor="ctr"/>
          <a:lstStyle/>
          <a:p>
            <a:pPr algn="r" indent="0" marL="0">
              <a:buNone/>
            </a:pPr>
            <a:r>
              <a:rPr lang="en-US" sz="1000" i="1" dirty="0">
                <a:solidFill>
                  <a:srgbClr val="85848F"/>
                </a:solidFill>
                <a:latin typeface="Calibri" pitchFamily="34" charset="0"/>
                <a:ea typeface="Calibri" pitchFamily="34" charset="-122"/>
                <a:cs typeface="Calibri" pitchFamily="34" charset="-120"/>
              </a:rPr>
              <a:t>src/autokernel-rlvr/agent_loop/reward.py · modal_app/reward_v2.py</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1B1A3A"/>
                </a:solidFill>
                <a:latin typeface="Cambria" pitchFamily="34" charset="0"/>
                <a:ea typeface="Cambria" pitchFamily="34" charset="-122"/>
                <a:cs typeface="Cambria" pitchFamily="34" charset="-120"/>
              </a:rPr>
              <a:t>Appendix: ties and advantage mass</a:t>
            </a:r>
            <a:endParaRPr lang="en-US" sz="3000" dirty="0"/>
          </a:p>
        </p:txBody>
      </p:sp>
      <p:sp>
        <p:nvSpPr>
          <p:cNvPr id="3" name="Text 1"/>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85848F"/>
                </a:solidFill>
                <a:latin typeface="Calibri" pitchFamily="34" charset="0"/>
                <a:ea typeface="Calibri" pitchFamily="34" charset="-122"/>
                <a:cs typeface="Calibri" pitchFamily="34" charset="-120"/>
              </a:rPr>
              <a:t>Appendix · Modal re-run, Sept 2026 · 17</a:t>
            </a:r>
            <a:endParaRPr lang="en-US" sz="1000" dirty="0"/>
          </a:p>
        </p:txBody>
      </p:sp>
      <p:pic>
        <p:nvPicPr>
          <p:cNvPr id="4" name="Image 0" descr="/Users/ram/kernel-finetuning/Kernel-Writer-RL-v2/presentation/v2/figures/x2_dr_grpo_noise_mass.png">    </p:cNvPr>
          <p:cNvPicPr>
            <a:picLocks noChangeAspect="1"/>
          </p:cNvPicPr>
          <p:nvPr/>
        </p:nvPicPr>
        <p:blipFill>
          <a:blip r:embed="rId1"/>
          <a:stretch>
            <a:fillRect/>
          </a:stretch>
        </p:blipFill>
        <p:spPr>
          <a:xfrm>
            <a:off x="457200" y="1234440"/>
            <a:ext cx="6400800" cy="2991487"/>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132320" y="1234440"/>
          <a:ext cx="4602175" cy="914400"/>
        </p:xfrm>
        <a:graphic>
          <a:graphicData uri="http://schemas.openxmlformats.org/drawingml/2006/table">
            <a:tbl>
              <a:tblPr/>
              <a:tblGrid>
                <a:gridCol w="1920240"/>
                <a:gridCol w="893978"/>
                <a:gridCol w="893978"/>
                <a:gridCol w="893978"/>
              </a:tblGrid>
              <a:tr h="41148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tied groups (offline)</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G=2</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G=4</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G=8</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r>
              <a:tr h="411480">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feedback v2</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69.3%</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60.4%</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55.6%</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411480">
                <a:tc>
                  <a:txBody>
                    <a:bodyPr/>
                    <a:lstStyle/>
                    <a:p>
                      <a:pPr algn="l" indent="0" marL="0">
                        <a:buNone/>
                      </a:pPr>
                      <a:r>
                        <a:rPr lang="en-US" sz="1300" b="1" dirty="0">
                          <a:solidFill>
                            <a:srgbClr val="1F1F24"/>
                          </a:solidFill>
                          <a:latin typeface="Calibri" pitchFamily="34" charset="0"/>
                          <a:ea typeface="Calibri" pitchFamily="34" charset="-122"/>
                          <a:cs typeface="Calibri" pitchFamily="34" charset="-120"/>
                        </a:rPr>
                        <a:t>feedback v1</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86.5%</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77.9%</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300" dirty="0">
                          <a:solidFill>
                            <a:srgbClr val="1F1F24"/>
                          </a:solidFill>
                          <a:latin typeface="Calibri" pitchFamily="34" charset="0"/>
                          <a:ea typeface="Calibri" pitchFamily="34" charset="-122"/>
                          <a:cs typeface="Calibri" pitchFamily="34" charset="-120"/>
                        </a:rPr>
                        <a:t>66.7%</a:t>
                      </a:r>
                      <a:endParaRPr lang="en-US" sz="13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bl>
          </a:graphicData>
        </a:graphic>
      </p:graphicFrame>
      <p:sp>
        <p:nvSpPr>
          <p:cNvPr id="6" name="Text 2"/>
          <p:cNvSpPr txBox="1"/>
          <p:nvPr/>
        </p:nvSpPr>
        <p:spPr>
          <a:xfrm>
            <a:off x="7132320" y="2697480"/>
            <a:ext cx="4602175" cy="3474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4A4A55"/>
                </a:solidFill>
                <a:latin typeface="Calibri" pitchFamily="34" charset="0"/>
                <a:ea typeface="Calibri" pitchFamily="34" charset="-122"/>
                <a:cs typeface="Calibri" pitchFamily="34" charset="-120"/>
              </a:rPr>
              <a:t>v1 |A| from σ &lt; 0.02 groups: 78.9% std-normalised vs 6.2% no-std replay (offline; |A| mass ≠ gradient mass)</a:t>
            </a:r>
            <a:endParaRPr lang="en-US" sz="1300" dirty="0"/>
          </a:p>
          <a:p>
            <a:pPr marL="177800" indent="-177800">
              <a:spcAft>
                <a:spcPts val="600"/>
              </a:spcAft>
              <a:buSzPct val="100000"/>
              <a:buChar char="•"/>
            </a:pPr>
            <a:r>
              <a:rPr lang="en-US" sz="1300" dirty="0">
                <a:solidFill>
                  <a:srgbClr val="4A4A55"/>
                </a:solidFill>
                <a:latin typeface="Calibri" pitchFamily="34" charset="0"/>
                <a:ea typeface="Calibri" pitchFamily="34" charset="-122"/>
                <a:cs typeface="Calibri" pitchFamily="34" charset="-120"/>
              </a:rPr>
              <a:t>DAPO-style filter drops 65.4% of v1 groups: 24.9/72 episodes left per step</a:t>
            </a:r>
            <a:endParaRPr lang="en-US" sz="1300" dirty="0"/>
          </a:p>
          <a:p>
            <a:pPr marL="177800" indent="-177800">
              <a:spcAft>
                <a:spcPts val="600"/>
              </a:spcAft>
              <a:buSzPct val="100000"/>
              <a:buChar char="•"/>
            </a:pPr>
            <a:r>
              <a:rPr lang="en-US" sz="1300" dirty="0">
                <a:solidFill>
                  <a:srgbClr val="4A4A55"/>
                </a:solidFill>
                <a:latin typeface="Calibri" pitchFamily="34" charset="0"/>
                <a:ea typeface="Calibri" pitchFamily="34" charset="-122"/>
                <a:cs typeface="Calibri" pitchFamily="34" charset="-120"/>
              </a:rPr>
              <a:t>group explorer (layernorm, v1 step 10): all 8 v1 rewards 0; v2 replay separates 3.4/9 groups per step</a:t>
            </a:r>
            <a:endParaRPr lang="en-US" sz="1300" dirty="0"/>
          </a:p>
          <a:p>
            <a:pPr marL="177800" indent="-177800">
              <a:spcAft>
                <a:spcPts val="600"/>
              </a:spcAft>
              <a:buSzPct val="100000"/>
              <a:buChar char="•"/>
            </a:pPr>
            <a:r>
              <a:rPr lang="en-US" sz="1300" dirty="0">
                <a:solidFill>
                  <a:srgbClr val="4A4A55"/>
                </a:solidFill>
                <a:latin typeface="Calibri" pitchFamily="34" charset="0"/>
                <a:ea typeface="Calibri" pitchFamily="34" charset="-122"/>
                <a:cs typeface="Calibri" pitchFamily="34" charset="-120"/>
              </a:rPr>
              <a:t>P(tie) ≥ (1 − p)^G for v1 all-fail groups; bigger G helps slowly</a:t>
            </a:r>
            <a:endParaRPr lang="en-US" sz="1300" dirty="0"/>
          </a:p>
        </p:txBody>
      </p:sp>
      <p:sp>
        <p:nvSpPr>
          <p:cNvPr id="7" name="Text 3"/>
          <p:cNvSpPr txBox="1"/>
          <p:nvPr/>
        </p:nvSpPr>
        <p:spPr>
          <a:xfrm>
            <a:off x="4572000" y="6419088"/>
            <a:ext cx="7162495" cy="256032"/>
          </a:xfrm>
          <a:prstGeom prst="rect">
            <a:avLst/>
          </a:prstGeom>
          <a:noFill/>
          <a:ln/>
        </p:spPr>
        <p:txBody>
          <a:bodyPr wrap="square" lIns="0" tIns="0" rIns="0" bIns="0" rtlCol="0" anchor="ctr"/>
          <a:lstStyle/>
          <a:p>
            <a:pPr algn="r" indent="0" marL="0">
              <a:buNone/>
            </a:pPr>
            <a:r>
              <a:rPr lang="en-US" sz="1000" i="1" dirty="0">
                <a:solidFill>
                  <a:srgbClr val="85848F"/>
                </a:solidFill>
                <a:latin typeface="Calibri" pitchFamily="34" charset="0"/>
                <a:ea typeface="Calibri" pitchFamily="34" charset="-122"/>
                <a:cs typeface="Calibri" pitchFamily="34" charset="-120"/>
              </a:rPr>
              <a:t>Dr. GRPO 2503.20783 · DAPO 2503.14476 · extra_numbers.json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1B1A3A"/>
                </a:solidFill>
                <a:latin typeface="Cambria" pitchFamily="34" charset="0"/>
                <a:ea typeface="Cambria" pitchFamily="34" charset="-122"/>
                <a:cs typeface="Cambria" pitchFamily="34" charset="-120"/>
              </a:rPr>
              <a:t>Appendix: transfer and where time goes</a:t>
            </a:r>
            <a:endParaRPr lang="en-US" sz="3000" dirty="0"/>
          </a:p>
        </p:txBody>
      </p:sp>
      <p:sp>
        <p:nvSpPr>
          <p:cNvPr id="3" name="Text 1"/>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85848F"/>
                </a:solidFill>
                <a:latin typeface="Calibri" pitchFamily="34" charset="0"/>
                <a:ea typeface="Calibri" pitchFamily="34" charset="-122"/>
                <a:cs typeface="Calibri" pitchFamily="34" charset="-120"/>
              </a:rPr>
              <a:t>Appendix · Modal re-run, Sept 2026 · 18</a:t>
            </a:r>
            <a:endParaRPr lang="en-US" sz="1000" dirty="0"/>
          </a:p>
        </p:txBody>
      </p:sp>
      <p:pic>
        <p:nvPicPr>
          <p:cNvPr id="4" name="Image 0" descr="/Users/ram/kernel-finetuning/Kernel-Writer-RL-v2/presentation/figures/10_kernelbench_transfer.png">    </p:cNvPr>
          <p:cNvPicPr>
            <a:picLocks noChangeAspect="1"/>
          </p:cNvPicPr>
          <p:nvPr/>
        </p:nvPicPr>
        <p:blipFill>
          <a:blip r:embed="rId1"/>
          <a:stretch>
            <a:fillRect/>
          </a:stretch>
        </p:blipFill>
        <p:spPr>
          <a:xfrm>
            <a:off x="457200" y="1234440"/>
            <a:ext cx="5577840" cy="2586089"/>
          </a:xfrm>
          <a:prstGeom prst="rect">
            <a:avLst/>
          </a:prstGeom>
        </p:spPr>
      </p:pic>
      <p:pic>
        <p:nvPicPr>
          <p:cNvPr id="5" name="Image 1" descr="/Users/ram/kernel-finetuning/Kernel-Writer-RL-v2/presentation/v2/figures/x1_time_breakdown.png">    </p:cNvPr>
          <p:cNvPicPr>
            <a:picLocks noChangeAspect="1"/>
          </p:cNvPicPr>
          <p:nvPr/>
        </p:nvPicPr>
        <p:blipFill>
          <a:blip r:embed="rId2"/>
          <a:stretch>
            <a:fillRect/>
          </a:stretch>
        </p:blipFill>
        <p:spPr>
          <a:xfrm>
            <a:off x="6309360" y="1234440"/>
            <a:ext cx="5425135" cy="2412270"/>
          </a:xfrm>
          <a:prstGeom prst="rect">
            <a:avLst/>
          </a:prstGeom>
        </p:spPr>
      </p:pic>
      <p:sp>
        <p:nvSpPr>
          <p:cNvPr id="6" name="Text 2"/>
          <p:cNvSpPr txBox="1"/>
          <p:nvPr/>
        </p:nvSpPr>
        <p:spPr>
          <a:xfrm>
            <a:off x="457200" y="4663440"/>
            <a:ext cx="11277295" cy="16459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4A4A55"/>
                </a:solidFill>
                <a:latin typeface="Calibri" pitchFamily="34" charset="0"/>
                <a:ea typeface="Calibri" pitchFamily="34" charset="-122"/>
                <a:cs typeface="Calibri" pitchFamily="34" charset="-120"/>
              </a:rPr>
              <a:t>KernelBench: 28 valid L1 tasks (every 2nd), 1 sample × 3 turns, H100: PASS turns 0/84 → 0/84; API/compile errors 54 → 48</a:t>
            </a:r>
            <a:endParaRPr lang="en-US" sz="1300" dirty="0"/>
          </a:p>
          <a:p>
            <a:pPr marL="177800" indent="-177800">
              <a:spcAft>
                <a:spcPts val="600"/>
              </a:spcAft>
              <a:buSzPct val="100000"/>
              <a:buChar char="•"/>
            </a:pPr>
            <a:r>
              <a:rPr lang="en-US" sz="1300" dirty="0">
                <a:solidFill>
                  <a:srgbClr val="4A4A55"/>
                </a:solidFill>
                <a:latin typeface="Calibri" pitchFamily="34" charset="0"/>
                <a:ea typeface="Calibri" pitchFamily="34" charset="-122"/>
                <a:cs typeface="Calibri" pitchFamily="34" charset="-120"/>
              </a:rPr>
              <a:t>time (v1): benchmarking 60.5%, generation 32.8%, update 6.7%; free generation bounds a step speedup at 1.49× (Amdahl, derived)</a:t>
            </a:r>
            <a:endParaRPr lang="en-US" sz="1300" dirty="0"/>
          </a:p>
          <a:p>
            <a:pPr marL="177800" indent="-177800">
              <a:spcAft>
                <a:spcPts val="600"/>
              </a:spcAft>
              <a:buSzPct val="100000"/>
              <a:buChar char="•"/>
            </a:pPr>
            <a:r>
              <a:rPr lang="en-US" sz="1300" dirty="0">
                <a:solidFill>
                  <a:srgbClr val="4A4A55"/>
                </a:solidFill>
                <a:latin typeface="Calibri" pitchFamily="34" charset="0"/>
                <a:ea typeface="Calibri" pitchFamily="34" charset="-122"/>
                <a:cs typeface="Calibri" pitchFamily="34" charset="-120"/>
              </a:rPr>
              <a:t>cost estimates: v1 $18.84 (2.38 h), v2 $11.15 (1.41 h), H100 only</a:t>
            </a:r>
            <a:endParaRPr lang="en-US" sz="1300" dirty="0"/>
          </a:p>
        </p:txBody>
      </p:sp>
      <p:sp>
        <p:nvSpPr>
          <p:cNvPr id="7" name="Text 3"/>
          <p:cNvSpPr txBox="1"/>
          <p:nvPr/>
        </p:nvSpPr>
        <p:spPr>
          <a:xfrm>
            <a:off x="4572000" y="6419088"/>
            <a:ext cx="7162495" cy="256032"/>
          </a:xfrm>
          <a:prstGeom prst="rect">
            <a:avLst/>
          </a:prstGeom>
          <a:noFill/>
          <a:ln/>
        </p:spPr>
        <p:txBody>
          <a:bodyPr wrap="square" lIns="0" tIns="0" rIns="0" bIns="0" rtlCol="0" anchor="ctr"/>
          <a:lstStyle/>
          <a:p>
            <a:pPr algn="r" indent="0" marL="0">
              <a:buNone/>
            </a:pPr>
            <a:r>
              <a:rPr lang="en-US" sz="1000" i="1" dirty="0">
                <a:solidFill>
                  <a:srgbClr val="85848F"/>
                </a:solidFill>
                <a:latin typeface="Calibri" pitchFamily="34" charset="0"/>
                <a:ea typeface="Calibri" pitchFamily="34" charset="-122"/>
                <a:cs typeface="Calibri" pitchFamily="34" charset="-120"/>
              </a:rPr>
              <a:t>KernelBench 2502.10517 · extra_numbers.json time_breakdown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1B1A3A"/>
                </a:solidFill>
                <a:latin typeface="Cambria" pitchFamily="34" charset="0"/>
                <a:ea typeface="Cambria" pitchFamily="34" charset="-122"/>
                <a:cs typeface="Cambria" pitchFamily="34" charset="-120"/>
              </a:rPr>
              <a:t>Appendix: RMSNorm remeasure, every shape</a:t>
            </a:r>
            <a:endParaRPr lang="en-US" sz="3000" dirty="0"/>
          </a:p>
        </p:txBody>
      </p:sp>
      <p:sp>
        <p:nvSpPr>
          <p:cNvPr id="3" name="Text 1"/>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85848F"/>
                </a:solidFill>
                <a:latin typeface="Calibri" pitchFamily="34" charset="0"/>
                <a:ea typeface="Calibri" pitchFamily="34" charset="-122"/>
                <a:cs typeface="Calibri" pitchFamily="34" charset="-120"/>
              </a:rPr>
              <a:t>Appendix · Modal re-run, Sept 2026 · 19</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5501488" cy="914400"/>
        </p:xfrm>
        <a:graphic>
          <a:graphicData uri="http://schemas.openxmlformats.org/drawingml/2006/table">
            <a:tbl>
              <a:tblPr/>
              <a:tblGrid>
                <a:gridCol w="1188720"/>
                <a:gridCol w="1325880"/>
                <a:gridCol w="1325880"/>
                <a:gridCol w="1005840"/>
                <a:gridCol w="655168"/>
              </a:tblGrid>
              <a:tr h="32918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M×N</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fp16 model/starter</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bf16 model/starter</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fp16 model µs</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GB/s</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r>
              <a:tr h="329184">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1024×512</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13.3</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158</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329184">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1024×768</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16.4</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192</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329184">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1024×1024</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22.5</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186</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329184">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4096×512</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37.9</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221</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329184">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4096×1024</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72.7</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231</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329184">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1024×4096</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0.986</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71.7</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234</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329184">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2048×4096</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1.007</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1.007</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142.3</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236</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6233008" y="1234440"/>
          <a:ext cx="5501488" cy="914400"/>
        </p:xfrm>
        <a:graphic>
          <a:graphicData uri="http://schemas.openxmlformats.org/drawingml/2006/table">
            <a:tbl>
              <a:tblPr/>
              <a:tblGrid>
                <a:gridCol w="1188720"/>
                <a:gridCol w="1325880"/>
                <a:gridCol w="1325880"/>
                <a:gridCol w="1005840"/>
                <a:gridCol w="655168"/>
              </a:tblGrid>
              <a:tr h="32918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M×N</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fp16 model/starter</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bf16 model/starter</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fp16 model µs</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GB/s</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r>
              <a:tr h="329184">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1024×8192</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0.979</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142.3</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236</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329184">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16384×512</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0.993</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145.4</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231</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329184">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4096×4096</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1.004</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1.004</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286.7</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234</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329184">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16384×1024</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287.7</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233</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329184">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4096×8192</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0.998</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0.996</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575.5</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233</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329184">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16384×4096</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0.999</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1159.2</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232</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329184">
                <a:tc>
                  <a:txBody>
                    <a:bodyPr/>
                    <a:lstStyle/>
                    <a:p>
                      <a:pPr algn="l" indent="0" marL="0">
                        <a:buNone/>
                      </a:pPr>
                      <a:r>
                        <a:rPr lang="en-US" sz="1200" dirty="0">
                          <a:solidFill>
                            <a:srgbClr val="1F1F24"/>
                          </a:solidFill>
                          <a:latin typeface="Calibri" pitchFamily="34" charset="0"/>
                          <a:ea typeface="Calibri" pitchFamily="34" charset="-122"/>
                          <a:cs typeface="Calibri" pitchFamily="34" charset="-120"/>
                        </a:rPr>
                        <a:t>16384×8192</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0.998</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2305.0</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ctr" indent="0" marL="0">
                        <a:buNone/>
                      </a:pPr>
                      <a:r>
                        <a:rPr lang="en-US" sz="1200" dirty="0">
                          <a:solidFill>
                            <a:srgbClr val="1F1F24"/>
                          </a:solidFill>
                          <a:latin typeface="Calibri" pitchFamily="34" charset="0"/>
                          <a:ea typeface="Calibri" pitchFamily="34" charset="-122"/>
                          <a:cs typeface="Calibri" pitchFamily="34" charset="-120"/>
                        </a:rPr>
                        <a:t>233</a:t>
                      </a:r>
                      <a:endParaRPr lang="en-US" sz="12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bl>
          </a:graphicData>
        </a:graphic>
      </p:graphicFrame>
      <p:sp>
        <p:nvSpPr>
          <p:cNvPr id="6" name="Text 2"/>
          <p:cNvSpPr txBox="1"/>
          <p:nvPr/>
        </p:nvSpPr>
        <p:spPr>
          <a:xfrm>
            <a:off x="457200" y="4005072"/>
            <a:ext cx="11277295" cy="548640"/>
          </a:xfrm>
          <a:prstGeom prst="rect">
            <a:avLst/>
          </a:prstGeom>
          <a:noFill/>
          <a:ln/>
        </p:spPr>
        <p:txBody>
          <a:bodyPr wrap="square" lIns="0" tIns="0" rIns="0" bIns="0" rtlCol="0" anchor="t"/>
          <a:lstStyle/>
          <a:p>
            <a:pPr indent="0" marL="0">
              <a:spcAft>
                <a:spcPts val="400"/>
              </a:spcAft>
              <a:buNone/>
            </a:pPr>
            <a:r>
              <a:rPr lang="en-US" sz="1200" i="1" dirty="0">
                <a:solidFill>
                  <a:srgbClr val="85848F"/>
                </a:solidFill>
                <a:latin typeface="Calibri" pitchFamily="34" charset="0"/>
                <a:ea typeface="Calibri" pitchFamily="34" charset="-122"/>
                <a:cs typeface="Calibri" pitchFamily="34" charset="-120"/>
              </a:rPr>
              <a:t>L4, cold L2, median of 200 reps. Speed ratio = starter µs ÷ model µs (&gt; 1 means the casts helped). GB/s from analytic bytes computed here. Geomean ratio 1.001 cold.</a:t>
            </a:r>
            <a:endParaRPr lang="en-US" sz="1200" dirty="0"/>
          </a:p>
        </p:txBody>
      </p:sp>
      <p:sp>
        <p:nvSpPr>
          <p:cNvPr id="7" name="Text 3"/>
          <p:cNvSpPr txBox="1"/>
          <p:nvPr/>
        </p:nvSpPr>
        <p:spPr>
          <a:xfrm>
            <a:off x="4572000" y="6419088"/>
            <a:ext cx="7162495" cy="256032"/>
          </a:xfrm>
          <a:prstGeom prst="rect">
            <a:avLst/>
          </a:prstGeom>
          <a:noFill/>
          <a:ln/>
        </p:spPr>
        <p:txBody>
          <a:bodyPr wrap="square" lIns="0" tIns="0" rIns="0" bIns="0" rtlCol="0" anchor="ctr"/>
          <a:lstStyle/>
          <a:p>
            <a:pPr algn="r" indent="0" marL="0">
              <a:buNone/>
            </a:pPr>
            <a:r>
              <a:rPr lang="en-US" sz="1000" i="1" dirty="0">
                <a:solidFill>
                  <a:srgbClr val="85848F"/>
                </a:solidFill>
                <a:latin typeface="Calibri" pitchFamily="34" charset="0"/>
                <a:ea typeface="Calibri" pitchFamily="34" charset="-122"/>
                <a:cs typeface="Calibri" pitchFamily="34" charset="-120"/>
              </a:rPr>
              <a:t>results/v3/rmsnorm_remeasure.json gpus.L4.table (+ .md)</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92608"/>
            <a:ext cx="11277295" cy="640080"/>
          </a:xfrm>
          <a:prstGeom prst="rect">
            <a:avLst/>
          </a:prstGeom>
          <a:noFill/>
          <a:ln/>
        </p:spPr>
        <p:txBody>
          <a:bodyPr wrap="square" lIns="0" tIns="0" rIns="0" bIns="0" rtlCol="0" anchor="ctr"/>
          <a:lstStyle/>
          <a:p>
            <a:pPr indent="0" marL="0">
              <a:buNone/>
            </a:pPr>
            <a:r>
              <a:rPr lang="en-US" sz="3000" b="1" dirty="0">
                <a:solidFill>
                  <a:srgbClr val="1B1A3A"/>
                </a:solidFill>
                <a:latin typeface="Cambria" pitchFamily="34" charset="0"/>
                <a:ea typeface="Cambria" pitchFamily="34" charset="-122"/>
                <a:cs typeface="Cambria" pitchFamily="34" charset="-120"/>
              </a:rPr>
              <a:t>Appendix: related work</a:t>
            </a:r>
            <a:endParaRPr lang="en-US" sz="3000" dirty="0"/>
          </a:p>
        </p:txBody>
      </p:sp>
      <p:sp>
        <p:nvSpPr>
          <p:cNvPr id="3" name="Text 1"/>
          <p:cNvSpPr txBox="1"/>
          <p:nvPr/>
        </p:nvSpPr>
        <p:spPr>
          <a:xfrm>
            <a:off x="457200" y="6419088"/>
            <a:ext cx="4114800" cy="256032"/>
          </a:xfrm>
          <a:prstGeom prst="rect">
            <a:avLst/>
          </a:prstGeom>
          <a:noFill/>
          <a:ln/>
        </p:spPr>
        <p:txBody>
          <a:bodyPr wrap="square" lIns="0" tIns="0" rIns="0" bIns="0" rtlCol="0" anchor="ctr"/>
          <a:lstStyle/>
          <a:p>
            <a:pPr indent="0" marL="0">
              <a:buNone/>
            </a:pPr>
            <a:r>
              <a:rPr lang="en-US" sz="1000" dirty="0">
                <a:solidFill>
                  <a:srgbClr val="85848F"/>
                </a:solidFill>
                <a:latin typeface="Calibri" pitchFamily="34" charset="0"/>
                <a:ea typeface="Calibri" pitchFamily="34" charset="-122"/>
                <a:cs typeface="Calibri" pitchFamily="34" charset="-120"/>
              </a:rPr>
              <a:t>Appendix · Modal re-run, Sept 2026 · 20</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77295" cy="914400"/>
        </p:xfrm>
        <a:graphic>
          <a:graphicData uri="http://schemas.openxmlformats.org/drawingml/2006/table">
            <a:tbl>
              <a:tblPr/>
              <a:tblGrid>
                <a:gridCol w="1554480"/>
                <a:gridCol w="4572000"/>
                <a:gridCol w="5148072"/>
              </a:tblGrid>
              <a:tr h="50292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Area</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Work</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Relevance</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2E2A6B"/>
                    </a:solidFill>
                  </a:tcPr>
                </a:tc>
              </a:tr>
              <a:tr h="502920">
                <a:tc>
                  <a:txBody>
                    <a:bodyPr/>
                    <a:lstStyle/>
                    <a:p>
                      <a:pPr algn="l" indent="0" marL="0">
                        <a:buNone/>
                      </a:pPr>
                      <a:r>
                        <a:rPr lang="en-US" sz="1400" b="1" dirty="0">
                          <a:solidFill>
                            <a:srgbClr val="1F1F24"/>
                          </a:solidFill>
                          <a:latin typeface="Calibri" pitchFamily="34" charset="0"/>
                          <a:ea typeface="Calibri" pitchFamily="34" charset="-122"/>
                          <a:cs typeface="Calibri" pitchFamily="34" charset="-120"/>
                        </a:rPr>
                        <a:t>Verifier</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l" indent="0" marL="0">
                        <a:buNone/>
                      </a:pPr>
                      <a:r>
                        <a:rPr lang="en-US" sz="1400" dirty="0">
                          <a:solidFill>
                            <a:srgbClr val="1F1F24"/>
                          </a:solidFill>
                          <a:latin typeface="Calibri" pitchFamily="34" charset="0"/>
                          <a:ea typeface="Calibri" pitchFamily="34" charset="-122"/>
                          <a:cs typeface="Calibri" pitchFamily="34" charset="-120"/>
                        </a:rPr>
                        <a:t>KernelBench-Verified (2607.16241)</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l" indent="0" marL="0">
                        <a:buNone/>
                      </a:pPr>
                      <a:r>
                        <a:rPr lang="en-US" sz="1400" dirty="0">
                          <a:solidFill>
                            <a:srgbClr val="1F1F24"/>
                          </a:solidFill>
                          <a:latin typeface="Calibri" pitchFamily="34" charset="0"/>
                          <a:ea typeface="Calibri" pitchFamily="34" charset="-122"/>
                          <a:cs typeface="Calibri" pitchFamily="34" charset="-120"/>
                        </a:rPr>
                        <a:t>hidden inputs; realistic baselines and memory</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502920">
                <a:tc>
                  <a:txBody>
                    <a:bodyPr/>
                    <a:lstStyle/>
                    <a:p>
                      <a:pPr algn="l" indent="0" marL="0">
                        <a:buNone/>
                      </a:pP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l" indent="0" marL="0">
                        <a:buNone/>
                      </a:pPr>
                      <a:r>
                        <a:rPr lang="en-US" sz="1400" dirty="0">
                          <a:solidFill>
                            <a:srgbClr val="1F1F24"/>
                          </a:solidFill>
                          <a:latin typeface="Calibri" pitchFamily="34" charset="0"/>
                          <a:ea typeface="Calibri" pitchFamily="34" charset="-122"/>
                          <a:cs typeface="Calibri" pitchFamily="34" charset="-120"/>
                        </a:rPr>
                        <a:t>Measuring the Checker (2609.22220)</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l" indent="0" marL="0">
                        <a:buNone/>
                      </a:pPr>
                      <a:r>
                        <a:rPr lang="en-US" sz="1400" dirty="0">
                          <a:solidFill>
                            <a:srgbClr val="1F1F24"/>
                          </a:solidFill>
                          <a:latin typeface="Calibri" pitchFamily="34" charset="0"/>
                          <a:ea typeface="Calibri" pitchFamily="34" charset="-122"/>
                          <a:cs typeface="Calibri" pitchFamily="34" charset="-120"/>
                        </a:rPr>
                        <a:t>mutation tests measure oracle coverage</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502920">
                <a:tc>
                  <a:txBody>
                    <a:bodyPr/>
                    <a:lstStyle/>
                    <a:p>
                      <a:pPr algn="l" indent="0" marL="0">
                        <a:buNone/>
                      </a:pPr>
                      <a:r>
                        <a:rPr lang="en-US" sz="1400" b="1" dirty="0">
                          <a:solidFill>
                            <a:srgbClr val="1F1F24"/>
                          </a:solidFill>
                          <a:latin typeface="Calibri" pitchFamily="34" charset="0"/>
                          <a:ea typeface="Calibri" pitchFamily="34" charset="-122"/>
                          <a:cs typeface="Calibri" pitchFamily="34" charset="-120"/>
                        </a:rPr>
                        <a:t>Kernels</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l" indent="0" marL="0">
                        <a:buNone/>
                      </a:pPr>
                      <a:r>
                        <a:rPr lang="en-US" sz="1400" dirty="0">
                          <a:solidFill>
                            <a:srgbClr val="1F1F24"/>
                          </a:solidFill>
                          <a:latin typeface="Calibri" pitchFamily="34" charset="0"/>
                          <a:ea typeface="Calibri" pitchFamily="34" charset="-122"/>
                          <a:cs typeface="Calibri" pitchFamily="34" charset="-120"/>
                        </a:rPr>
                        <a:t>KernelBench (2502.10517); Kevin-32B</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l" indent="0" marL="0">
                        <a:buNone/>
                      </a:pPr>
                      <a:r>
                        <a:rPr lang="en-US" sz="1400" dirty="0">
                          <a:solidFill>
                            <a:srgbClr val="1F1F24"/>
                          </a:solidFill>
                          <a:latin typeface="Calibri" pitchFamily="34" charset="0"/>
                          <a:ea typeface="Calibri" pitchFamily="34" charset="-122"/>
                          <a:cs typeface="Calibri" pitchFamily="34" charset="-120"/>
                        </a:rPr>
                        <a:t>correctness-aware speed; multi-turn feedback</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502920">
                <a:tc>
                  <a:txBody>
                    <a:bodyPr/>
                    <a:lstStyle/>
                    <a:p>
                      <a:pPr algn="l" indent="0" marL="0">
                        <a:buNone/>
                      </a:pP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l" indent="0" marL="0">
                        <a:buNone/>
                      </a:pPr>
                      <a:r>
                        <a:rPr lang="en-US" sz="1400" dirty="0">
                          <a:solidFill>
                            <a:srgbClr val="1F1F24"/>
                          </a:solidFill>
                          <a:latin typeface="Calibri" pitchFamily="34" charset="0"/>
                          <a:ea typeface="Calibri" pitchFamily="34" charset="-122"/>
                          <a:cs typeface="Calibri" pitchFamily="34" charset="-120"/>
                        </a:rPr>
                        <a:t>AutoTriton (2507.05687); Dr. Kernel (2602.05885)</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l" indent="0" marL="0">
                        <a:buNone/>
                      </a:pPr>
                      <a:r>
                        <a:rPr lang="en-US" sz="1400" dirty="0">
                          <a:solidFill>
                            <a:srgbClr val="1F1F24"/>
                          </a:solidFill>
                          <a:latin typeface="Calibri" pitchFamily="34" charset="0"/>
                          <a:ea typeface="Calibri" pitchFamily="34" charset="-122"/>
                          <a:cs typeface="Calibri" pitchFamily="34" charset="-120"/>
                        </a:rPr>
                        <a:t>SFT cold start; turn-level credit and profiling</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r h="502920">
                <a:tc>
                  <a:txBody>
                    <a:bodyPr/>
                    <a:lstStyle/>
                    <a:p>
                      <a:pPr algn="l" indent="0" marL="0">
                        <a:buNone/>
                      </a:pPr>
                      <a:r>
                        <a:rPr lang="en-US" sz="1400" b="1" dirty="0">
                          <a:solidFill>
                            <a:srgbClr val="1F1F24"/>
                          </a:solidFill>
                          <a:latin typeface="Calibri" pitchFamily="34" charset="0"/>
                          <a:ea typeface="Calibri" pitchFamily="34" charset="-122"/>
                          <a:cs typeface="Calibri" pitchFamily="34" charset="-120"/>
                        </a:rPr>
                        <a:t>Methods</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l" indent="0" marL="0">
                        <a:buNone/>
                      </a:pPr>
                      <a:r>
                        <a:rPr lang="en-US" sz="1400" dirty="0">
                          <a:solidFill>
                            <a:srgbClr val="1F1F24"/>
                          </a:solidFill>
                          <a:latin typeface="Calibri" pitchFamily="34" charset="0"/>
                          <a:ea typeface="Calibri" pitchFamily="34" charset="-122"/>
                          <a:cs typeface="Calibri" pitchFamily="34" charset="-120"/>
                        </a:rPr>
                        <a:t>Dr. GRPO (2503.20783); DAPO; GRESO</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c>
                  <a:txBody>
                    <a:bodyPr/>
                    <a:lstStyle/>
                    <a:p>
                      <a:pPr algn="l" indent="0" marL="0">
                        <a:buNone/>
                      </a:pPr>
                      <a:r>
                        <a:rPr lang="en-US" sz="1400" dirty="0">
                          <a:solidFill>
                            <a:srgbClr val="1F1F24"/>
                          </a:solidFill>
                          <a:latin typeface="Calibri" pitchFamily="34" charset="0"/>
                          <a:ea typeface="Calibri" pitchFamily="34" charset="-122"/>
                          <a:cs typeface="Calibri" pitchFamily="34" charset="-120"/>
                        </a:rPr>
                        <a:t>std/length normalisation; zero-variance groups</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2F1EC"/>
                    </a:solidFill>
                  </a:tcPr>
                </a:tc>
              </a:tr>
              <a:tr h="502920">
                <a:tc>
                  <a:txBody>
                    <a:bodyPr/>
                    <a:lstStyle/>
                    <a:p>
                      <a:pPr algn="l" indent="0" marL="0">
                        <a:buNone/>
                      </a:pPr>
                      <a:r>
                        <a:rPr lang="en-US" sz="1400" b="1" dirty="0">
                          <a:solidFill>
                            <a:srgbClr val="1F1F24"/>
                          </a:solidFill>
                          <a:latin typeface="Calibri" pitchFamily="34" charset="0"/>
                          <a:ea typeface="Calibri" pitchFamily="34" charset="-122"/>
                          <a:cs typeface="Calibri" pitchFamily="34" charset="-120"/>
                        </a:rPr>
                        <a:t>Scope</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l" indent="0" marL="0">
                        <a:buNone/>
                      </a:pPr>
                      <a:r>
                        <a:rPr lang="en-US" sz="1400" dirty="0">
                          <a:solidFill>
                            <a:srgbClr val="1F1F24"/>
                          </a:solidFill>
                          <a:latin typeface="Calibri" pitchFamily="34" charset="0"/>
                          <a:ea typeface="Calibri" pitchFamily="34" charset="-122"/>
                          <a:cs typeface="Calibri" pitchFamily="34" charset="-120"/>
                        </a:rPr>
                        <a:t>different models, tasks, budgets</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c>
                  <a:txBody>
                    <a:bodyPr/>
                    <a:lstStyle/>
                    <a:p>
                      <a:pPr algn="l" indent="0" marL="0">
                        <a:buNone/>
                      </a:pPr>
                      <a:r>
                        <a:rPr lang="en-US" sz="1400" dirty="0">
                          <a:solidFill>
                            <a:srgbClr val="1F1F24"/>
                          </a:solidFill>
                          <a:latin typeface="Calibri" pitchFamily="34" charset="0"/>
                          <a:ea typeface="Calibri" pitchFamily="34" charset="-122"/>
                          <a:cs typeface="Calibri" pitchFamily="34" charset="-120"/>
                        </a:rPr>
                        <a:t>no cross-paper performance claim</a:t>
                      </a:r>
                      <a:endParaRPr lang="en-US" sz="1400" dirty="0">
                        <a:latin typeface="Calibri" charset="0"/>
                        <a:ea typeface="Calibri" charset="0"/>
                        <a:cs typeface="Calibri"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FCFCFB"/>
                    </a:solidFill>
                  </a:tcPr>
                </a:tc>
              </a:tr>
            </a:tbl>
          </a:graphicData>
        </a:graphic>
      </p:graphicFrame>
      <p:sp>
        <p:nvSpPr>
          <p:cNvPr id="5" name="Text 2"/>
          <p:cNvSpPr txBox="1"/>
          <p:nvPr/>
        </p:nvSpPr>
        <p:spPr>
          <a:xfrm>
            <a:off x="4572000" y="6419088"/>
            <a:ext cx="7162495" cy="256032"/>
          </a:xfrm>
          <a:prstGeom prst="rect">
            <a:avLst/>
          </a:prstGeom>
          <a:noFill/>
          <a:ln/>
        </p:spPr>
        <p:txBody>
          <a:bodyPr wrap="square" lIns="0" tIns="0" rIns="0" bIns="0" rtlCol="0" anchor="ctr"/>
          <a:lstStyle/>
          <a:p>
            <a:pPr algn="r" indent="0" marL="0">
              <a:buNone/>
            </a:pPr>
            <a:r>
              <a:rPr lang="en-US" sz="1000" i="1" dirty="0">
                <a:solidFill>
                  <a:srgbClr val="85848F"/>
                </a:solidFill>
                <a:latin typeface="Calibri" pitchFamily="34" charset="0"/>
                <a:ea typeface="Calibri" pitchFamily="34" charset="-122"/>
                <a:cs typeface="Calibri" pitchFamily="34" charset="-120"/>
              </a:rPr>
              <a:t>arXiv IDs as listed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GPU kernel verification: why correctness and timing are harder than they look</dc:title>
  <dc:subject>PptxGenJS Presentation</dc:subject>
  <dc:creator>PptxGenJS</dc:creator>
  <cp:lastModifiedBy>PptxGenJS</cp:lastModifiedBy>
  <cp:revision>1</cp:revision>
  <dcterms:created xsi:type="dcterms:W3CDTF">2026-09-30T17:26:55Z</dcterms:created>
  <dcterms:modified xsi:type="dcterms:W3CDTF">2026-09-30T17:26:55Z</dcterms:modified>
</cp:coreProperties>
</file>